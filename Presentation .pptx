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09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.freepik.com/7ff53dbace61e920eda17afd19e2e4775c0b09cc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1628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5000">
                <a:srgbClr val="7D8BB3">
                  <a:alpha val="59000"/>
                </a:srgbClr>
              </a:gs>
              <a:gs pos="4000">
                <a:schemeClr val="bg1">
                  <a:lumMod val="86000"/>
                </a:schemeClr>
              </a:gs>
              <a:gs pos="94000">
                <a:schemeClr val="accent1">
                  <a:lumMod val="75000"/>
                </a:schemeClr>
              </a:gs>
              <a:gs pos="52000">
                <a:srgbClr val="1E3A8A">
                  <a:alpha val="80000"/>
                </a:srgbClr>
              </a:gs>
              <a:gs pos="91000">
                <a:schemeClr val="bg1">
                  <a:lumMod val="65000"/>
                  <a:alpha val="71000"/>
                </a:schemeClr>
              </a:gs>
            </a:gsLst>
            <a:lin ang="5400000" scaled="0"/>
          </a:gradFill>
          <a:ln/>
        </p:spPr>
        <p:txBody>
          <a:bodyPr/>
          <a:lstStyle/>
          <a:p>
            <a:endParaRPr dirty="0"/>
          </a:p>
        </p:txBody>
      </p:sp>
      <p:sp>
        <p:nvSpPr>
          <p:cNvPr id="4" name="Shape 1"/>
          <p:cNvSpPr/>
          <p:nvPr/>
        </p:nvSpPr>
        <p:spPr>
          <a:xfrm>
            <a:off x="4695825" y="1621631"/>
            <a:ext cx="2800350" cy="428625"/>
          </a:xfrm>
          <a:custGeom>
            <a:avLst/>
            <a:gdLst/>
            <a:ahLst/>
            <a:cxnLst/>
            <a:rect l="l" t="t" r="r" b="b"/>
            <a:pathLst>
              <a:path w="2800350" h="428625">
                <a:moveTo>
                  <a:pt x="214313" y="0"/>
                </a:moveTo>
                <a:lnTo>
                  <a:pt x="2586038" y="0"/>
                </a:lnTo>
                <a:cubicBezTo>
                  <a:pt x="2704320" y="0"/>
                  <a:pt x="2800350" y="96030"/>
                  <a:pt x="2800350" y="214313"/>
                </a:cubicBezTo>
                <a:lnTo>
                  <a:pt x="2800350" y="214313"/>
                </a:lnTo>
                <a:cubicBezTo>
                  <a:pt x="2800350" y="332595"/>
                  <a:pt x="2704320" y="428625"/>
                  <a:pt x="25860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>
                  <a:alpha val="20000"/>
                </a:srgbClr>
              </a:gs>
              <a:gs pos="100000">
                <a:srgbClr val="2B7FFF">
                  <a:alpha val="20000"/>
                </a:srgbClr>
              </a:gs>
            </a:gsLst>
            <a:lin ang="0" scaled="1"/>
          </a:gradFill>
          <a:ln w="12700">
            <a:solidFill>
              <a:srgbClr val="00D3F2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4886325" y="1740694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SIDI 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37904" y="2359819"/>
            <a:ext cx="8115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et Coût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44566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038154" y="3712369"/>
            <a:ext cx="411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BED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Warehouses Cloud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24101" y="4331495"/>
            <a:ext cx="74251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Stratégies </a:t>
            </a:r>
            <a:r>
              <a:rPr lang="en-US" sz="1500" dirty="0" err="1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d'optimisation</a:t>
            </a:r>
            <a:r>
              <a:rPr lang="en-US" sz="1500" dirty="0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(Snowflake, </a:t>
            </a:r>
            <a:r>
              <a:rPr lang="en-US" sz="1500" dirty="0" err="1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BigQuery</a:t>
            </a:r>
            <a:r>
              <a:rPr lang="en-US" sz="1500" dirty="0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AWS Redshift, Synapse.)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3879" y="5177935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Présenté</a:t>
            </a:r>
            <a:r>
              <a:rPr lang="en-US" b="1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</a:t>
            </a:r>
            <a:endParaRPr lang="en-US" sz="2400" b="1" dirty="0"/>
          </a:p>
        </p:txBody>
      </p:sp>
      <p:sp>
        <p:nvSpPr>
          <p:cNvPr id="11" name="Text 8"/>
          <p:cNvSpPr/>
          <p:nvPr/>
        </p:nvSpPr>
        <p:spPr>
          <a:xfrm>
            <a:off x="313879" y="5524407"/>
            <a:ext cx="2859337" cy="785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b="1" cap="all" dirty="0">
                <a:solidFill>
                  <a:schemeClr val="bg1"/>
                </a:solidFill>
              </a:rPr>
              <a:t>BOUKOTOS AKRAM</a:t>
            </a:r>
            <a:endParaRPr lang="fr-FR" cap="all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</a:rPr>
              <a:t>HASKOUK SOUFIANE</a:t>
            </a:r>
            <a:endParaRPr lang="fr-FR" cap="all" dirty="0">
              <a:solidFill>
                <a:schemeClr val="bg1"/>
              </a:solidFill>
            </a:endParaRPr>
          </a:p>
          <a:p>
            <a:r>
              <a:rPr lang="fr-FR" b="1" cap="all" dirty="0">
                <a:solidFill>
                  <a:schemeClr val="bg1"/>
                </a:solidFill>
              </a:rPr>
              <a:t>OULBERJ HASSANE</a:t>
            </a:r>
            <a:endParaRPr lang="fr-FR" cap="all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9060449" y="5146430"/>
            <a:ext cx="1620324" cy="52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fr-FR" b="1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Encadré</a:t>
            </a:r>
            <a:r>
              <a:rPr lang="fr-FR" sz="1200" b="1" cap="all" dirty="0"/>
              <a:t> </a:t>
            </a:r>
            <a:r>
              <a:rPr lang="fr-FR" b="1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</a:t>
            </a:r>
            <a:endParaRPr lang="fr-FR" sz="1200" cap="all" dirty="0"/>
          </a:p>
          <a:p>
            <a:pPr algn="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71011" y="5316783"/>
            <a:ext cx="2280862" cy="52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b="1" cap="all" dirty="0">
                <a:solidFill>
                  <a:schemeClr val="bg1"/>
                </a:solidFill>
              </a:rPr>
              <a:t>Pr. </a:t>
            </a:r>
            <a:r>
              <a:rPr lang="fr-FR" b="1" cap="all" dirty="0" err="1">
                <a:solidFill>
                  <a:schemeClr val="bg1"/>
                </a:solidFill>
              </a:rPr>
              <a:t>Ferhaoui</a:t>
            </a:r>
            <a:r>
              <a:rPr lang="fr-FR" b="1" cap="all" dirty="0">
                <a:solidFill>
                  <a:schemeClr val="bg1"/>
                </a:solidFill>
              </a:rPr>
              <a:t> </a:t>
            </a:r>
            <a:r>
              <a:rPr lang="fr-FR" b="1" cap="all" dirty="0" err="1">
                <a:solidFill>
                  <a:schemeClr val="bg1"/>
                </a:solidFill>
              </a:rPr>
              <a:t>youssef</a:t>
            </a:r>
            <a:endParaRPr lang="fr-FR" cap="all" dirty="0">
              <a:solidFill>
                <a:schemeClr val="bg1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B0ACC55-9798-C837-7BFB-0530B345C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88" y="-509268"/>
            <a:ext cx="3846123" cy="216037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E9813C2D-8ECC-0824-66CE-044CB0695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380" y="-338636"/>
            <a:ext cx="3846123" cy="20208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>
            <a:extLst>
              <a:ext uri="{FF2B5EF4-FFF2-40B4-BE49-F238E27FC236}">
                <a16:creationId xmlns:a16="http://schemas.microsoft.com/office/drawing/2014/main" id="{044A369A-FCAE-8A42-AEC4-45D99E5581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</a:rPr>
              <a:t>Plan</a:t>
            </a:r>
          </a:p>
        </p:txBody>
      </p:sp>
      <p:sp>
        <p:nvSpPr>
          <p:cNvPr id="4" name="Text 2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9A1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 complète de la présentation sur l'optimisation des Data Warehouses Cloud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833563"/>
            <a:ext cx="2676525" cy="1990725"/>
          </a:xfrm>
          <a:custGeom>
            <a:avLst/>
            <a:gdLst/>
            <a:ahLst/>
            <a:cxnLst/>
            <a:rect l="l" t="t" r="r" b="b"/>
            <a:pathLst>
              <a:path w="2676525" h="1990725">
                <a:moveTo>
                  <a:pt x="114307" y="0"/>
                </a:moveTo>
                <a:lnTo>
                  <a:pt x="2562218" y="0"/>
                </a:lnTo>
                <a:cubicBezTo>
                  <a:pt x="2625348" y="0"/>
                  <a:pt x="2676525" y="51177"/>
                  <a:pt x="2676525" y="114307"/>
                </a:cubicBezTo>
                <a:lnTo>
                  <a:pt x="2676525" y="1876418"/>
                </a:lnTo>
                <a:cubicBezTo>
                  <a:pt x="2676525" y="1939548"/>
                  <a:pt x="2625348" y="1990725"/>
                  <a:pt x="2562218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40000"/>
                </a:srgbClr>
              </a:gs>
              <a:gs pos="100000">
                <a:srgbClr val="193CB8">
                  <a:alpha val="20000"/>
                </a:srgbClr>
              </a:gs>
            </a:gsLst>
            <a:lin ang="2700000" scaled="1"/>
          </a:gradFill>
          <a:ln w="12700">
            <a:solidFill>
              <a:srgbClr val="1447E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810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2377" y="21050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525" y="2124075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078" y="26384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3913" y="2600325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Définitions clés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078" y="29051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3913" y="2867025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078" y="31718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3913" y="313372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DW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078" y="34385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3913" y="34004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&amp; Coût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00413" y="1833563"/>
            <a:ext cx="2676525" cy="1990725"/>
          </a:xfrm>
          <a:custGeom>
            <a:avLst/>
            <a:gdLst/>
            <a:ahLst/>
            <a:cxnLst/>
            <a:rect l="l" t="t" r="r" b="b"/>
            <a:pathLst>
              <a:path w="2676525" h="1990725">
                <a:moveTo>
                  <a:pt x="114307" y="0"/>
                </a:moveTo>
                <a:lnTo>
                  <a:pt x="2562218" y="0"/>
                </a:lnTo>
                <a:cubicBezTo>
                  <a:pt x="2625348" y="0"/>
                  <a:pt x="2676525" y="51177"/>
                  <a:pt x="2676525" y="114307"/>
                </a:cubicBezTo>
                <a:lnTo>
                  <a:pt x="2676525" y="1876418"/>
                </a:lnTo>
                <a:cubicBezTo>
                  <a:pt x="2676525" y="1939548"/>
                  <a:pt x="2625348" y="1990725"/>
                  <a:pt x="2562218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6E11B0">
                  <a:alpha val="20000"/>
                </a:srgbClr>
              </a:gs>
            </a:gsLst>
            <a:lin ang="2700000" scaled="1"/>
          </a:gradFill>
          <a:ln w="12700">
            <a:solidFill>
              <a:srgbClr val="8200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49567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597027" y="21050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67175" y="2124075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Tarification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39728" y="26384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724436" y="2607121"/>
            <a:ext cx="2462212" cy="17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Contexte migration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39728" y="29051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738563" y="2835721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BigQuery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39728" y="31718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724436" y="3116013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39728" y="34385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38563" y="340042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Redshift &amp; Synapse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1833563"/>
            <a:ext cx="2676525" cy="1990725"/>
          </a:xfrm>
          <a:custGeom>
            <a:avLst/>
            <a:gdLst/>
            <a:ahLst/>
            <a:cxnLst/>
            <a:rect l="l" t="t" r="r" b="b"/>
            <a:pathLst>
              <a:path w="2676525" h="1990725">
                <a:moveTo>
                  <a:pt x="114307" y="0"/>
                </a:moveTo>
                <a:lnTo>
                  <a:pt x="2562218" y="0"/>
                </a:lnTo>
                <a:cubicBezTo>
                  <a:pt x="2625348" y="0"/>
                  <a:pt x="2676525" y="51177"/>
                  <a:pt x="2676525" y="114307"/>
                </a:cubicBezTo>
                <a:lnTo>
                  <a:pt x="2676525" y="1876418"/>
                </a:lnTo>
                <a:cubicBezTo>
                  <a:pt x="2676525" y="1939548"/>
                  <a:pt x="2625348" y="1990725"/>
                  <a:pt x="2562218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40000"/>
                </a:srgbClr>
              </a:gs>
              <a:gs pos="100000">
                <a:srgbClr val="006045">
                  <a:alpha val="20000"/>
                </a:srgbClr>
              </a:gs>
            </a:gsLst>
            <a:lin ang="2700000" scaled="1"/>
          </a:gradFill>
          <a:ln w="12700">
            <a:solidFill>
              <a:srgbClr val="007A55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4103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511677" y="21050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81825" y="21240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Optimisation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4378" y="26384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653213" y="260032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Modèle de données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4378" y="29051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653213" y="2867025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Requêtes SQL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54378" y="31718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653213" y="3133725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 &amp; Stockage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20841" y="359419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653212" y="3400424"/>
            <a:ext cx="2361009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Plateforme spécifique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29713" y="1833563"/>
            <a:ext cx="2676525" cy="1990725"/>
          </a:xfrm>
          <a:custGeom>
            <a:avLst/>
            <a:gdLst/>
            <a:ahLst/>
            <a:cxnLst/>
            <a:rect l="l" t="t" r="r" b="b"/>
            <a:pathLst>
              <a:path w="2676525" h="1990725">
                <a:moveTo>
                  <a:pt x="114307" y="0"/>
                </a:moveTo>
                <a:lnTo>
                  <a:pt x="2562218" y="0"/>
                </a:lnTo>
                <a:cubicBezTo>
                  <a:pt x="2625348" y="0"/>
                  <a:pt x="2676525" y="51177"/>
                  <a:pt x="2676525" y="114307"/>
                </a:cubicBezTo>
                <a:lnTo>
                  <a:pt x="2676525" y="1876418"/>
                </a:lnTo>
                <a:cubicBezTo>
                  <a:pt x="2676525" y="1939548"/>
                  <a:pt x="2625348" y="1990725"/>
                  <a:pt x="2562218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40000"/>
                </a:srgbClr>
              </a:gs>
              <a:gs pos="100000">
                <a:srgbClr val="9F2D00">
                  <a:alpha val="20000"/>
                </a:srgbClr>
              </a:gs>
            </a:gsLst>
            <a:lin ang="2700000" scaled="1"/>
          </a:gradFill>
          <a:ln w="12700">
            <a:solidFill>
              <a:srgbClr val="CA35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32497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426327" y="21050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896475" y="21240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Cas Pratique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369028" y="26384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567863" y="2600325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Étude de cas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369028" y="29051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567863" y="286702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Bonnes pratiques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369028" y="31718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567863" y="3133725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Recommandations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369028" y="34385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567863" y="340042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7jfxhgtxieze/slide3_definitions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Définitions Clés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9A1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 concepts essentiels pour comprendre l'optimisation des Data Warehouses Cloud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757364"/>
            <a:ext cx="4610099" cy="1569382"/>
          </a:xfrm>
          <a:custGeom>
            <a:avLst/>
            <a:gdLst/>
            <a:ahLst/>
            <a:cxnLst/>
            <a:rect l="l" t="t" r="r" b="b"/>
            <a:pathLst>
              <a:path w="5591175" h="2409825">
                <a:moveTo>
                  <a:pt x="152397" y="0"/>
                </a:moveTo>
                <a:lnTo>
                  <a:pt x="5438778" y="0"/>
                </a:lnTo>
                <a:cubicBezTo>
                  <a:pt x="5522944" y="0"/>
                  <a:pt x="5591175" y="68231"/>
                  <a:pt x="5591175" y="152397"/>
                </a:cubicBezTo>
                <a:lnTo>
                  <a:pt x="5591175" y="2257428"/>
                </a:lnTo>
                <a:cubicBezTo>
                  <a:pt x="5591175" y="2341594"/>
                  <a:pt x="5522944" y="2409825"/>
                  <a:pt x="54387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50000"/>
                </a:srgbClr>
              </a:gs>
              <a:gs pos="100000">
                <a:srgbClr val="193CB8">
                  <a:alpha val="30000"/>
                </a:srgbClr>
              </a:gs>
            </a:gsLst>
            <a:lin ang="2700000" scaled="1"/>
          </a:gradFill>
          <a:ln w="12700">
            <a:solidFill>
              <a:srgbClr val="2B7F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19125" y="19907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01291" y="21526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381125" y="202882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81125" y="2333625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Entrepôt de Données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5064" y="1757364"/>
            <a:ext cx="5175646" cy="1481978"/>
          </a:xfrm>
          <a:custGeom>
            <a:avLst/>
            <a:gdLst/>
            <a:ahLst/>
            <a:cxnLst/>
            <a:rect l="l" t="t" r="r" b="b"/>
            <a:pathLst>
              <a:path w="5591175" h="2409825">
                <a:moveTo>
                  <a:pt x="152397" y="0"/>
                </a:moveTo>
                <a:lnTo>
                  <a:pt x="5438778" y="0"/>
                </a:lnTo>
                <a:cubicBezTo>
                  <a:pt x="5522944" y="0"/>
                  <a:pt x="5591175" y="68231"/>
                  <a:pt x="5591175" y="152397"/>
                </a:cubicBezTo>
                <a:lnTo>
                  <a:pt x="5591175" y="2257428"/>
                </a:lnTo>
                <a:cubicBezTo>
                  <a:pt x="5591175" y="2341594"/>
                  <a:pt x="5522944" y="2409825"/>
                  <a:pt x="54387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50000"/>
                </a:srgbClr>
              </a:gs>
              <a:gs pos="100000">
                <a:srgbClr val="6E11B0">
                  <a:alpha val="30000"/>
                </a:srgbClr>
              </a:gs>
            </a:gsLst>
            <a:lin ang="2700000" scaled="1"/>
          </a:gradFill>
          <a:ln w="12700">
            <a:solidFill>
              <a:srgbClr val="AD46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448425" y="19907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594872" y="21526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210425" y="202882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Data Warehouse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10425" y="2333625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Entrepôt Cloud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10766" y="4288771"/>
            <a:ext cx="4250881" cy="1654830"/>
          </a:xfrm>
          <a:custGeom>
            <a:avLst/>
            <a:gdLst/>
            <a:ahLst/>
            <a:cxnLst/>
            <a:rect l="l" t="t" r="r" b="b"/>
            <a:pathLst>
              <a:path w="5591175" h="2409825">
                <a:moveTo>
                  <a:pt x="152397" y="0"/>
                </a:moveTo>
                <a:lnTo>
                  <a:pt x="5438778" y="0"/>
                </a:lnTo>
                <a:cubicBezTo>
                  <a:pt x="5522944" y="0"/>
                  <a:pt x="5591175" y="68231"/>
                  <a:pt x="5591175" y="152397"/>
                </a:cubicBezTo>
                <a:lnTo>
                  <a:pt x="5591175" y="2257428"/>
                </a:lnTo>
                <a:cubicBezTo>
                  <a:pt x="5591175" y="2341594"/>
                  <a:pt x="5522944" y="2409825"/>
                  <a:pt x="54387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50000"/>
                </a:srgbClr>
              </a:gs>
              <a:gs pos="100000">
                <a:srgbClr val="006045">
                  <a:alpha val="30000"/>
                </a:srgbClr>
              </a:gs>
            </a:gsLst>
            <a:lin ang="2700000" scaled="1"/>
          </a:gradFill>
          <a:ln w="12700">
            <a:solidFill>
              <a:srgbClr val="00BC7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619125" y="4638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783431" y="4800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142875" y="232172"/>
                </a:moveTo>
                <a:cubicBezTo>
                  <a:pt x="162576" y="232172"/>
                  <a:pt x="178594" y="216154"/>
                  <a:pt x="178594" y="196453"/>
                </a:cubicBezTo>
                <a:cubicBezTo>
                  <a:pt x="178594" y="187412"/>
                  <a:pt x="175245" y="179096"/>
                  <a:pt x="169664" y="172845"/>
                </a:cubicBezTo>
                <a:lnTo>
                  <a:pt x="208452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2" y="76740"/>
                  <a:pt x="184510" y="83325"/>
                </a:cubicBezTo>
                <a:lnTo>
                  <a:pt x="145721" y="160846"/>
                </a:lnTo>
                <a:cubicBezTo>
                  <a:pt x="144773" y="160790"/>
                  <a:pt x="143824" y="160734"/>
                  <a:pt x="142875" y="160734"/>
                </a:cubicBezTo>
                <a:cubicBezTo>
                  <a:pt x="123174" y="160734"/>
                  <a:pt x="107156" y="176752"/>
                  <a:pt x="107156" y="196453"/>
                </a:cubicBezTo>
                <a:cubicBezTo>
                  <a:pt x="107156" y="216154"/>
                  <a:pt x="123174" y="232172"/>
                  <a:pt x="142875" y="232172"/>
                </a:cubicBezTo>
                <a:close/>
                <a:moveTo>
                  <a:pt x="98227" y="80367"/>
                </a:moveTo>
                <a:cubicBezTo>
                  <a:pt x="98227" y="70510"/>
                  <a:pt x="90224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4"/>
                  <a:pt x="70510" y="98227"/>
                  <a:pt x="80367" y="98227"/>
                </a:cubicBezTo>
                <a:cubicBezTo>
                  <a:pt x="90224" y="98227"/>
                  <a:pt x="98227" y="90224"/>
                  <a:pt x="98227" y="80367"/>
                </a:cubicBezTo>
                <a:close/>
                <a:moveTo>
                  <a:pt x="53578" y="160734"/>
                </a:moveTo>
                <a:cubicBezTo>
                  <a:pt x="63435" y="160734"/>
                  <a:pt x="71438" y="152732"/>
                  <a:pt x="71438" y="142875"/>
                </a:cubicBezTo>
                <a:cubicBezTo>
                  <a:pt x="71438" y="133018"/>
                  <a:pt x="63435" y="125016"/>
                  <a:pt x="53578" y="125016"/>
                </a:cubicBezTo>
                <a:cubicBezTo>
                  <a:pt x="43721" y="125016"/>
                  <a:pt x="35719" y="133018"/>
                  <a:pt x="35719" y="142875"/>
                </a:cubicBezTo>
                <a:cubicBezTo>
                  <a:pt x="35719" y="152732"/>
                  <a:pt x="43721" y="160734"/>
                  <a:pt x="53578" y="160734"/>
                </a:cubicBezTo>
                <a:close/>
                <a:moveTo>
                  <a:pt x="250031" y="142875"/>
                </a:moveTo>
                <a:cubicBezTo>
                  <a:pt x="250031" y="133018"/>
                  <a:pt x="242029" y="125016"/>
                  <a:pt x="232172" y="125016"/>
                </a:cubicBezTo>
                <a:cubicBezTo>
                  <a:pt x="222315" y="125016"/>
                  <a:pt x="214313" y="133018"/>
                  <a:pt x="214313" y="142875"/>
                </a:cubicBezTo>
                <a:cubicBezTo>
                  <a:pt x="214313" y="152732"/>
                  <a:pt x="222315" y="160734"/>
                  <a:pt x="232172" y="160734"/>
                </a:cubicBezTo>
                <a:cubicBezTo>
                  <a:pt x="242029" y="160734"/>
                  <a:pt x="250031" y="152732"/>
                  <a:pt x="250031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1381125" y="4676775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381125" y="498157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Vitesse d'Exécution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215064" y="4315666"/>
            <a:ext cx="5193506" cy="1627936"/>
          </a:xfrm>
          <a:custGeom>
            <a:avLst/>
            <a:gdLst/>
            <a:ahLst/>
            <a:cxnLst/>
            <a:rect l="l" t="t" r="r" b="b"/>
            <a:pathLst>
              <a:path w="5591175" h="2409825">
                <a:moveTo>
                  <a:pt x="152397" y="0"/>
                </a:moveTo>
                <a:lnTo>
                  <a:pt x="5438778" y="0"/>
                </a:lnTo>
                <a:cubicBezTo>
                  <a:pt x="5522944" y="0"/>
                  <a:pt x="5591175" y="68231"/>
                  <a:pt x="5591175" y="152397"/>
                </a:cubicBezTo>
                <a:lnTo>
                  <a:pt x="5591175" y="2257428"/>
                </a:lnTo>
                <a:cubicBezTo>
                  <a:pt x="5591175" y="2341594"/>
                  <a:pt x="5522944" y="2409825"/>
                  <a:pt x="54387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50000"/>
                </a:srgbClr>
              </a:gs>
              <a:gs pos="100000">
                <a:srgbClr val="9F2D00">
                  <a:alpha val="30000"/>
                </a:srgbClr>
              </a:gs>
            </a:gsLst>
            <a:lin ang="2700000" scaled="1"/>
          </a:gradFill>
          <a:ln w="12700">
            <a:solidFill>
              <a:srgbClr val="FF6900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6448425" y="4638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6666309" y="4800600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7210425" y="4676775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Coût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210425" y="498157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Dépenses Totales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7jfxhgtxieze/slide4_datawarehouse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 FONDAMENTAL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Warehouse (Entrepôt de Données)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5763" y="1376363"/>
            <a:ext cx="6753225" cy="5314950"/>
          </a:xfrm>
          <a:custGeom>
            <a:avLst/>
            <a:gdLst/>
            <a:ahLst/>
            <a:cxnLst/>
            <a:rect l="l" t="t" r="r" b="b"/>
            <a:pathLst>
              <a:path w="6753225" h="5314950">
                <a:moveTo>
                  <a:pt x="152380" y="0"/>
                </a:moveTo>
                <a:lnTo>
                  <a:pt x="6600845" y="0"/>
                </a:lnTo>
                <a:cubicBezTo>
                  <a:pt x="6685002" y="0"/>
                  <a:pt x="6753225" y="68223"/>
                  <a:pt x="6753225" y="152380"/>
                </a:cubicBezTo>
                <a:lnTo>
                  <a:pt x="6753225" y="5162570"/>
                </a:lnTo>
                <a:cubicBezTo>
                  <a:pt x="6753225" y="5246727"/>
                  <a:pt x="6685002" y="5314950"/>
                  <a:pt x="6600845" y="5314950"/>
                </a:cubicBezTo>
                <a:lnTo>
                  <a:pt x="152380" y="5314950"/>
                </a:lnTo>
                <a:cubicBezTo>
                  <a:pt x="68223" y="5314950"/>
                  <a:pt x="0" y="5246727"/>
                  <a:pt x="0" y="5162570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19125" y="16097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65572" y="17716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79307"/>
                </a:move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cubicBezTo>
                  <a:pt x="27738" y="285750"/>
                  <a:pt x="35719" y="277769"/>
                  <a:pt x="35719" y="267891"/>
                </a:cubicBezTo>
                <a:lnTo>
                  <a:pt x="35719" y="133945"/>
                </a:lnTo>
                <a:cubicBezTo>
                  <a:pt x="35719" y="124067"/>
                  <a:pt x="43700" y="116086"/>
                  <a:pt x="53578" y="116086"/>
                </a:cubicBezTo>
                <a:lnTo>
                  <a:pt x="267891" y="116086"/>
                </a:lnTo>
                <a:cubicBezTo>
                  <a:pt x="277769" y="116086"/>
                  <a:pt x="285750" y="124067"/>
                  <a:pt x="285750" y="133945"/>
                </a:cubicBezTo>
                <a:lnTo>
                  <a:pt x="285750" y="267891"/>
                </a:lnTo>
                <a:cubicBezTo>
                  <a:pt x="285750" y="277769"/>
                  <a:pt x="293731" y="285750"/>
                  <a:pt x="303609" y="285750"/>
                </a:cubicBezTo>
                <a:cubicBezTo>
                  <a:pt x="313488" y="285750"/>
                  <a:pt x="321469" y="277769"/>
                  <a:pt x="321469" y="267891"/>
                </a:cubicBezTo>
                <a:lnTo>
                  <a:pt x="321469" y="79307"/>
                </a:lnTo>
                <a:cubicBezTo>
                  <a:pt x="321469" y="63959"/>
                  <a:pt x="311646" y="50285"/>
                  <a:pt x="297024" y="45430"/>
                </a:cubicBezTo>
                <a:lnTo>
                  <a:pt x="169218" y="2846"/>
                </a:lnTo>
                <a:cubicBezTo>
                  <a:pt x="163692" y="1005"/>
                  <a:pt x="157776" y="1005"/>
                  <a:pt x="152251" y="2846"/>
                </a:cubicBezTo>
                <a:lnTo>
                  <a:pt x="24445" y="45430"/>
                </a:lnTo>
                <a:cubicBezTo>
                  <a:pt x="9823" y="50285"/>
                  <a:pt x="0" y="63959"/>
                  <a:pt x="0" y="79307"/>
                </a:cubicBezTo>
                <a:close/>
                <a:moveTo>
                  <a:pt x="258961" y="142875"/>
                </a:moveTo>
                <a:lnTo>
                  <a:pt x="62508" y="142875"/>
                </a:lnTo>
                <a:lnTo>
                  <a:pt x="62508" y="178594"/>
                </a:lnTo>
                <a:lnTo>
                  <a:pt x="258961" y="178594"/>
                </a:lnTo>
                <a:lnTo>
                  <a:pt x="258961" y="142875"/>
                </a:lnTo>
                <a:close/>
                <a:moveTo>
                  <a:pt x="62508" y="232172"/>
                </a:moveTo>
                <a:lnTo>
                  <a:pt x="258961" y="232172"/>
                </a:lnTo>
                <a:lnTo>
                  <a:pt x="258961" y="196453"/>
                </a:lnTo>
                <a:lnTo>
                  <a:pt x="62508" y="196453"/>
                </a:lnTo>
                <a:lnTo>
                  <a:pt x="62508" y="232172"/>
                </a:lnTo>
                <a:close/>
                <a:moveTo>
                  <a:pt x="258961" y="250031"/>
                </a:moveTo>
                <a:lnTo>
                  <a:pt x="62508" y="250031"/>
                </a:lnTo>
                <a:lnTo>
                  <a:pt x="62508" y="285750"/>
                </a:lnTo>
                <a:lnTo>
                  <a:pt x="258961" y="285750"/>
                </a:lnTo>
                <a:lnTo>
                  <a:pt x="258961" y="25003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381125" y="1743075"/>
            <a:ext cx="4848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Qu'est-ce qu'un Data Warehouse?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9125" y="2371725"/>
            <a:ext cx="63722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</a:t>
            </a:r>
            <a:r>
              <a:rPr lang="en-US" sz="135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</a:t>
            </a:r>
            <a:r>
              <a:rPr lang="en-US" sz="13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 un système de stockage centralisé qui agrège des données provenant de</a:t>
            </a:r>
            <a:r>
              <a:rPr lang="en-US" sz="135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multiples sources</a:t>
            </a:r>
            <a:r>
              <a:rPr lang="en-US" sz="13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(bases de données opérationnelles, applications, fichiers externes), optimisé pour l'analyse décisionnelle et les requêtes analytiques complexes.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3888" y="3643313"/>
            <a:ext cx="6276975" cy="1647825"/>
          </a:xfrm>
          <a:custGeom>
            <a:avLst/>
            <a:gdLst/>
            <a:ahLst/>
            <a:cxnLst/>
            <a:rect l="l" t="t" r="r" b="b"/>
            <a:pathLst>
              <a:path w="6276975" h="1647825">
                <a:moveTo>
                  <a:pt x="114293" y="0"/>
                </a:moveTo>
                <a:lnTo>
                  <a:pt x="6162682" y="0"/>
                </a:lnTo>
                <a:cubicBezTo>
                  <a:pt x="6225762" y="0"/>
                  <a:pt x="6276975" y="51213"/>
                  <a:pt x="6276975" y="114293"/>
                </a:cubicBezTo>
                <a:lnTo>
                  <a:pt x="6276975" y="1533532"/>
                </a:lnTo>
                <a:cubicBezTo>
                  <a:pt x="6276975" y="1596612"/>
                  <a:pt x="6225762" y="1647825"/>
                  <a:pt x="61626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04863" y="3838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19175" y="3800475"/>
            <a:ext cx="581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Caractéristiques Clés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81050" y="4219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B8DB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77491" y="4305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200150" y="4181475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Orienté Sujets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00150" y="4480843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Organisé par domaines métier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21311" y="4219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B8DB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917752" y="4305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240411" y="4181475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Intégré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249936" y="4471987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Données unifiées et cohérentes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81050" y="4752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B8DB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877491" y="4838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200150" y="4714875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Non-Volatil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00150" y="494347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Historique préservé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21311" y="4752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B8DB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3917752" y="4838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4240411" y="4714875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Temporel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249936" y="4986338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Dimension temps intégrée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3888" y="5453063"/>
            <a:ext cx="6276975" cy="1000125"/>
          </a:xfrm>
          <a:custGeom>
            <a:avLst/>
            <a:gdLst/>
            <a:ahLst/>
            <a:cxnLst/>
            <a:rect l="l" t="t" r="r" b="b"/>
            <a:pathLst>
              <a:path w="6276975" h="1000125">
                <a:moveTo>
                  <a:pt x="114304" y="0"/>
                </a:moveTo>
                <a:lnTo>
                  <a:pt x="6162671" y="0"/>
                </a:lnTo>
                <a:cubicBezTo>
                  <a:pt x="6225799" y="0"/>
                  <a:pt x="6276975" y="51176"/>
                  <a:pt x="6276975" y="114304"/>
                </a:cubicBezTo>
                <a:lnTo>
                  <a:pt x="6276975" y="885821"/>
                </a:lnTo>
                <a:cubicBezTo>
                  <a:pt x="6276975" y="948949"/>
                  <a:pt x="6225799" y="1000125"/>
                  <a:pt x="61626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>
                  <a:alpha val="20000"/>
                </a:srgbClr>
              </a:gs>
              <a:gs pos="100000">
                <a:srgbClr val="2B7FFF">
                  <a:alpha val="2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819150" y="56483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1028700" y="5610225"/>
            <a:ext cx="579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Différence OLTP vs OLAP: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Contrairement aux bases de données transactionnelles (OLTP) optimisées pour les opérations quotidiennes, le Data Warehouse est optimisé pour les</a:t>
            </a:r>
            <a:r>
              <a:rPr lang="en-US" sz="12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requêtes analytiques complexes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(OLAP).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380833" y="1376363"/>
            <a:ext cx="4429125" cy="4886325"/>
          </a:xfrm>
          <a:custGeom>
            <a:avLst/>
            <a:gdLst/>
            <a:ahLst/>
            <a:cxnLst/>
            <a:rect l="l" t="t" r="r" b="b"/>
            <a:pathLst>
              <a:path w="4429125" h="4886325">
                <a:moveTo>
                  <a:pt x="152406" y="0"/>
                </a:moveTo>
                <a:lnTo>
                  <a:pt x="4276719" y="0"/>
                </a:lnTo>
                <a:cubicBezTo>
                  <a:pt x="4360890" y="0"/>
                  <a:pt x="4429125" y="68235"/>
                  <a:pt x="4429125" y="152406"/>
                </a:cubicBezTo>
                <a:lnTo>
                  <a:pt x="4429125" y="4733919"/>
                </a:lnTo>
                <a:cubicBezTo>
                  <a:pt x="4429125" y="4818090"/>
                  <a:pt x="4360890" y="4886325"/>
                  <a:pt x="4276719" y="4886325"/>
                </a:cubicBezTo>
                <a:lnTo>
                  <a:pt x="152406" y="4886325"/>
                </a:lnTo>
                <a:cubicBezTo>
                  <a:pt x="68235" y="4886325"/>
                  <a:pt x="0" y="4818090"/>
                  <a:pt x="0" y="47339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759990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7814221" y="1571625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Architecture Type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80858" y="1995487"/>
            <a:ext cx="4029075" cy="695325"/>
          </a:xfrm>
          <a:custGeom>
            <a:avLst/>
            <a:gdLst/>
            <a:ahLst/>
            <a:cxnLst/>
            <a:rect l="l" t="t" r="r" b="b"/>
            <a:pathLst>
              <a:path w="4029075" h="695325">
                <a:moveTo>
                  <a:pt x="76201" y="0"/>
                </a:moveTo>
                <a:lnTo>
                  <a:pt x="3952874" y="0"/>
                </a:lnTo>
                <a:cubicBezTo>
                  <a:pt x="3994959" y="0"/>
                  <a:pt x="4029075" y="34116"/>
                  <a:pt x="4029075" y="76201"/>
                </a:cubicBezTo>
                <a:lnTo>
                  <a:pt x="4029075" y="619124"/>
                </a:lnTo>
                <a:cubicBezTo>
                  <a:pt x="4029075" y="661209"/>
                  <a:pt x="3994959" y="695325"/>
                  <a:pt x="39528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3C0366">
              <a:alpha val="50196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7699921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D46FF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7782371" y="21526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004721" y="21145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Sources de Données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004721" y="2381250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ERP, CRM, Bases de données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522023" y="2809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7580858" y="3119438"/>
            <a:ext cx="4029075" cy="695325"/>
          </a:xfrm>
          <a:custGeom>
            <a:avLst/>
            <a:gdLst/>
            <a:ahLst/>
            <a:cxnLst/>
            <a:rect l="l" t="t" r="r" b="b"/>
            <a:pathLst>
              <a:path w="4029075" h="695325">
                <a:moveTo>
                  <a:pt x="76201" y="0"/>
                </a:moveTo>
                <a:lnTo>
                  <a:pt x="3952874" y="0"/>
                </a:lnTo>
                <a:cubicBezTo>
                  <a:pt x="3994959" y="0"/>
                  <a:pt x="4029075" y="34116"/>
                  <a:pt x="4029075" y="76201"/>
                </a:cubicBezTo>
                <a:lnTo>
                  <a:pt x="4029075" y="619124"/>
                </a:lnTo>
                <a:cubicBezTo>
                  <a:pt x="4029075" y="661209"/>
                  <a:pt x="3994959" y="695325"/>
                  <a:pt x="39528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3C0366">
              <a:alpha val="50196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3" name="Shape 40"/>
          <p:cNvSpPr/>
          <p:nvPr/>
        </p:nvSpPr>
        <p:spPr>
          <a:xfrm>
            <a:off x="7699921" y="3238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D46FF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7782371" y="32766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004721" y="323850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 / ELT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004721" y="3505200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Extraction, Transformation, Load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522023" y="39338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5"/>
          <p:cNvSpPr/>
          <p:nvPr/>
        </p:nvSpPr>
        <p:spPr>
          <a:xfrm>
            <a:off x="7580858" y="4243388"/>
            <a:ext cx="4029075" cy="695325"/>
          </a:xfrm>
          <a:custGeom>
            <a:avLst/>
            <a:gdLst/>
            <a:ahLst/>
            <a:cxnLst/>
            <a:rect l="l" t="t" r="r" b="b"/>
            <a:pathLst>
              <a:path w="4029075" h="695325">
                <a:moveTo>
                  <a:pt x="76201" y="0"/>
                </a:moveTo>
                <a:lnTo>
                  <a:pt x="3952874" y="0"/>
                </a:lnTo>
                <a:cubicBezTo>
                  <a:pt x="3994959" y="0"/>
                  <a:pt x="4029075" y="34116"/>
                  <a:pt x="4029075" y="76201"/>
                </a:cubicBezTo>
                <a:lnTo>
                  <a:pt x="4029075" y="619124"/>
                </a:lnTo>
                <a:cubicBezTo>
                  <a:pt x="4029075" y="661209"/>
                  <a:pt x="3994959" y="695325"/>
                  <a:pt x="39528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>
                  <a:alpha val="30000"/>
                </a:srgbClr>
              </a:gs>
              <a:gs pos="100000">
                <a:srgbClr val="2B7FFF">
                  <a:alpha val="30000"/>
                </a:srgbClr>
              </a:gs>
            </a:gsLst>
            <a:lin ang="0" scaled="1"/>
          </a:gradFill>
          <a:ln w="127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6"/>
          <p:cNvSpPr/>
          <p:nvPr/>
        </p:nvSpPr>
        <p:spPr>
          <a:xfrm>
            <a:off x="7699921" y="436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B8DB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7782371" y="44005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004721" y="43624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004721" y="4629150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 centralisé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522023" y="5057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7580858" y="5367338"/>
            <a:ext cx="4029075" cy="695325"/>
          </a:xfrm>
          <a:custGeom>
            <a:avLst/>
            <a:gdLst/>
            <a:ahLst/>
            <a:cxnLst/>
            <a:rect l="l" t="t" r="r" b="b"/>
            <a:pathLst>
              <a:path w="4029075" h="695325">
                <a:moveTo>
                  <a:pt x="76201" y="0"/>
                </a:moveTo>
                <a:lnTo>
                  <a:pt x="3952874" y="0"/>
                </a:lnTo>
                <a:cubicBezTo>
                  <a:pt x="3994959" y="0"/>
                  <a:pt x="4029075" y="34116"/>
                  <a:pt x="4029075" y="76201"/>
                </a:cubicBezTo>
                <a:lnTo>
                  <a:pt x="4029075" y="619124"/>
                </a:lnTo>
                <a:cubicBezTo>
                  <a:pt x="4029075" y="661209"/>
                  <a:pt x="3994959" y="695325"/>
                  <a:pt x="39528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3C0366">
              <a:alpha val="50196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2"/>
          <p:cNvSpPr/>
          <p:nvPr/>
        </p:nvSpPr>
        <p:spPr>
          <a:xfrm>
            <a:off x="7699921" y="548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D46FF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3"/>
          <p:cNvSpPr/>
          <p:nvPr/>
        </p:nvSpPr>
        <p:spPr>
          <a:xfrm>
            <a:off x="7782371" y="55245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004721" y="54864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Outils BI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8004721" y="5753100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Tableaux de bord, Rapports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7jfxhgtxieze/slide5_cloud_dw.png"/>
          <p:cNvPicPr>
            <a:picLocks noChangeAspect="1"/>
          </p:cNvPicPr>
          <p:nvPr/>
        </p:nvPicPr>
        <p:blipFill>
          <a:blip r:embed="rId3">
            <a:alphaModFix amt="25000"/>
          </a:blip>
          <a:srcRect l="1235" r="1235"/>
          <a:stretch/>
        </p:blipFill>
        <p:spPr>
          <a:xfrm>
            <a:off x="0" y="0"/>
            <a:ext cx="12192000" cy="714325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8965" y="19239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kern="0" spc="58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ÉVOLUTION CLOUD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851" y="658533"/>
            <a:ext cx="11679808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7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Data Warehouse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70425" y="1321638"/>
            <a:ext cx="5615820" cy="5131067"/>
          </a:xfrm>
          <a:custGeom>
            <a:avLst/>
            <a:gdLst/>
            <a:ahLst/>
            <a:cxnLst/>
            <a:rect l="l" t="t" r="r" b="b"/>
            <a:pathLst>
              <a:path w="5615820" h="5533503">
                <a:moveTo>
                  <a:pt x="146361" y="0"/>
                </a:moveTo>
                <a:lnTo>
                  <a:pt x="5469459" y="0"/>
                </a:lnTo>
                <a:cubicBezTo>
                  <a:pt x="5550292" y="0"/>
                  <a:pt x="5615820" y="65528"/>
                  <a:pt x="5615820" y="146361"/>
                </a:cubicBezTo>
                <a:lnTo>
                  <a:pt x="5615820" y="5387142"/>
                </a:lnTo>
                <a:cubicBezTo>
                  <a:pt x="5615820" y="5467975"/>
                  <a:pt x="5550292" y="5533503"/>
                  <a:pt x="5469459" y="5533503"/>
                </a:cubicBezTo>
                <a:lnTo>
                  <a:pt x="146361" y="5533503"/>
                </a:lnTo>
                <a:cubicBezTo>
                  <a:pt x="65528" y="5533503"/>
                  <a:pt x="0" y="5467975"/>
                  <a:pt x="0" y="5387142"/>
                </a:cubicBezTo>
                <a:lnTo>
                  <a:pt x="0" y="146361"/>
                </a:lnTo>
                <a:cubicBezTo>
                  <a:pt x="0" y="65582"/>
                  <a:pt x="65582" y="0"/>
                  <a:pt x="146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509" y="1545722"/>
            <a:ext cx="585362" cy="585362"/>
          </a:xfrm>
          <a:custGeom>
            <a:avLst/>
            <a:gdLst/>
            <a:ahLst/>
            <a:cxnLst/>
            <a:rect l="l" t="t" r="r" b="b"/>
            <a:pathLst>
              <a:path w="585362" h="585362">
                <a:moveTo>
                  <a:pt x="109755" y="0"/>
                </a:moveTo>
                <a:lnTo>
                  <a:pt x="475607" y="0"/>
                </a:lnTo>
                <a:cubicBezTo>
                  <a:pt x="536223" y="0"/>
                  <a:pt x="585362" y="49139"/>
                  <a:pt x="585362" y="109755"/>
                </a:cubicBezTo>
                <a:lnTo>
                  <a:pt x="585362" y="475607"/>
                </a:lnTo>
                <a:cubicBezTo>
                  <a:pt x="585362" y="536223"/>
                  <a:pt x="536223" y="585362"/>
                  <a:pt x="475607" y="585362"/>
                </a:cubicBezTo>
                <a:lnTo>
                  <a:pt x="109755" y="585362"/>
                </a:lnTo>
                <a:cubicBezTo>
                  <a:pt x="49139" y="585362"/>
                  <a:pt x="0" y="536223"/>
                  <a:pt x="0" y="475607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35133" y="1701209"/>
            <a:ext cx="308687" cy="274389"/>
          </a:xfrm>
          <a:custGeom>
            <a:avLst/>
            <a:gdLst/>
            <a:ahLst/>
            <a:cxnLst/>
            <a:rect l="l" t="t" r="r" b="b"/>
            <a:pathLst>
              <a:path w="308687" h="274389">
                <a:moveTo>
                  <a:pt x="77172" y="257239"/>
                </a:moveTo>
                <a:cubicBezTo>
                  <a:pt x="34567" y="257239"/>
                  <a:pt x="0" y="222673"/>
                  <a:pt x="0" y="180068"/>
                </a:cubicBezTo>
                <a:cubicBezTo>
                  <a:pt x="0" y="146090"/>
                  <a:pt x="21973" y="117258"/>
                  <a:pt x="52466" y="106915"/>
                </a:cubicBezTo>
                <a:cubicBezTo>
                  <a:pt x="51769" y="102789"/>
                  <a:pt x="51448" y="98608"/>
                  <a:pt x="51448" y="94321"/>
                </a:cubicBezTo>
                <a:cubicBezTo>
                  <a:pt x="51448" y="51716"/>
                  <a:pt x="86014" y="17149"/>
                  <a:pt x="128620" y="17149"/>
                </a:cubicBezTo>
                <a:cubicBezTo>
                  <a:pt x="158309" y="17149"/>
                  <a:pt x="184087" y="33923"/>
                  <a:pt x="197002" y="58468"/>
                </a:cubicBezTo>
                <a:cubicBezTo>
                  <a:pt x="204612" y="54020"/>
                  <a:pt x="213509" y="51448"/>
                  <a:pt x="222941" y="51448"/>
                </a:cubicBezTo>
                <a:cubicBezTo>
                  <a:pt x="251344" y="51448"/>
                  <a:pt x="274389" y="74492"/>
                  <a:pt x="274389" y="102896"/>
                </a:cubicBezTo>
                <a:cubicBezTo>
                  <a:pt x="274389" y="111310"/>
                  <a:pt x="272352" y="119295"/>
                  <a:pt x="268761" y="126315"/>
                </a:cubicBezTo>
                <a:cubicBezTo>
                  <a:pt x="292342" y="137194"/>
                  <a:pt x="308687" y="160989"/>
                  <a:pt x="308687" y="188642"/>
                </a:cubicBezTo>
                <a:cubicBezTo>
                  <a:pt x="308687" y="226531"/>
                  <a:pt x="277979" y="257239"/>
                  <a:pt x="240090" y="257239"/>
                </a:cubicBezTo>
                <a:lnTo>
                  <a:pt x="77172" y="257239"/>
                </a:lnTo>
                <a:close/>
                <a:moveTo>
                  <a:pt x="163454" y="102360"/>
                </a:moveTo>
                <a:cubicBezTo>
                  <a:pt x="158417" y="97322"/>
                  <a:pt x="150271" y="97322"/>
                  <a:pt x="145287" y="102360"/>
                </a:cubicBezTo>
                <a:lnTo>
                  <a:pt x="106701" y="140946"/>
                </a:lnTo>
                <a:cubicBezTo>
                  <a:pt x="101663" y="145983"/>
                  <a:pt x="101663" y="154129"/>
                  <a:pt x="106701" y="159113"/>
                </a:cubicBezTo>
                <a:cubicBezTo>
                  <a:pt x="111738" y="164097"/>
                  <a:pt x="119884" y="164151"/>
                  <a:pt x="124868" y="159113"/>
                </a:cubicBezTo>
                <a:lnTo>
                  <a:pt x="141482" y="142500"/>
                </a:lnTo>
                <a:lnTo>
                  <a:pt x="141482" y="197217"/>
                </a:lnTo>
                <a:cubicBezTo>
                  <a:pt x="141482" y="204344"/>
                  <a:pt x="147216" y="210079"/>
                  <a:pt x="154344" y="210079"/>
                </a:cubicBezTo>
                <a:cubicBezTo>
                  <a:pt x="161471" y="210079"/>
                  <a:pt x="167206" y="204344"/>
                  <a:pt x="167206" y="197217"/>
                </a:cubicBezTo>
                <a:lnTo>
                  <a:pt x="167206" y="142500"/>
                </a:lnTo>
                <a:lnTo>
                  <a:pt x="183819" y="159113"/>
                </a:lnTo>
                <a:cubicBezTo>
                  <a:pt x="188857" y="164151"/>
                  <a:pt x="197002" y="164151"/>
                  <a:pt x="201986" y="159113"/>
                </a:cubicBezTo>
                <a:cubicBezTo>
                  <a:pt x="206970" y="154076"/>
                  <a:pt x="207024" y="145930"/>
                  <a:pt x="201986" y="140946"/>
                </a:cubicBezTo>
                <a:lnTo>
                  <a:pt x="163401" y="10236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326212" y="1673770"/>
            <a:ext cx="1399382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Définition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509" y="2277425"/>
            <a:ext cx="5249968" cy="80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</a:t>
            </a:r>
            <a:r>
              <a:rPr lang="en-US" sz="129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Data Warehouse </a:t>
            </a:r>
            <a:r>
              <a:rPr lang="en-US" sz="1296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 Data Warehouse hébergé sur une infrastructure cloud (AWS, Azure, GCP), </a:t>
            </a:r>
            <a:r>
              <a:rPr lang="en-US" sz="1296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offrant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96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96" b="1" dirty="0" err="1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scalabilité</a:t>
            </a:r>
            <a:r>
              <a:rPr lang="en-US" sz="129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96" b="1" dirty="0" err="1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élastique</a:t>
            </a:r>
            <a:r>
              <a:rPr lang="en-US" sz="129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 un modèle de paiement à l'usage.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9082" y="3230926"/>
            <a:ext cx="5158506" cy="2496936"/>
          </a:xfrm>
          <a:custGeom>
            <a:avLst/>
            <a:gdLst/>
            <a:ahLst/>
            <a:cxnLst/>
            <a:rect l="l" t="t" r="r" b="b"/>
            <a:pathLst>
              <a:path w="5158506" h="2496936">
                <a:moveTo>
                  <a:pt x="109765" y="0"/>
                </a:moveTo>
                <a:lnTo>
                  <a:pt x="5048740" y="0"/>
                </a:lnTo>
                <a:cubicBezTo>
                  <a:pt x="5109362" y="0"/>
                  <a:pt x="5158506" y="49144"/>
                  <a:pt x="5158506" y="109765"/>
                </a:cubicBezTo>
                <a:lnTo>
                  <a:pt x="5158506" y="2387171"/>
                </a:lnTo>
                <a:cubicBezTo>
                  <a:pt x="5158506" y="2447793"/>
                  <a:pt x="5109362" y="2496936"/>
                  <a:pt x="5048740" y="2496936"/>
                </a:cubicBezTo>
                <a:lnTo>
                  <a:pt x="109765" y="2496936"/>
                </a:lnTo>
                <a:cubicBezTo>
                  <a:pt x="49144" y="2496936"/>
                  <a:pt x="0" y="2447793"/>
                  <a:pt x="0" y="2387171"/>
                </a:cubicBezTo>
                <a:lnTo>
                  <a:pt x="0" y="109765"/>
                </a:lnTo>
                <a:cubicBezTo>
                  <a:pt x="0" y="49144"/>
                  <a:pt x="49144" y="0"/>
                  <a:pt x="109765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61428" y="3418425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110577" y="-6753"/>
                </a:moveTo>
                <a:cubicBezTo>
                  <a:pt x="109112" y="-9611"/>
                  <a:pt x="106147" y="-11433"/>
                  <a:pt x="102931" y="-11433"/>
                </a:cubicBezTo>
                <a:cubicBezTo>
                  <a:pt x="99716" y="-11433"/>
                  <a:pt x="96751" y="-9611"/>
                  <a:pt x="95286" y="-6753"/>
                </a:cubicBezTo>
                <a:lnTo>
                  <a:pt x="68990" y="44767"/>
                </a:lnTo>
                <a:lnTo>
                  <a:pt x="11862" y="53842"/>
                </a:lnTo>
                <a:cubicBezTo>
                  <a:pt x="8682" y="54342"/>
                  <a:pt x="6038" y="56593"/>
                  <a:pt x="5038" y="59665"/>
                </a:cubicBezTo>
                <a:cubicBezTo>
                  <a:pt x="4037" y="62738"/>
                  <a:pt x="4859" y="66096"/>
                  <a:pt x="7110" y="68383"/>
                </a:cubicBezTo>
                <a:lnTo>
                  <a:pt x="47982" y="109291"/>
                </a:lnTo>
                <a:lnTo>
                  <a:pt x="38979" y="166420"/>
                </a:lnTo>
                <a:cubicBezTo>
                  <a:pt x="38479" y="169599"/>
                  <a:pt x="39801" y="172815"/>
                  <a:pt x="42409" y="174708"/>
                </a:cubicBezTo>
                <a:cubicBezTo>
                  <a:pt x="45017" y="176602"/>
                  <a:pt x="48447" y="176888"/>
                  <a:pt x="51341" y="175423"/>
                </a:cubicBezTo>
                <a:lnTo>
                  <a:pt x="102931" y="149199"/>
                </a:lnTo>
                <a:lnTo>
                  <a:pt x="154486" y="175423"/>
                </a:lnTo>
                <a:cubicBezTo>
                  <a:pt x="157345" y="176888"/>
                  <a:pt x="160810" y="176602"/>
                  <a:pt x="163418" y="174708"/>
                </a:cubicBezTo>
                <a:cubicBezTo>
                  <a:pt x="166027" y="172815"/>
                  <a:pt x="167348" y="169635"/>
                  <a:pt x="166848" y="166420"/>
                </a:cubicBezTo>
                <a:lnTo>
                  <a:pt x="157809" y="109291"/>
                </a:lnTo>
                <a:lnTo>
                  <a:pt x="198682" y="68383"/>
                </a:lnTo>
                <a:cubicBezTo>
                  <a:pt x="200968" y="66096"/>
                  <a:pt x="201754" y="62738"/>
                  <a:pt x="200754" y="59665"/>
                </a:cubicBezTo>
                <a:cubicBezTo>
                  <a:pt x="199753" y="56593"/>
                  <a:pt x="197145" y="54342"/>
                  <a:pt x="193930" y="53842"/>
                </a:cubicBezTo>
                <a:lnTo>
                  <a:pt x="136837" y="44767"/>
                </a:lnTo>
                <a:lnTo>
                  <a:pt x="110577" y="-6753"/>
                </a:ln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78653" y="3381839"/>
            <a:ext cx="471948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Avantages Clés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9995" y="3747691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AD46FF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42602" y="3830008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42016" y="8003"/>
                </a:moveTo>
                <a:lnTo>
                  <a:pt x="6002" y="8003"/>
                </a:lnTo>
                <a:cubicBezTo>
                  <a:pt x="2676" y="8003"/>
                  <a:pt x="0" y="10679"/>
                  <a:pt x="0" y="14005"/>
                </a:cubicBezTo>
                <a:lnTo>
                  <a:pt x="0" y="50019"/>
                </a:lnTo>
                <a:cubicBezTo>
                  <a:pt x="0" y="52445"/>
                  <a:pt x="1451" y="54645"/>
                  <a:pt x="3701" y="55571"/>
                </a:cubicBezTo>
                <a:cubicBezTo>
                  <a:pt x="5952" y="56496"/>
                  <a:pt x="8528" y="55971"/>
                  <a:pt x="10254" y="54270"/>
                </a:cubicBezTo>
                <a:lnTo>
                  <a:pt x="20258" y="44267"/>
                </a:lnTo>
                <a:lnTo>
                  <a:pt x="40015" y="64024"/>
                </a:lnTo>
                <a:lnTo>
                  <a:pt x="20258" y="83781"/>
                </a:lnTo>
                <a:lnTo>
                  <a:pt x="10254" y="73778"/>
                </a:lnTo>
                <a:cubicBezTo>
                  <a:pt x="8528" y="72052"/>
                  <a:pt x="5952" y="71552"/>
                  <a:pt x="3701" y="72477"/>
                </a:cubicBezTo>
                <a:cubicBezTo>
                  <a:pt x="1451" y="73403"/>
                  <a:pt x="0" y="75603"/>
                  <a:pt x="0" y="78029"/>
                </a:cubicBezTo>
                <a:lnTo>
                  <a:pt x="0" y="114043"/>
                </a:lnTo>
                <a:cubicBezTo>
                  <a:pt x="0" y="117369"/>
                  <a:pt x="2676" y="120045"/>
                  <a:pt x="6002" y="120045"/>
                </a:cubicBezTo>
                <a:lnTo>
                  <a:pt x="42016" y="120045"/>
                </a:lnTo>
                <a:cubicBezTo>
                  <a:pt x="44442" y="120045"/>
                  <a:pt x="46642" y="118594"/>
                  <a:pt x="47568" y="116344"/>
                </a:cubicBezTo>
                <a:cubicBezTo>
                  <a:pt x="48493" y="114093"/>
                  <a:pt x="47993" y="111517"/>
                  <a:pt x="46267" y="109791"/>
                </a:cubicBezTo>
                <a:lnTo>
                  <a:pt x="36264" y="99787"/>
                </a:lnTo>
                <a:lnTo>
                  <a:pt x="56021" y="80030"/>
                </a:lnTo>
                <a:lnTo>
                  <a:pt x="75778" y="99787"/>
                </a:lnTo>
                <a:lnTo>
                  <a:pt x="65775" y="109791"/>
                </a:lnTo>
                <a:cubicBezTo>
                  <a:pt x="64049" y="111517"/>
                  <a:pt x="63549" y="114093"/>
                  <a:pt x="64474" y="116344"/>
                </a:cubicBezTo>
                <a:cubicBezTo>
                  <a:pt x="65400" y="118594"/>
                  <a:pt x="67600" y="120045"/>
                  <a:pt x="70026" y="120045"/>
                </a:cubicBezTo>
                <a:lnTo>
                  <a:pt x="106040" y="120045"/>
                </a:lnTo>
                <a:cubicBezTo>
                  <a:pt x="109366" y="120045"/>
                  <a:pt x="112042" y="117369"/>
                  <a:pt x="112042" y="114043"/>
                </a:cubicBezTo>
                <a:lnTo>
                  <a:pt x="112042" y="78029"/>
                </a:lnTo>
                <a:cubicBezTo>
                  <a:pt x="112042" y="75603"/>
                  <a:pt x="110591" y="73403"/>
                  <a:pt x="108341" y="72477"/>
                </a:cubicBezTo>
                <a:cubicBezTo>
                  <a:pt x="106090" y="71552"/>
                  <a:pt x="103514" y="72052"/>
                  <a:pt x="101788" y="73778"/>
                </a:cubicBezTo>
                <a:lnTo>
                  <a:pt x="91784" y="83781"/>
                </a:lnTo>
                <a:lnTo>
                  <a:pt x="72027" y="64024"/>
                </a:lnTo>
                <a:lnTo>
                  <a:pt x="91784" y="44267"/>
                </a:lnTo>
                <a:lnTo>
                  <a:pt x="101788" y="54270"/>
                </a:lnTo>
                <a:cubicBezTo>
                  <a:pt x="103514" y="55996"/>
                  <a:pt x="106090" y="56496"/>
                  <a:pt x="108341" y="55571"/>
                </a:cubicBezTo>
                <a:cubicBezTo>
                  <a:pt x="110591" y="54645"/>
                  <a:pt x="112042" y="52445"/>
                  <a:pt x="112042" y="50019"/>
                </a:cubicBezTo>
                <a:lnTo>
                  <a:pt x="112042" y="14005"/>
                </a:lnTo>
                <a:cubicBezTo>
                  <a:pt x="112042" y="10679"/>
                  <a:pt x="109366" y="8003"/>
                  <a:pt x="106040" y="8003"/>
                </a:cubicBezTo>
                <a:lnTo>
                  <a:pt x="70026" y="8003"/>
                </a:lnTo>
                <a:cubicBezTo>
                  <a:pt x="67600" y="8003"/>
                  <a:pt x="65400" y="9454"/>
                  <a:pt x="64474" y="11704"/>
                </a:cubicBezTo>
                <a:cubicBezTo>
                  <a:pt x="63549" y="13955"/>
                  <a:pt x="64074" y="16531"/>
                  <a:pt x="65775" y="18257"/>
                </a:cubicBezTo>
                <a:lnTo>
                  <a:pt x="75778" y="28261"/>
                </a:lnTo>
                <a:lnTo>
                  <a:pt x="56021" y="48018"/>
                </a:lnTo>
                <a:lnTo>
                  <a:pt x="36264" y="28261"/>
                </a:lnTo>
                <a:lnTo>
                  <a:pt x="46267" y="18257"/>
                </a:lnTo>
                <a:cubicBezTo>
                  <a:pt x="47993" y="16531"/>
                  <a:pt x="48493" y="13955"/>
                  <a:pt x="47568" y="11704"/>
                </a:cubicBezTo>
                <a:cubicBezTo>
                  <a:pt x="46642" y="9454"/>
                  <a:pt x="44442" y="8003"/>
                  <a:pt x="42016" y="8003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52432" y="3747691"/>
            <a:ext cx="341156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Scalabilité Élastique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52432" y="3907750"/>
            <a:ext cx="374834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Augmentation automatique des ressources selon la charge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9995" y="4223298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AD46FF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34599" y="4305614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0" y="32012"/>
                </a:moveTo>
                <a:lnTo>
                  <a:pt x="0" y="40015"/>
                </a:lnTo>
                <a:lnTo>
                  <a:pt x="128048" y="40015"/>
                </a:lnTo>
                <a:lnTo>
                  <a:pt x="128048" y="32012"/>
                </a:lnTo>
                <a:cubicBezTo>
                  <a:pt x="128048" y="23184"/>
                  <a:pt x="120870" y="16006"/>
                  <a:pt x="112042" y="16006"/>
                </a:cubicBezTo>
                <a:lnTo>
                  <a:pt x="16006" y="16006"/>
                </a:lnTo>
                <a:cubicBezTo>
                  <a:pt x="7178" y="16006"/>
                  <a:pt x="0" y="23184"/>
                  <a:pt x="0" y="32012"/>
                </a:cubicBezTo>
                <a:close/>
                <a:moveTo>
                  <a:pt x="0" y="52020"/>
                </a:moveTo>
                <a:lnTo>
                  <a:pt x="0" y="96036"/>
                </a:lnTo>
                <a:cubicBezTo>
                  <a:pt x="0" y="104864"/>
                  <a:pt x="7178" y="112042"/>
                  <a:pt x="16006" y="112042"/>
                </a:cubicBezTo>
                <a:lnTo>
                  <a:pt x="112042" y="112042"/>
                </a:lnTo>
                <a:cubicBezTo>
                  <a:pt x="120870" y="112042"/>
                  <a:pt x="128048" y="104864"/>
                  <a:pt x="128048" y="96036"/>
                </a:cubicBezTo>
                <a:lnTo>
                  <a:pt x="128048" y="52020"/>
                </a:lnTo>
                <a:lnTo>
                  <a:pt x="0" y="52020"/>
                </a:lnTo>
                <a:close/>
                <a:moveTo>
                  <a:pt x="16006" y="90034"/>
                </a:moveTo>
                <a:cubicBezTo>
                  <a:pt x="16006" y="86708"/>
                  <a:pt x="18682" y="84032"/>
                  <a:pt x="22008" y="84032"/>
                </a:cubicBezTo>
                <a:lnTo>
                  <a:pt x="34013" y="84032"/>
                </a:lnTo>
                <a:cubicBezTo>
                  <a:pt x="37339" y="84032"/>
                  <a:pt x="40015" y="86708"/>
                  <a:pt x="40015" y="90034"/>
                </a:cubicBezTo>
                <a:cubicBezTo>
                  <a:pt x="40015" y="93360"/>
                  <a:pt x="37339" y="96036"/>
                  <a:pt x="34013" y="96036"/>
                </a:cubicBezTo>
                <a:lnTo>
                  <a:pt x="22008" y="96036"/>
                </a:lnTo>
                <a:cubicBezTo>
                  <a:pt x="18682" y="96036"/>
                  <a:pt x="16006" y="93360"/>
                  <a:pt x="16006" y="90034"/>
                </a:cubicBezTo>
                <a:close/>
                <a:moveTo>
                  <a:pt x="52020" y="90034"/>
                </a:moveTo>
                <a:cubicBezTo>
                  <a:pt x="52020" y="86708"/>
                  <a:pt x="54696" y="84032"/>
                  <a:pt x="58022" y="84032"/>
                </a:cubicBezTo>
                <a:lnTo>
                  <a:pt x="74028" y="84032"/>
                </a:lnTo>
                <a:cubicBezTo>
                  <a:pt x="77354" y="84032"/>
                  <a:pt x="80030" y="86708"/>
                  <a:pt x="80030" y="90034"/>
                </a:cubicBezTo>
                <a:cubicBezTo>
                  <a:pt x="80030" y="93360"/>
                  <a:pt x="77354" y="96036"/>
                  <a:pt x="74028" y="96036"/>
                </a:cubicBezTo>
                <a:lnTo>
                  <a:pt x="58022" y="96036"/>
                </a:lnTo>
                <a:cubicBezTo>
                  <a:pt x="54696" y="96036"/>
                  <a:pt x="52020" y="93360"/>
                  <a:pt x="52020" y="90034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152432" y="4223298"/>
            <a:ext cx="266156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Paiement à l'Usage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52432" y="4415369"/>
            <a:ext cx="3162714" cy="171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Facturation basée sur la consommation réelle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49995" y="4698905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AD46FF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842602" y="4781221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16006" y="8003"/>
                </a:moveTo>
                <a:cubicBezTo>
                  <a:pt x="7178" y="8003"/>
                  <a:pt x="0" y="15181"/>
                  <a:pt x="0" y="24009"/>
                </a:cubicBezTo>
                <a:lnTo>
                  <a:pt x="0" y="40015"/>
                </a:lnTo>
                <a:cubicBezTo>
                  <a:pt x="0" y="48843"/>
                  <a:pt x="7178" y="56021"/>
                  <a:pt x="16006" y="56021"/>
                </a:cubicBezTo>
                <a:lnTo>
                  <a:pt x="96036" y="56021"/>
                </a:lnTo>
                <a:cubicBezTo>
                  <a:pt x="104864" y="56021"/>
                  <a:pt x="112042" y="48843"/>
                  <a:pt x="112042" y="40015"/>
                </a:cubicBezTo>
                <a:lnTo>
                  <a:pt x="112042" y="24009"/>
                </a:lnTo>
                <a:cubicBezTo>
                  <a:pt x="112042" y="15181"/>
                  <a:pt x="104864" y="8003"/>
                  <a:pt x="96036" y="8003"/>
                </a:cubicBezTo>
                <a:lnTo>
                  <a:pt x="16006" y="8003"/>
                </a:lnTo>
                <a:close/>
                <a:moveTo>
                  <a:pt x="70026" y="26010"/>
                </a:moveTo>
                <a:cubicBezTo>
                  <a:pt x="73339" y="26010"/>
                  <a:pt x="76029" y="28699"/>
                  <a:pt x="76029" y="32012"/>
                </a:cubicBezTo>
                <a:cubicBezTo>
                  <a:pt x="76029" y="35325"/>
                  <a:pt x="73339" y="38014"/>
                  <a:pt x="70026" y="38014"/>
                </a:cubicBezTo>
                <a:cubicBezTo>
                  <a:pt x="66714" y="38014"/>
                  <a:pt x="64024" y="35325"/>
                  <a:pt x="64024" y="32012"/>
                </a:cubicBezTo>
                <a:cubicBezTo>
                  <a:pt x="64024" y="28699"/>
                  <a:pt x="66714" y="26010"/>
                  <a:pt x="70026" y="26010"/>
                </a:cubicBezTo>
                <a:close/>
                <a:moveTo>
                  <a:pt x="84032" y="32012"/>
                </a:moveTo>
                <a:cubicBezTo>
                  <a:pt x="84032" y="28699"/>
                  <a:pt x="86721" y="26010"/>
                  <a:pt x="90034" y="26010"/>
                </a:cubicBezTo>
                <a:cubicBezTo>
                  <a:pt x="93346" y="26010"/>
                  <a:pt x="96036" y="28699"/>
                  <a:pt x="96036" y="32012"/>
                </a:cubicBezTo>
                <a:cubicBezTo>
                  <a:pt x="96036" y="35325"/>
                  <a:pt x="93346" y="38014"/>
                  <a:pt x="90034" y="38014"/>
                </a:cubicBezTo>
                <a:cubicBezTo>
                  <a:pt x="86721" y="38014"/>
                  <a:pt x="84032" y="35325"/>
                  <a:pt x="84032" y="32012"/>
                </a:cubicBezTo>
                <a:close/>
                <a:moveTo>
                  <a:pt x="16006" y="72027"/>
                </a:moveTo>
                <a:cubicBezTo>
                  <a:pt x="7178" y="72027"/>
                  <a:pt x="0" y="79205"/>
                  <a:pt x="0" y="88033"/>
                </a:cubicBezTo>
                <a:lnTo>
                  <a:pt x="0" y="104039"/>
                </a:lnTo>
                <a:cubicBezTo>
                  <a:pt x="0" y="112867"/>
                  <a:pt x="7178" y="120045"/>
                  <a:pt x="16006" y="120045"/>
                </a:cubicBezTo>
                <a:lnTo>
                  <a:pt x="96036" y="120045"/>
                </a:lnTo>
                <a:cubicBezTo>
                  <a:pt x="104864" y="120045"/>
                  <a:pt x="112042" y="112867"/>
                  <a:pt x="112042" y="104039"/>
                </a:cubicBezTo>
                <a:lnTo>
                  <a:pt x="112042" y="88033"/>
                </a:lnTo>
                <a:cubicBezTo>
                  <a:pt x="112042" y="79205"/>
                  <a:pt x="104864" y="72027"/>
                  <a:pt x="96036" y="72027"/>
                </a:cubicBezTo>
                <a:lnTo>
                  <a:pt x="16006" y="72027"/>
                </a:lnTo>
                <a:close/>
                <a:moveTo>
                  <a:pt x="70026" y="90034"/>
                </a:moveTo>
                <a:cubicBezTo>
                  <a:pt x="73339" y="90034"/>
                  <a:pt x="76029" y="92723"/>
                  <a:pt x="76029" y="96036"/>
                </a:cubicBezTo>
                <a:cubicBezTo>
                  <a:pt x="76029" y="99349"/>
                  <a:pt x="73339" y="102038"/>
                  <a:pt x="70026" y="102038"/>
                </a:cubicBezTo>
                <a:cubicBezTo>
                  <a:pt x="66714" y="102038"/>
                  <a:pt x="64024" y="99349"/>
                  <a:pt x="64024" y="96036"/>
                </a:cubicBezTo>
                <a:cubicBezTo>
                  <a:pt x="64024" y="92723"/>
                  <a:pt x="66714" y="90034"/>
                  <a:pt x="70026" y="90034"/>
                </a:cubicBezTo>
                <a:close/>
                <a:moveTo>
                  <a:pt x="84032" y="96036"/>
                </a:moveTo>
                <a:cubicBezTo>
                  <a:pt x="84032" y="92723"/>
                  <a:pt x="86721" y="90034"/>
                  <a:pt x="90034" y="90034"/>
                </a:cubicBezTo>
                <a:cubicBezTo>
                  <a:pt x="93346" y="90034"/>
                  <a:pt x="96036" y="92723"/>
                  <a:pt x="96036" y="96036"/>
                </a:cubicBezTo>
                <a:cubicBezTo>
                  <a:pt x="96036" y="99349"/>
                  <a:pt x="93346" y="102038"/>
                  <a:pt x="90034" y="102038"/>
                </a:cubicBezTo>
                <a:cubicBezTo>
                  <a:pt x="86721" y="102038"/>
                  <a:pt x="84032" y="99349"/>
                  <a:pt x="84032" y="96036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152432" y="4698905"/>
            <a:ext cx="214023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Sans Infrastructure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52432" y="4900124"/>
            <a:ext cx="2905860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 de gestion de matériel physique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49995" y="5174512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AD46FF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834599" y="5256828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88008" y="70026"/>
                </a:moveTo>
                <a:lnTo>
                  <a:pt x="40265" y="70026"/>
                </a:lnTo>
                <a:cubicBezTo>
                  <a:pt x="40990" y="86157"/>
                  <a:pt x="44567" y="101013"/>
                  <a:pt x="49644" y="111892"/>
                </a:cubicBezTo>
                <a:cubicBezTo>
                  <a:pt x="52495" y="118019"/>
                  <a:pt x="55571" y="122346"/>
                  <a:pt x="58422" y="124997"/>
                </a:cubicBezTo>
                <a:cubicBezTo>
                  <a:pt x="61223" y="127623"/>
                  <a:pt x="63149" y="128048"/>
                  <a:pt x="64149" y="128048"/>
                </a:cubicBezTo>
                <a:cubicBezTo>
                  <a:pt x="65149" y="128048"/>
                  <a:pt x="67075" y="127623"/>
                  <a:pt x="69876" y="124997"/>
                </a:cubicBezTo>
                <a:cubicBezTo>
                  <a:pt x="72727" y="122346"/>
                  <a:pt x="75803" y="117994"/>
                  <a:pt x="78654" y="111892"/>
                </a:cubicBezTo>
                <a:cubicBezTo>
                  <a:pt x="83731" y="101013"/>
                  <a:pt x="87308" y="86157"/>
                  <a:pt x="88033" y="70026"/>
                </a:cubicBezTo>
                <a:close/>
                <a:moveTo>
                  <a:pt x="40240" y="58022"/>
                </a:moveTo>
                <a:lnTo>
                  <a:pt x="87983" y="58022"/>
                </a:lnTo>
                <a:cubicBezTo>
                  <a:pt x="87283" y="41891"/>
                  <a:pt x="83706" y="27035"/>
                  <a:pt x="78629" y="16156"/>
                </a:cubicBezTo>
                <a:cubicBezTo>
                  <a:pt x="75778" y="10054"/>
                  <a:pt x="72702" y="5702"/>
                  <a:pt x="69851" y="3051"/>
                </a:cubicBezTo>
                <a:cubicBezTo>
                  <a:pt x="67050" y="425"/>
                  <a:pt x="65124" y="0"/>
                  <a:pt x="64124" y="0"/>
                </a:cubicBezTo>
                <a:cubicBezTo>
                  <a:pt x="63124" y="0"/>
                  <a:pt x="61198" y="425"/>
                  <a:pt x="58397" y="3051"/>
                </a:cubicBezTo>
                <a:cubicBezTo>
                  <a:pt x="55546" y="5702"/>
                  <a:pt x="52470" y="10054"/>
                  <a:pt x="49619" y="16156"/>
                </a:cubicBezTo>
                <a:cubicBezTo>
                  <a:pt x="44542" y="27035"/>
                  <a:pt x="40965" y="41891"/>
                  <a:pt x="40240" y="58022"/>
                </a:cubicBezTo>
                <a:close/>
                <a:moveTo>
                  <a:pt x="28236" y="58022"/>
                </a:moveTo>
                <a:cubicBezTo>
                  <a:pt x="29111" y="36614"/>
                  <a:pt x="34638" y="16731"/>
                  <a:pt x="42716" y="3676"/>
                </a:cubicBezTo>
                <a:cubicBezTo>
                  <a:pt x="19682" y="11829"/>
                  <a:pt x="2726" y="32812"/>
                  <a:pt x="375" y="58022"/>
                </a:cubicBezTo>
                <a:lnTo>
                  <a:pt x="28236" y="58022"/>
                </a:lnTo>
                <a:close/>
                <a:moveTo>
                  <a:pt x="375" y="70026"/>
                </a:moveTo>
                <a:cubicBezTo>
                  <a:pt x="2726" y="95236"/>
                  <a:pt x="19682" y="116219"/>
                  <a:pt x="42716" y="124372"/>
                </a:cubicBezTo>
                <a:cubicBezTo>
                  <a:pt x="34638" y="111317"/>
                  <a:pt x="29111" y="91434"/>
                  <a:pt x="28236" y="70026"/>
                </a:cubicBezTo>
                <a:lnTo>
                  <a:pt x="375" y="70026"/>
                </a:lnTo>
                <a:close/>
                <a:moveTo>
                  <a:pt x="100012" y="70026"/>
                </a:moveTo>
                <a:cubicBezTo>
                  <a:pt x="99137" y="91434"/>
                  <a:pt x="93610" y="111317"/>
                  <a:pt x="85532" y="124372"/>
                </a:cubicBezTo>
                <a:cubicBezTo>
                  <a:pt x="108566" y="116194"/>
                  <a:pt x="125522" y="95236"/>
                  <a:pt x="127873" y="70026"/>
                </a:cubicBezTo>
                <a:lnTo>
                  <a:pt x="100012" y="70026"/>
                </a:lnTo>
                <a:close/>
                <a:moveTo>
                  <a:pt x="127873" y="58022"/>
                </a:moveTo>
                <a:cubicBezTo>
                  <a:pt x="125522" y="32812"/>
                  <a:pt x="108566" y="11829"/>
                  <a:pt x="85532" y="3676"/>
                </a:cubicBezTo>
                <a:cubicBezTo>
                  <a:pt x="93610" y="16731"/>
                  <a:pt x="99137" y="36614"/>
                  <a:pt x="100012" y="58022"/>
                </a:cubicBezTo>
                <a:lnTo>
                  <a:pt x="127873" y="58022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1152432" y="5174512"/>
            <a:ext cx="191157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Accès Global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52431" y="5394023"/>
            <a:ext cx="266156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Disponibilité depuis n'importe où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11758" y="1321638"/>
            <a:ext cx="5615820" cy="5131067"/>
          </a:xfrm>
          <a:custGeom>
            <a:avLst/>
            <a:gdLst/>
            <a:ahLst/>
            <a:cxnLst/>
            <a:rect l="l" t="t" r="r" b="b"/>
            <a:pathLst>
              <a:path w="5615820" h="5131067">
                <a:moveTo>
                  <a:pt x="146338" y="0"/>
                </a:moveTo>
                <a:lnTo>
                  <a:pt x="5469482" y="0"/>
                </a:lnTo>
                <a:cubicBezTo>
                  <a:pt x="5550302" y="0"/>
                  <a:pt x="5615820" y="65518"/>
                  <a:pt x="5615820" y="146338"/>
                </a:cubicBezTo>
                <a:lnTo>
                  <a:pt x="5615820" y="4984729"/>
                </a:lnTo>
                <a:cubicBezTo>
                  <a:pt x="5615820" y="5065549"/>
                  <a:pt x="5550302" y="5131067"/>
                  <a:pt x="5469482" y="5131067"/>
                </a:cubicBezTo>
                <a:lnTo>
                  <a:pt x="146338" y="5131067"/>
                </a:lnTo>
                <a:cubicBezTo>
                  <a:pt x="65518" y="5131067"/>
                  <a:pt x="0" y="5065549"/>
                  <a:pt x="0" y="4984729"/>
                </a:cubicBezTo>
                <a:lnTo>
                  <a:pt x="0" y="146338"/>
                </a:lnTo>
                <a:cubicBezTo>
                  <a:pt x="0" y="65572"/>
                  <a:pt x="65572" y="0"/>
                  <a:pt x="146338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6444988" y="1545722"/>
            <a:ext cx="137194" cy="182926"/>
          </a:xfrm>
          <a:custGeom>
            <a:avLst/>
            <a:gdLst/>
            <a:ahLst/>
            <a:cxnLst/>
            <a:rect l="l" t="t" r="r" b="b"/>
            <a:pathLst>
              <a:path w="137194" h="182926">
                <a:moveTo>
                  <a:pt x="22866" y="0"/>
                </a:moveTo>
                <a:cubicBezTo>
                  <a:pt x="10254" y="0"/>
                  <a:pt x="0" y="10254"/>
                  <a:pt x="0" y="22866"/>
                </a:cubicBezTo>
                <a:lnTo>
                  <a:pt x="0" y="160060"/>
                </a:lnTo>
                <a:cubicBezTo>
                  <a:pt x="0" y="172672"/>
                  <a:pt x="10254" y="182926"/>
                  <a:pt x="22866" y="182926"/>
                </a:cubicBezTo>
                <a:lnTo>
                  <a:pt x="114329" y="182926"/>
                </a:lnTo>
                <a:cubicBezTo>
                  <a:pt x="126940" y="182926"/>
                  <a:pt x="137194" y="172672"/>
                  <a:pt x="137194" y="160060"/>
                </a:cubicBezTo>
                <a:lnTo>
                  <a:pt x="137194" y="22866"/>
                </a:lnTo>
                <a:cubicBezTo>
                  <a:pt x="137194" y="10254"/>
                  <a:pt x="126940" y="0"/>
                  <a:pt x="114329" y="0"/>
                </a:cubicBezTo>
                <a:lnTo>
                  <a:pt x="22866" y="0"/>
                </a:lnTo>
                <a:close/>
                <a:moveTo>
                  <a:pt x="62881" y="125761"/>
                </a:moveTo>
                <a:lnTo>
                  <a:pt x="74314" y="125761"/>
                </a:lnTo>
                <a:cubicBezTo>
                  <a:pt x="80637" y="125761"/>
                  <a:pt x="85746" y="130870"/>
                  <a:pt x="85746" y="137194"/>
                </a:cubicBezTo>
                <a:lnTo>
                  <a:pt x="85746" y="165776"/>
                </a:lnTo>
                <a:lnTo>
                  <a:pt x="51448" y="165776"/>
                </a:lnTo>
                <a:lnTo>
                  <a:pt x="51448" y="137194"/>
                </a:lnTo>
                <a:cubicBezTo>
                  <a:pt x="51448" y="130870"/>
                  <a:pt x="56557" y="125761"/>
                  <a:pt x="62881" y="125761"/>
                </a:cubicBezTo>
                <a:close/>
                <a:moveTo>
                  <a:pt x="34299" y="40015"/>
                </a:moveTo>
                <a:cubicBezTo>
                  <a:pt x="34299" y="36871"/>
                  <a:pt x="36871" y="34299"/>
                  <a:pt x="40015" y="34299"/>
                </a:cubicBezTo>
                <a:lnTo>
                  <a:pt x="51448" y="34299"/>
                </a:lnTo>
                <a:cubicBezTo>
                  <a:pt x="54592" y="34299"/>
                  <a:pt x="57164" y="36871"/>
                  <a:pt x="57164" y="40015"/>
                </a:cubicBezTo>
                <a:lnTo>
                  <a:pt x="57164" y="51448"/>
                </a:lnTo>
                <a:cubicBezTo>
                  <a:pt x="57164" y="54592"/>
                  <a:pt x="54592" y="57164"/>
                  <a:pt x="51448" y="57164"/>
                </a:cubicBezTo>
                <a:lnTo>
                  <a:pt x="40015" y="57164"/>
                </a:lnTo>
                <a:cubicBezTo>
                  <a:pt x="36871" y="57164"/>
                  <a:pt x="34299" y="54592"/>
                  <a:pt x="34299" y="51448"/>
                </a:cubicBezTo>
                <a:lnTo>
                  <a:pt x="34299" y="40015"/>
                </a:lnTo>
                <a:close/>
                <a:moveTo>
                  <a:pt x="85746" y="34299"/>
                </a:moveTo>
                <a:lnTo>
                  <a:pt x="97179" y="34299"/>
                </a:lnTo>
                <a:cubicBezTo>
                  <a:pt x="100323" y="34299"/>
                  <a:pt x="102896" y="36871"/>
                  <a:pt x="102896" y="40015"/>
                </a:cubicBezTo>
                <a:lnTo>
                  <a:pt x="102896" y="51448"/>
                </a:lnTo>
                <a:cubicBezTo>
                  <a:pt x="102896" y="54592"/>
                  <a:pt x="100323" y="57164"/>
                  <a:pt x="97179" y="57164"/>
                </a:cubicBezTo>
                <a:lnTo>
                  <a:pt x="85746" y="57164"/>
                </a:lnTo>
                <a:cubicBezTo>
                  <a:pt x="82602" y="57164"/>
                  <a:pt x="80030" y="54592"/>
                  <a:pt x="80030" y="51448"/>
                </a:cubicBezTo>
                <a:lnTo>
                  <a:pt x="80030" y="40015"/>
                </a:lnTo>
                <a:cubicBezTo>
                  <a:pt x="80030" y="36871"/>
                  <a:pt x="82602" y="34299"/>
                  <a:pt x="85746" y="34299"/>
                </a:cubicBezTo>
                <a:close/>
                <a:moveTo>
                  <a:pt x="34299" y="85746"/>
                </a:moveTo>
                <a:cubicBezTo>
                  <a:pt x="34299" y="82602"/>
                  <a:pt x="36871" y="80030"/>
                  <a:pt x="40015" y="80030"/>
                </a:cubicBezTo>
                <a:lnTo>
                  <a:pt x="51448" y="80030"/>
                </a:lnTo>
                <a:cubicBezTo>
                  <a:pt x="54592" y="80030"/>
                  <a:pt x="57164" y="82602"/>
                  <a:pt x="57164" y="85746"/>
                </a:cubicBezTo>
                <a:lnTo>
                  <a:pt x="57164" y="97179"/>
                </a:lnTo>
                <a:cubicBezTo>
                  <a:pt x="57164" y="100323"/>
                  <a:pt x="54592" y="102896"/>
                  <a:pt x="51448" y="102896"/>
                </a:cubicBezTo>
                <a:lnTo>
                  <a:pt x="40015" y="102896"/>
                </a:lnTo>
                <a:cubicBezTo>
                  <a:pt x="36871" y="102896"/>
                  <a:pt x="34299" y="100323"/>
                  <a:pt x="34299" y="97179"/>
                </a:cubicBezTo>
                <a:lnTo>
                  <a:pt x="34299" y="85746"/>
                </a:lnTo>
                <a:close/>
                <a:moveTo>
                  <a:pt x="85746" y="80030"/>
                </a:moveTo>
                <a:lnTo>
                  <a:pt x="97179" y="80030"/>
                </a:lnTo>
                <a:cubicBezTo>
                  <a:pt x="100323" y="80030"/>
                  <a:pt x="102896" y="82602"/>
                  <a:pt x="102896" y="85746"/>
                </a:cubicBezTo>
                <a:lnTo>
                  <a:pt x="102896" y="97179"/>
                </a:lnTo>
                <a:cubicBezTo>
                  <a:pt x="102896" y="100323"/>
                  <a:pt x="100323" y="102896"/>
                  <a:pt x="97179" y="102896"/>
                </a:cubicBezTo>
                <a:lnTo>
                  <a:pt x="85746" y="102896"/>
                </a:lnTo>
                <a:cubicBezTo>
                  <a:pt x="82602" y="102896"/>
                  <a:pt x="80030" y="100323"/>
                  <a:pt x="80030" y="97179"/>
                </a:cubicBezTo>
                <a:lnTo>
                  <a:pt x="80030" y="85746"/>
                </a:lnTo>
                <a:cubicBezTo>
                  <a:pt x="80030" y="82602"/>
                  <a:pt x="82602" y="80030"/>
                  <a:pt x="85746" y="8003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627914" y="1509137"/>
            <a:ext cx="510362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Principaux Fournisseurs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03830" y="1916147"/>
            <a:ext cx="5231676" cy="996945"/>
          </a:xfrm>
          <a:custGeom>
            <a:avLst/>
            <a:gdLst/>
            <a:ahLst/>
            <a:cxnLst/>
            <a:rect l="l" t="t" r="r" b="b"/>
            <a:pathLst>
              <a:path w="5231676" h="996945">
                <a:moveTo>
                  <a:pt x="109754" y="0"/>
                </a:moveTo>
                <a:lnTo>
                  <a:pt x="5121922" y="0"/>
                </a:lnTo>
                <a:cubicBezTo>
                  <a:pt x="5182538" y="0"/>
                  <a:pt x="5231676" y="49138"/>
                  <a:pt x="5231676" y="109754"/>
                </a:cubicBezTo>
                <a:lnTo>
                  <a:pt x="5231676" y="887192"/>
                </a:lnTo>
                <a:cubicBezTo>
                  <a:pt x="5231676" y="947807"/>
                  <a:pt x="5182538" y="996945"/>
                  <a:pt x="5121922" y="996945"/>
                </a:cubicBezTo>
                <a:lnTo>
                  <a:pt x="109754" y="996945"/>
                </a:lnTo>
                <a:cubicBezTo>
                  <a:pt x="49138" y="996945"/>
                  <a:pt x="0" y="947807"/>
                  <a:pt x="0" y="887192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>
                  <a:alpha val="20000"/>
                </a:srgbClr>
              </a:gs>
              <a:gs pos="100000">
                <a:srgbClr val="F54900">
                  <a:alpha val="20000"/>
                </a:srgbClr>
              </a:gs>
            </a:gsLst>
            <a:lin ang="0" scaled="1"/>
          </a:gradFill>
          <a:ln w="12700">
            <a:solidFill>
              <a:srgbClr val="FF6900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6554743" y="2103646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FF6900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6623341" y="2195109"/>
            <a:ext cx="228657" cy="182926"/>
          </a:xfrm>
          <a:custGeom>
            <a:avLst/>
            <a:gdLst/>
            <a:ahLst/>
            <a:cxnLst/>
            <a:rect l="l" t="t" r="r" b="b"/>
            <a:pathLst>
              <a:path w="228657" h="182926">
                <a:moveTo>
                  <a:pt x="64453" y="72527"/>
                </a:moveTo>
                <a:cubicBezTo>
                  <a:pt x="64203" y="80602"/>
                  <a:pt x="68240" y="84210"/>
                  <a:pt x="68347" y="86461"/>
                </a:cubicBezTo>
                <a:cubicBezTo>
                  <a:pt x="68311" y="86925"/>
                  <a:pt x="68133" y="87354"/>
                  <a:pt x="67883" y="87747"/>
                </a:cubicBezTo>
                <a:cubicBezTo>
                  <a:pt x="67633" y="88140"/>
                  <a:pt x="67275" y="88462"/>
                  <a:pt x="66882" y="88676"/>
                </a:cubicBezTo>
                <a:lnTo>
                  <a:pt x="62309" y="91892"/>
                </a:lnTo>
                <a:cubicBezTo>
                  <a:pt x="61702" y="92320"/>
                  <a:pt x="61023" y="92535"/>
                  <a:pt x="60308" y="92570"/>
                </a:cubicBezTo>
                <a:cubicBezTo>
                  <a:pt x="60165" y="92570"/>
                  <a:pt x="57379" y="93214"/>
                  <a:pt x="52984" y="83424"/>
                </a:cubicBezTo>
                <a:cubicBezTo>
                  <a:pt x="50305" y="86783"/>
                  <a:pt x="46910" y="89462"/>
                  <a:pt x="43016" y="91284"/>
                </a:cubicBezTo>
                <a:cubicBezTo>
                  <a:pt x="39122" y="93106"/>
                  <a:pt x="34906" y="94035"/>
                  <a:pt x="30619" y="93964"/>
                </a:cubicBezTo>
                <a:cubicBezTo>
                  <a:pt x="24795" y="94285"/>
                  <a:pt x="9039" y="90677"/>
                  <a:pt x="9861" y="73885"/>
                </a:cubicBezTo>
                <a:cubicBezTo>
                  <a:pt x="9289" y="60201"/>
                  <a:pt x="22044" y="51698"/>
                  <a:pt x="35192" y="52448"/>
                </a:cubicBezTo>
                <a:cubicBezTo>
                  <a:pt x="37728" y="52448"/>
                  <a:pt x="42909" y="52591"/>
                  <a:pt x="51984" y="54699"/>
                </a:cubicBezTo>
                <a:lnTo>
                  <a:pt x="51984" y="49126"/>
                </a:lnTo>
                <a:cubicBezTo>
                  <a:pt x="52948" y="39658"/>
                  <a:pt x="46732" y="32334"/>
                  <a:pt x="35978" y="33441"/>
                </a:cubicBezTo>
                <a:cubicBezTo>
                  <a:pt x="35120" y="33441"/>
                  <a:pt x="29047" y="33262"/>
                  <a:pt x="19614" y="37050"/>
                </a:cubicBezTo>
                <a:cubicBezTo>
                  <a:pt x="16971" y="38264"/>
                  <a:pt x="16649" y="38050"/>
                  <a:pt x="15756" y="38050"/>
                </a:cubicBezTo>
                <a:cubicBezTo>
                  <a:pt x="13112" y="38050"/>
                  <a:pt x="14184" y="30369"/>
                  <a:pt x="14720" y="29404"/>
                </a:cubicBezTo>
                <a:cubicBezTo>
                  <a:pt x="16578" y="27117"/>
                  <a:pt x="27546" y="22830"/>
                  <a:pt x="38264" y="22901"/>
                </a:cubicBezTo>
                <a:cubicBezTo>
                  <a:pt x="45446" y="22258"/>
                  <a:pt x="52591" y="24473"/>
                  <a:pt x="58165" y="29082"/>
                </a:cubicBezTo>
                <a:cubicBezTo>
                  <a:pt x="60416" y="31619"/>
                  <a:pt x="62166" y="34584"/>
                  <a:pt x="63238" y="37800"/>
                </a:cubicBezTo>
                <a:cubicBezTo>
                  <a:pt x="64310" y="41015"/>
                  <a:pt x="64739" y="44410"/>
                  <a:pt x="64488" y="47804"/>
                </a:cubicBezTo>
                <a:lnTo>
                  <a:pt x="64488" y="72563"/>
                </a:lnTo>
                <a:close/>
                <a:moveTo>
                  <a:pt x="33584" y="84103"/>
                </a:moveTo>
                <a:cubicBezTo>
                  <a:pt x="45160" y="83924"/>
                  <a:pt x="50090" y="76957"/>
                  <a:pt x="51198" y="73206"/>
                </a:cubicBezTo>
                <a:cubicBezTo>
                  <a:pt x="52091" y="69598"/>
                  <a:pt x="51948" y="67347"/>
                  <a:pt x="51948" y="63417"/>
                </a:cubicBezTo>
                <a:cubicBezTo>
                  <a:pt x="48482" y="62595"/>
                  <a:pt x="43516" y="61666"/>
                  <a:pt x="37800" y="61666"/>
                </a:cubicBezTo>
                <a:cubicBezTo>
                  <a:pt x="32369" y="61273"/>
                  <a:pt x="22508" y="63667"/>
                  <a:pt x="22901" y="73206"/>
                </a:cubicBezTo>
                <a:cubicBezTo>
                  <a:pt x="22473" y="79208"/>
                  <a:pt x="26867" y="84425"/>
                  <a:pt x="33620" y="84103"/>
                </a:cubicBezTo>
                <a:close/>
                <a:moveTo>
                  <a:pt x="94643" y="92356"/>
                </a:moveTo>
                <a:cubicBezTo>
                  <a:pt x="91820" y="92606"/>
                  <a:pt x="90534" y="90605"/>
                  <a:pt x="90105" y="88640"/>
                </a:cubicBezTo>
                <a:lnTo>
                  <a:pt x="72313" y="29797"/>
                </a:lnTo>
                <a:cubicBezTo>
                  <a:pt x="71956" y="28797"/>
                  <a:pt x="71741" y="27796"/>
                  <a:pt x="71634" y="26724"/>
                </a:cubicBezTo>
                <a:cubicBezTo>
                  <a:pt x="71563" y="26296"/>
                  <a:pt x="71670" y="25867"/>
                  <a:pt x="71920" y="25510"/>
                </a:cubicBezTo>
                <a:cubicBezTo>
                  <a:pt x="72170" y="25152"/>
                  <a:pt x="72563" y="24938"/>
                  <a:pt x="72992" y="24866"/>
                </a:cubicBezTo>
                <a:cubicBezTo>
                  <a:pt x="73063" y="24866"/>
                  <a:pt x="72241" y="24866"/>
                  <a:pt x="80923" y="24866"/>
                </a:cubicBezTo>
                <a:cubicBezTo>
                  <a:pt x="84067" y="24545"/>
                  <a:pt x="85068" y="27010"/>
                  <a:pt x="85425" y="28582"/>
                </a:cubicBezTo>
                <a:lnTo>
                  <a:pt x="98215" y="78887"/>
                </a:lnTo>
                <a:lnTo>
                  <a:pt x="110077" y="28582"/>
                </a:lnTo>
                <a:cubicBezTo>
                  <a:pt x="110256" y="27439"/>
                  <a:pt x="111113" y="24616"/>
                  <a:pt x="114650" y="24938"/>
                </a:cubicBezTo>
                <a:lnTo>
                  <a:pt x="120795" y="24938"/>
                </a:lnTo>
                <a:cubicBezTo>
                  <a:pt x="121581" y="24866"/>
                  <a:pt x="124761" y="24759"/>
                  <a:pt x="125333" y="28654"/>
                </a:cubicBezTo>
                <a:lnTo>
                  <a:pt x="137230" y="79566"/>
                </a:lnTo>
                <a:lnTo>
                  <a:pt x="150414" y="28618"/>
                </a:lnTo>
                <a:cubicBezTo>
                  <a:pt x="150592" y="27832"/>
                  <a:pt x="151378" y="24545"/>
                  <a:pt x="154951" y="24902"/>
                </a:cubicBezTo>
                <a:lnTo>
                  <a:pt x="161989" y="24902"/>
                </a:lnTo>
                <a:cubicBezTo>
                  <a:pt x="162311" y="24866"/>
                  <a:pt x="164204" y="24616"/>
                  <a:pt x="163883" y="27975"/>
                </a:cubicBezTo>
                <a:cubicBezTo>
                  <a:pt x="163740" y="28618"/>
                  <a:pt x="165098" y="24152"/>
                  <a:pt x="145019" y="88676"/>
                </a:cubicBezTo>
                <a:cubicBezTo>
                  <a:pt x="144626" y="90641"/>
                  <a:pt x="143304" y="92642"/>
                  <a:pt x="140481" y="92392"/>
                </a:cubicBezTo>
                <a:lnTo>
                  <a:pt x="133800" y="92392"/>
                </a:lnTo>
                <a:cubicBezTo>
                  <a:pt x="129906" y="92821"/>
                  <a:pt x="129334" y="88926"/>
                  <a:pt x="129263" y="88569"/>
                </a:cubicBezTo>
                <a:lnTo>
                  <a:pt x="117401" y="39586"/>
                </a:lnTo>
                <a:lnTo>
                  <a:pt x="105682" y="88533"/>
                </a:lnTo>
                <a:cubicBezTo>
                  <a:pt x="105611" y="88926"/>
                  <a:pt x="105075" y="92785"/>
                  <a:pt x="101145" y="92356"/>
                </a:cubicBezTo>
                <a:lnTo>
                  <a:pt x="94607" y="92356"/>
                </a:lnTo>
                <a:lnTo>
                  <a:pt x="94607" y="92356"/>
                </a:lnTo>
                <a:close/>
                <a:moveTo>
                  <a:pt x="192358" y="94357"/>
                </a:moveTo>
                <a:cubicBezTo>
                  <a:pt x="190250" y="94357"/>
                  <a:pt x="180246" y="94250"/>
                  <a:pt x="171850" y="89962"/>
                </a:cubicBezTo>
                <a:cubicBezTo>
                  <a:pt x="171028" y="89605"/>
                  <a:pt x="170314" y="89033"/>
                  <a:pt x="169814" y="88247"/>
                </a:cubicBezTo>
                <a:cubicBezTo>
                  <a:pt x="169313" y="87461"/>
                  <a:pt x="169063" y="86604"/>
                  <a:pt x="169063" y="85711"/>
                </a:cubicBezTo>
                <a:lnTo>
                  <a:pt x="169063" y="81888"/>
                </a:lnTo>
                <a:cubicBezTo>
                  <a:pt x="169063" y="78851"/>
                  <a:pt x="171279" y="79423"/>
                  <a:pt x="172207" y="79780"/>
                </a:cubicBezTo>
                <a:cubicBezTo>
                  <a:pt x="175780" y="81245"/>
                  <a:pt x="178102" y="82317"/>
                  <a:pt x="182497" y="83210"/>
                </a:cubicBezTo>
                <a:cubicBezTo>
                  <a:pt x="195609" y="85889"/>
                  <a:pt x="201361" y="82388"/>
                  <a:pt x="202755" y="81602"/>
                </a:cubicBezTo>
                <a:cubicBezTo>
                  <a:pt x="207471" y="78815"/>
                  <a:pt x="207828" y="72420"/>
                  <a:pt x="204648" y="69133"/>
                </a:cubicBezTo>
                <a:cubicBezTo>
                  <a:pt x="200897" y="65989"/>
                  <a:pt x="199110" y="65882"/>
                  <a:pt x="185677" y="61630"/>
                </a:cubicBezTo>
                <a:cubicBezTo>
                  <a:pt x="184033" y="61166"/>
                  <a:pt x="170064" y="56771"/>
                  <a:pt x="170028" y="42909"/>
                </a:cubicBezTo>
                <a:cubicBezTo>
                  <a:pt x="169814" y="32834"/>
                  <a:pt x="178960" y="22830"/>
                  <a:pt x="194859" y="22901"/>
                </a:cubicBezTo>
                <a:cubicBezTo>
                  <a:pt x="199396" y="22901"/>
                  <a:pt x="211436" y="24366"/>
                  <a:pt x="214723" y="28475"/>
                </a:cubicBezTo>
                <a:cubicBezTo>
                  <a:pt x="215224" y="29225"/>
                  <a:pt x="215438" y="30118"/>
                  <a:pt x="215402" y="30976"/>
                </a:cubicBezTo>
                <a:lnTo>
                  <a:pt x="215402" y="34584"/>
                </a:lnTo>
                <a:cubicBezTo>
                  <a:pt x="215402" y="36156"/>
                  <a:pt x="214831" y="36978"/>
                  <a:pt x="213652" y="36978"/>
                </a:cubicBezTo>
                <a:cubicBezTo>
                  <a:pt x="210901" y="36657"/>
                  <a:pt x="206006" y="32977"/>
                  <a:pt x="196074" y="33120"/>
                </a:cubicBezTo>
                <a:cubicBezTo>
                  <a:pt x="193608" y="32977"/>
                  <a:pt x="181818" y="33441"/>
                  <a:pt x="182354" y="42051"/>
                </a:cubicBezTo>
                <a:cubicBezTo>
                  <a:pt x="182211" y="48840"/>
                  <a:pt x="191858" y="51376"/>
                  <a:pt x="192965" y="51662"/>
                </a:cubicBezTo>
                <a:cubicBezTo>
                  <a:pt x="206006" y="55592"/>
                  <a:pt x="210329" y="56235"/>
                  <a:pt x="215509" y="62238"/>
                </a:cubicBezTo>
                <a:cubicBezTo>
                  <a:pt x="221619" y="70169"/>
                  <a:pt x="218332" y="79494"/>
                  <a:pt x="217046" y="82031"/>
                </a:cubicBezTo>
                <a:cubicBezTo>
                  <a:pt x="210222" y="95429"/>
                  <a:pt x="192608" y="94321"/>
                  <a:pt x="192286" y="94321"/>
                </a:cubicBezTo>
                <a:close/>
                <a:moveTo>
                  <a:pt x="206720" y="131835"/>
                </a:moveTo>
                <a:cubicBezTo>
                  <a:pt x="181711" y="150306"/>
                  <a:pt x="145376" y="160131"/>
                  <a:pt x="114364" y="160131"/>
                </a:cubicBezTo>
                <a:cubicBezTo>
                  <a:pt x="72527" y="160417"/>
                  <a:pt x="32083" y="145019"/>
                  <a:pt x="1000" y="117008"/>
                </a:cubicBezTo>
                <a:cubicBezTo>
                  <a:pt x="-1322" y="114900"/>
                  <a:pt x="715" y="112006"/>
                  <a:pt x="3573" y="113614"/>
                </a:cubicBezTo>
                <a:cubicBezTo>
                  <a:pt x="38050" y="133336"/>
                  <a:pt x="77065" y="143697"/>
                  <a:pt x="116794" y="143661"/>
                </a:cubicBezTo>
                <a:cubicBezTo>
                  <a:pt x="146448" y="143518"/>
                  <a:pt x="175780" y="137480"/>
                  <a:pt x="203112" y="125976"/>
                </a:cubicBezTo>
                <a:cubicBezTo>
                  <a:pt x="207328" y="124189"/>
                  <a:pt x="210901" y="128763"/>
                  <a:pt x="206720" y="131835"/>
                </a:cubicBezTo>
                <a:close/>
                <a:moveTo>
                  <a:pt x="217153" y="119938"/>
                </a:moveTo>
                <a:cubicBezTo>
                  <a:pt x="213937" y="115829"/>
                  <a:pt x="195966" y="118009"/>
                  <a:pt x="187928" y="118973"/>
                </a:cubicBezTo>
                <a:cubicBezTo>
                  <a:pt x="185498" y="119259"/>
                  <a:pt x="185105" y="117151"/>
                  <a:pt x="187285" y="115579"/>
                </a:cubicBezTo>
                <a:cubicBezTo>
                  <a:pt x="201611" y="105504"/>
                  <a:pt x="225120" y="108398"/>
                  <a:pt x="227800" y="111792"/>
                </a:cubicBezTo>
                <a:cubicBezTo>
                  <a:pt x="230479" y="115186"/>
                  <a:pt x="227049" y="138731"/>
                  <a:pt x="213652" y="149985"/>
                </a:cubicBezTo>
                <a:cubicBezTo>
                  <a:pt x="211579" y="151735"/>
                  <a:pt x="209614" y="150807"/>
                  <a:pt x="210543" y="148520"/>
                </a:cubicBezTo>
                <a:cubicBezTo>
                  <a:pt x="213544" y="140910"/>
                  <a:pt x="220333" y="124047"/>
                  <a:pt x="217117" y="1199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7030350" y="2067061"/>
            <a:ext cx="1426821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Amazon Redshift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030350" y="2323157"/>
            <a:ext cx="1408528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FB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54743" y="2579253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 entièrement managé sur AWS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03830" y="3031994"/>
            <a:ext cx="5231676" cy="996945"/>
          </a:xfrm>
          <a:custGeom>
            <a:avLst/>
            <a:gdLst/>
            <a:ahLst/>
            <a:cxnLst/>
            <a:rect l="l" t="t" r="r" b="b"/>
            <a:pathLst>
              <a:path w="5231676" h="996945">
                <a:moveTo>
                  <a:pt x="109754" y="0"/>
                </a:moveTo>
                <a:lnTo>
                  <a:pt x="5121922" y="0"/>
                </a:lnTo>
                <a:cubicBezTo>
                  <a:pt x="5182538" y="0"/>
                  <a:pt x="5231676" y="49138"/>
                  <a:pt x="5231676" y="109754"/>
                </a:cubicBezTo>
                <a:lnTo>
                  <a:pt x="5231676" y="887192"/>
                </a:lnTo>
                <a:cubicBezTo>
                  <a:pt x="5231676" y="947807"/>
                  <a:pt x="5182538" y="996945"/>
                  <a:pt x="5121922" y="996945"/>
                </a:cubicBezTo>
                <a:lnTo>
                  <a:pt x="109754" y="996945"/>
                </a:lnTo>
                <a:cubicBezTo>
                  <a:pt x="49138" y="996945"/>
                  <a:pt x="0" y="947807"/>
                  <a:pt x="0" y="887192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>
                  <a:alpha val="20000"/>
                </a:srgbClr>
              </a:gs>
              <a:gs pos="100000">
                <a:srgbClr val="00B8DB">
                  <a:alpha val="20000"/>
                </a:srgbClr>
              </a:gs>
            </a:gsLst>
            <a:lin ang="0" scaled="1"/>
          </a:gradFill>
          <a:ln w="12700">
            <a:solidFill>
              <a:srgbClr val="2B7F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6554743" y="3219493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2B7FFF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1"/>
          <p:cNvSpPr/>
          <p:nvPr/>
        </p:nvSpPr>
        <p:spPr>
          <a:xfrm>
            <a:off x="6634773" y="3310956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0" y="120045"/>
                </a:moveTo>
                <a:cubicBezTo>
                  <a:pt x="0" y="148449"/>
                  <a:pt x="23044" y="171493"/>
                  <a:pt x="51448" y="171493"/>
                </a:cubicBezTo>
                <a:lnTo>
                  <a:pt x="160060" y="171493"/>
                </a:lnTo>
                <a:cubicBezTo>
                  <a:pt x="185319" y="171493"/>
                  <a:pt x="205791" y="151021"/>
                  <a:pt x="205791" y="125761"/>
                </a:cubicBezTo>
                <a:cubicBezTo>
                  <a:pt x="205791" y="107326"/>
                  <a:pt x="194895" y="91427"/>
                  <a:pt x="179174" y="84210"/>
                </a:cubicBezTo>
                <a:cubicBezTo>
                  <a:pt x="181568" y="79530"/>
                  <a:pt x="182926" y="74206"/>
                  <a:pt x="182926" y="68597"/>
                </a:cubicBezTo>
                <a:cubicBezTo>
                  <a:pt x="182926" y="49661"/>
                  <a:pt x="167563" y="34299"/>
                  <a:pt x="148627" y="34299"/>
                </a:cubicBezTo>
                <a:cubicBezTo>
                  <a:pt x="142303" y="34299"/>
                  <a:pt x="136408" y="36014"/>
                  <a:pt x="131335" y="38979"/>
                </a:cubicBezTo>
                <a:cubicBezTo>
                  <a:pt x="122725" y="22616"/>
                  <a:pt x="105540" y="11433"/>
                  <a:pt x="85746" y="11433"/>
                </a:cubicBezTo>
                <a:cubicBezTo>
                  <a:pt x="57343" y="11433"/>
                  <a:pt x="34299" y="34477"/>
                  <a:pt x="34299" y="62881"/>
                </a:cubicBezTo>
                <a:cubicBezTo>
                  <a:pt x="34299" y="65739"/>
                  <a:pt x="34549" y="68561"/>
                  <a:pt x="34977" y="71277"/>
                </a:cubicBezTo>
                <a:cubicBezTo>
                  <a:pt x="14648" y="78136"/>
                  <a:pt x="0" y="97394"/>
                  <a:pt x="0" y="12004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7030350" y="3182908"/>
            <a:ext cx="1435967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BigQuery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030350" y="3439004"/>
            <a:ext cx="141767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C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Cloud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554743" y="3695100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 serverless sans serveur à gérer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03830" y="4147841"/>
            <a:ext cx="5231676" cy="996945"/>
          </a:xfrm>
          <a:custGeom>
            <a:avLst/>
            <a:gdLst/>
            <a:ahLst/>
            <a:cxnLst/>
            <a:rect l="l" t="t" r="r" b="b"/>
            <a:pathLst>
              <a:path w="5231676" h="996945">
                <a:moveTo>
                  <a:pt x="109754" y="0"/>
                </a:moveTo>
                <a:lnTo>
                  <a:pt x="5121922" y="0"/>
                </a:lnTo>
                <a:cubicBezTo>
                  <a:pt x="5182538" y="0"/>
                  <a:pt x="5231676" y="49138"/>
                  <a:pt x="5231676" y="109754"/>
                </a:cubicBezTo>
                <a:lnTo>
                  <a:pt x="5231676" y="887192"/>
                </a:lnTo>
                <a:cubicBezTo>
                  <a:pt x="5231676" y="947807"/>
                  <a:pt x="5182538" y="996945"/>
                  <a:pt x="5121922" y="996945"/>
                </a:cubicBezTo>
                <a:lnTo>
                  <a:pt x="109754" y="996945"/>
                </a:lnTo>
                <a:cubicBezTo>
                  <a:pt x="49138" y="996945"/>
                  <a:pt x="0" y="947807"/>
                  <a:pt x="0" y="887192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gradFill flip="none" rotWithShape="1">
            <a:gsLst>
              <a:gs pos="0">
                <a:srgbClr val="155DFC">
                  <a:alpha val="20000"/>
                </a:srgbClr>
              </a:gs>
              <a:gs pos="100000">
                <a:srgbClr val="615FFF">
                  <a:alpha val="20000"/>
                </a:srgbClr>
              </a:gs>
            </a:gsLst>
            <a:lin ang="0" scaled="1"/>
          </a:gradFill>
          <a:ln w="12700">
            <a:solidFill>
              <a:srgbClr val="155DFC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6"/>
          <p:cNvSpPr/>
          <p:nvPr/>
        </p:nvSpPr>
        <p:spPr>
          <a:xfrm>
            <a:off x="6554743" y="4335340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55DFC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7"/>
          <p:cNvSpPr/>
          <p:nvPr/>
        </p:nvSpPr>
        <p:spPr>
          <a:xfrm>
            <a:off x="6657639" y="4426803"/>
            <a:ext cx="160060" cy="182926"/>
          </a:xfrm>
          <a:custGeom>
            <a:avLst/>
            <a:gdLst/>
            <a:ahLst/>
            <a:cxnLst/>
            <a:rect l="l" t="t" r="r" b="b"/>
            <a:pathLst>
              <a:path w="160060" h="182926">
                <a:moveTo>
                  <a:pt x="0" y="11433"/>
                </a:moveTo>
                <a:lnTo>
                  <a:pt x="76672" y="11433"/>
                </a:lnTo>
                <a:lnTo>
                  <a:pt x="76672" y="88104"/>
                </a:lnTo>
                <a:lnTo>
                  <a:pt x="0" y="88104"/>
                </a:lnTo>
                <a:lnTo>
                  <a:pt x="0" y="11433"/>
                </a:lnTo>
                <a:close/>
                <a:moveTo>
                  <a:pt x="83388" y="11433"/>
                </a:moveTo>
                <a:lnTo>
                  <a:pt x="160060" y="11433"/>
                </a:lnTo>
                <a:lnTo>
                  <a:pt x="160060" y="88104"/>
                </a:lnTo>
                <a:lnTo>
                  <a:pt x="83388" y="88104"/>
                </a:lnTo>
                <a:lnTo>
                  <a:pt x="83388" y="11433"/>
                </a:lnTo>
                <a:close/>
                <a:moveTo>
                  <a:pt x="0" y="94821"/>
                </a:moveTo>
                <a:lnTo>
                  <a:pt x="76672" y="94821"/>
                </a:lnTo>
                <a:lnTo>
                  <a:pt x="76672" y="171493"/>
                </a:lnTo>
                <a:lnTo>
                  <a:pt x="0" y="171493"/>
                </a:lnTo>
                <a:lnTo>
                  <a:pt x="0" y="94821"/>
                </a:lnTo>
                <a:close/>
                <a:moveTo>
                  <a:pt x="83388" y="94821"/>
                </a:moveTo>
                <a:lnTo>
                  <a:pt x="160060" y="94821"/>
                </a:lnTo>
                <a:lnTo>
                  <a:pt x="160060" y="171493"/>
                </a:lnTo>
                <a:lnTo>
                  <a:pt x="83388" y="171493"/>
                </a:lnTo>
                <a:lnTo>
                  <a:pt x="83388" y="9482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8"/>
          <p:cNvSpPr/>
          <p:nvPr/>
        </p:nvSpPr>
        <p:spPr>
          <a:xfrm>
            <a:off x="7030350" y="4298755"/>
            <a:ext cx="126218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Azure Synapse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030350" y="4554851"/>
            <a:ext cx="124389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EC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Azure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554743" y="4810947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 unifié limitant les silos de données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403830" y="5263688"/>
            <a:ext cx="5231676" cy="996945"/>
          </a:xfrm>
          <a:custGeom>
            <a:avLst/>
            <a:gdLst/>
            <a:ahLst/>
            <a:cxnLst/>
            <a:rect l="l" t="t" r="r" b="b"/>
            <a:pathLst>
              <a:path w="5231676" h="996945">
                <a:moveTo>
                  <a:pt x="109754" y="0"/>
                </a:moveTo>
                <a:lnTo>
                  <a:pt x="5121922" y="0"/>
                </a:lnTo>
                <a:cubicBezTo>
                  <a:pt x="5182538" y="0"/>
                  <a:pt x="5231676" y="49138"/>
                  <a:pt x="5231676" y="109754"/>
                </a:cubicBezTo>
                <a:lnTo>
                  <a:pt x="5231676" y="887192"/>
                </a:lnTo>
                <a:cubicBezTo>
                  <a:pt x="5231676" y="947807"/>
                  <a:pt x="5182538" y="996945"/>
                  <a:pt x="5121922" y="996945"/>
                </a:cubicBezTo>
                <a:lnTo>
                  <a:pt x="109754" y="996945"/>
                </a:lnTo>
                <a:cubicBezTo>
                  <a:pt x="49138" y="996945"/>
                  <a:pt x="0" y="947807"/>
                  <a:pt x="0" y="887192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>
                  <a:alpha val="20000"/>
                </a:srgbClr>
              </a:gs>
              <a:gs pos="100000">
                <a:srgbClr val="2B7FFF">
                  <a:alpha val="20000"/>
                </a:srgbClr>
              </a:gs>
            </a:gsLst>
            <a:lin ang="0" scaled="1"/>
          </a:gradFill>
          <a:ln w="12700">
            <a:solidFill>
              <a:srgbClr val="00B8DB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2"/>
          <p:cNvSpPr/>
          <p:nvPr/>
        </p:nvSpPr>
        <p:spPr>
          <a:xfrm>
            <a:off x="6554743" y="5451187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00B8D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3"/>
          <p:cNvSpPr/>
          <p:nvPr/>
        </p:nvSpPr>
        <p:spPr>
          <a:xfrm>
            <a:off x="6646206" y="5542650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102967" y="0"/>
                </a:moveTo>
                <a:cubicBezTo>
                  <a:pt x="102967" y="-6324"/>
                  <a:pt x="97858" y="-11433"/>
                  <a:pt x="91534" y="-11433"/>
                </a:cubicBezTo>
                <a:cubicBezTo>
                  <a:pt x="85211" y="-11433"/>
                  <a:pt x="80101" y="-6324"/>
                  <a:pt x="80101" y="0"/>
                </a:cubicBezTo>
                <a:lnTo>
                  <a:pt x="80101" y="22187"/>
                </a:lnTo>
                <a:lnTo>
                  <a:pt x="74742" y="16828"/>
                </a:lnTo>
                <a:cubicBezTo>
                  <a:pt x="71384" y="13469"/>
                  <a:pt x="65953" y="13469"/>
                  <a:pt x="62631" y="16828"/>
                </a:cubicBezTo>
                <a:cubicBezTo>
                  <a:pt x="59308" y="20186"/>
                  <a:pt x="59272" y="25617"/>
                  <a:pt x="62631" y="28939"/>
                </a:cubicBezTo>
                <a:lnTo>
                  <a:pt x="80137" y="46446"/>
                </a:lnTo>
                <a:lnTo>
                  <a:pt x="80137" y="71670"/>
                </a:lnTo>
                <a:lnTo>
                  <a:pt x="58272" y="59058"/>
                </a:lnTo>
                <a:lnTo>
                  <a:pt x="51877" y="35156"/>
                </a:lnTo>
                <a:cubicBezTo>
                  <a:pt x="50662" y="30583"/>
                  <a:pt x="45946" y="27868"/>
                  <a:pt x="41373" y="29082"/>
                </a:cubicBezTo>
                <a:cubicBezTo>
                  <a:pt x="36800" y="30297"/>
                  <a:pt x="34048" y="35013"/>
                  <a:pt x="35263" y="39586"/>
                </a:cubicBezTo>
                <a:lnTo>
                  <a:pt x="37228" y="46910"/>
                </a:lnTo>
                <a:lnTo>
                  <a:pt x="18042" y="35835"/>
                </a:lnTo>
                <a:cubicBezTo>
                  <a:pt x="12576" y="32691"/>
                  <a:pt x="5574" y="34549"/>
                  <a:pt x="2429" y="40015"/>
                </a:cubicBezTo>
                <a:cubicBezTo>
                  <a:pt x="-715" y="45481"/>
                  <a:pt x="1143" y="52484"/>
                  <a:pt x="6610" y="55628"/>
                </a:cubicBezTo>
                <a:lnTo>
                  <a:pt x="25795" y="66704"/>
                </a:lnTo>
                <a:lnTo>
                  <a:pt x="18471" y="68669"/>
                </a:lnTo>
                <a:cubicBezTo>
                  <a:pt x="13898" y="69883"/>
                  <a:pt x="11183" y="74599"/>
                  <a:pt x="12398" y="79173"/>
                </a:cubicBezTo>
                <a:cubicBezTo>
                  <a:pt x="13612" y="83746"/>
                  <a:pt x="18328" y="86461"/>
                  <a:pt x="22901" y="85246"/>
                </a:cubicBezTo>
                <a:lnTo>
                  <a:pt x="46803" y="78851"/>
                </a:lnTo>
                <a:lnTo>
                  <a:pt x="68669" y="91463"/>
                </a:lnTo>
                <a:lnTo>
                  <a:pt x="46803" y="104075"/>
                </a:lnTo>
                <a:lnTo>
                  <a:pt x="22901" y="97679"/>
                </a:lnTo>
                <a:cubicBezTo>
                  <a:pt x="18328" y="96465"/>
                  <a:pt x="13612" y="99180"/>
                  <a:pt x="12398" y="103753"/>
                </a:cubicBezTo>
                <a:cubicBezTo>
                  <a:pt x="11183" y="108326"/>
                  <a:pt x="13898" y="113042"/>
                  <a:pt x="18471" y="114257"/>
                </a:cubicBezTo>
                <a:lnTo>
                  <a:pt x="25795" y="116222"/>
                </a:lnTo>
                <a:lnTo>
                  <a:pt x="6610" y="127298"/>
                </a:lnTo>
                <a:cubicBezTo>
                  <a:pt x="1143" y="130442"/>
                  <a:pt x="-715" y="137444"/>
                  <a:pt x="2429" y="142911"/>
                </a:cubicBezTo>
                <a:cubicBezTo>
                  <a:pt x="5574" y="148377"/>
                  <a:pt x="12576" y="150271"/>
                  <a:pt x="18042" y="147091"/>
                </a:cubicBezTo>
                <a:lnTo>
                  <a:pt x="37228" y="136015"/>
                </a:lnTo>
                <a:lnTo>
                  <a:pt x="35263" y="143339"/>
                </a:lnTo>
                <a:cubicBezTo>
                  <a:pt x="34048" y="147913"/>
                  <a:pt x="36764" y="152629"/>
                  <a:pt x="41337" y="153843"/>
                </a:cubicBezTo>
                <a:cubicBezTo>
                  <a:pt x="45910" y="155058"/>
                  <a:pt x="50626" y="152343"/>
                  <a:pt x="51841" y="147770"/>
                </a:cubicBezTo>
                <a:lnTo>
                  <a:pt x="58236" y="123868"/>
                </a:lnTo>
                <a:lnTo>
                  <a:pt x="80101" y="111256"/>
                </a:lnTo>
                <a:lnTo>
                  <a:pt x="80101" y="136480"/>
                </a:lnTo>
                <a:lnTo>
                  <a:pt x="62595" y="153986"/>
                </a:lnTo>
                <a:cubicBezTo>
                  <a:pt x="59236" y="157345"/>
                  <a:pt x="59236" y="162775"/>
                  <a:pt x="62595" y="166098"/>
                </a:cubicBezTo>
                <a:cubicBezTo>
                  <a:pt x="65953" y="169421"/>
                  <a:pt x="71384" y="169456"/>
                  <a:pt x="74707" y="166098"/>
                </a:cubicBezTo>
                <a:lnTo>
                  <a:pt x="80066" y="160739"/>
                </a:lnTo>
                <a:lnTo>
                  <a:pt x="80066" y="182926"/>
                </a:lnTo>
                <a:cubicBezTo>
                  <a:pt x="80066" y="189250"/>
                  <a:pt x="85175" y="194359"/>
                  <a:pt x="91499" y="194359"/>
                </a:cubicBezTo>
                <a:cubicBezTo>
                  <a:pt x="97822" y="194359"/>
                  <a:pt x="102931" y="189250"/>
                  <a:pt x="102931" y="182926"/>
                </a:cubicBezTo>
                <a:lnTo>
                  <a:pt x="102931" y="160739"/>
                </a:lnTo>
                <a:lnTo>
                  <a:pt x="108291" y="166098"/>
                </a:lnTo>
                <a:cubicBezTo>
                  <a:pt x="111649" y="169456"/>
                  <a:pt x="117080" y="169456"/>
                  <a:pt x="120402" y="166098"/>
                </a:cubicBezTo>
                <a:cubicBezTo>
                  <a:pt x="123725" y="162740"/>
                  <a:pt x="123761" y="157309"/>
                  <a:pt x="120402" y="153986"/>
                </a:cubicBezTo>
                <a:lnTo>
                  <a:pt x="102896" y="136480"/>
                </a:lnTo>
                <a:lnTo>
                  <a:pt x="102896" y="111256"/>
                </a:lnTo>
                <a:lnTo>
                  <a:pt x="124761" y="123868"/>
                </a:lnTo>
                <a:lnTo>
                  <a:pt x="131156" y="147770"/>
                </a:lnTo>
                <a:cubicBezTo>
                  <a:pt x="132371" y="152343"/>
                  <a:pt x="137087" y="155058"/>
                  <a:pt x="141660" y="153843"/>
                </a:cubicBezTo>
                <a:cubicBezTo>
                  <a:pt x="146233" y="152629"/>
                  <a:pt x="148949" y="147913"/>
                  <a:pt x="147734" y="143339"/>
                </a:cubicBezTo>
                <a:lnTo>
                  <a:pt x="145769" y="136015"/>
                </a:lnTo>
                <a:lnTo>
                  <a:pt x="164955" y="147091"/>
                </a:lnTo>
                <a:cubicBezTo>
                  <a:pt x="170421" y="150235"/>
                  <a:pt x="177424" y="148377"/>
                  <a:pt x="180568" y="142911"/>
                </a:cubicBezTo>
                <a:cubicBezTo>
                  <a:pt x="183712" y="137444"/>
                  <a:pt x="181854" y="130442"/>
                  <a:pt x="176388" y="127298"/>
                </a:cubicBezTo>
                <a:lnTo>
                  <a:pt x="157202" y="116222"/>
                </a:lnTo>
                <a:lnTo>
                  <a:pt x="164526" y="114257"/>
                </a:lnTo>
                <a:cubicBezTo>
                  <a:pt x="169099" y="113042"/>
                  <a:pt x="171814" y="108326"/>
                  <a:pt x="170600" y="103753"/>
                </a:cubicBezTo>
                <a:cubicBezTo>
                  <a:pt x="169385" y="99180"/>
                  <a:pt x="164669" y="96465"/>
                  <a:pt x="160096" y="97679"/>
                </a:cubicBezTo>
                <a:lnTo>
                  <a:pt x="136194" y="104075"/>
                </a:lnTo>
                <a:lnTo>
                  <a:pt x="114329" y="91463"/>
                </a:lnTo>
                <a:lnTo>
                  <a:pt x="136194" y="78851"/>
                </a:lnTo>
                <a:lnTo>
                  <a:pt x="160096" y="85246"/>
                </a:lnTo>
                <a:cubicBezTo>
                  <a:pt x="164669" y="86461"/>
                  <a:pt x="169385" y="83746"/>
                  <a:pt x="170600" y="79173"/>
                </a:cubicBezTo>
                <a:cubicBezTo>
                  <a:pt x="171814" y="74599"/>
                  <a:pt x="169099" y="69883"/>
                  <a:pt x="164526" y="68669"/>
                </a:cubicBezTo>
                <a:lnTo>
                  <a:pt x="157202" y="66704"/>
                </a:lnTo>
                <a:lnTo>
                  <a:pt x="176388" y="55628"/>
                </a:lnTo>
                <a:cubicBezTo>
                  <a:pt x="181854" y="52484"/>
                  <a:pt x="183747" y="45481"/>
                  <a:pt x="180568" y="40015"/>
                </a:cubicBezTo>
                <a:cubicBezTo>
                  <a:pt x="177388" y="34549"/>
                  <a:pt x="170421" y="32691"/>
                  <a:pt x="164955" y="35835"/>
                </a:cubicBezTo>
                <a:lnTo>
                  <a:pt x="145769" y="46910"/>
                </a:lnTo>
                <a:lnTo>
                  <a:pt x="147734" y="39586"/>
                </a:lnTo>
                <a:cubicBezTo>
                  <a:pt x="148949" y="35013"/>
                  <a:pt x="146233" y="30297"/>
                  <a:pt x="141660" y="29082"/>
                </a:cubicBezTo>
                <a:cubicBezTo>
                  <a:pt x="137087" y="27868"/>
                  <a:pt x="132371" y="30583"/>
                  <a:pt x="131156" y="35156"/>
                </a:cubicBezTo>
                <a:lnTo>
                  <a:pt x="124761" y="59058"/>
                </a:lnTo>
                <a:lnTo>
                  <a:pt x="102896" y="71670"/>
                </a:lnTo>
                <a:lnTo>
                  <a:pt x="102896" y="46446"/>
                </a:lnTo>
                <a:lnTo>
                  <a:pt x="120402" y="28939"/>
                </a:lnTo>
                <a:cubicBezTo>
                  <a:pt x="123761" y="25581"/>
                  <a:pt x="123761" y="20150"/>
                  <a:pt x="120402" y="16828"/>
                </a:cubicBezTo>
                <a:cubicBezTo>
                  <a:pt x="117044" y="13505"/>
                  <a:pt x="111613" y="13469"/>
                  <a:pt x="108291" y="16828"/>
                </a:cubicBezTo>
                <a:lnTo>
                  <a:pt x="102931" y="22187"/>
                </a:lnTo>
                <a:lnTo>
                  <a:pt x="102931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4"/>
          <p:cNvSpPr/>
          <p:nvPr/>
        </p:nvSpPr>
        <p:spPr>
          <a:xfrm>
            <a:off x="7030350" y="5414602"/>
            <a:ext cx="896336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030350" y="5670698"/>
            <a:ext cx="87804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53EA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Multi-Cloud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554743" y="5926794"/>
            <a:ext cx="499387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 cloud-native multi-plateforme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7jfxhgtxieze/slide6_perf_cost.png"/>
          <p:cNvPicPr>
            <a:picLocks noChangeAspect="1"/>
          </p:cNvPicPr>
          <p:nvPr/>
        </p:nvPicPr>
        <p:blipFill>
          <a:blip r:embed="rId3">
            <a:alphaModFix amt="25000"/>
          </a:blip>
          <a:srcRect l="1235" r="1235"/>
          <a:stretch/>
        </p:blipFill>
        <p:spPr>
          <a:xfrm>
            <a:off x="0" y="0"/>
            <a:ext cx="12192000" cy="714325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9239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kern="0" spc="58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MÉTRIQUES ESSENTIELLES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851" y="658533"/>
            <a:ext cx="11679808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7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et Coût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70425" y="1321638"/>
            <a:ext cx="5615820" cy="5170511"/>
          </a:xfrm>
          <a:custGeom>
            <a:avLst/>
            <a:gdLst/>
            <a:ahLst/>
            <a:cxnLst/>
            <a:rect l="l" t="t" r="r" b="b"/>
            <a:pathLst>
              <a:path w="5615820" h="5533503">
                <a:moveTo>
                  <a:pt x="146361" y="0"/>
                </a:moveTo>
                <a:lnTo>
                  <a:pt x="5469459" y="0"/>
                </a:lnTo>
                <a:cubicBezTo>
                  <a:pt x="5550292" y="0"/>
                  <a:pt x="5615820" y="65528"/>
                  <a:pt x="5615820" y="146361"/>
                </a:cubicBezTo>
                <a:lnTo>
                  <a:pt x="5615820" y="5387142"/>
                </a:lnTo>
                <a:cubicBezTo>
                  <a:pt x="5615820" y="5467975"/>
                  <a:pt x="5550292" y="5533503"/>
                  <a:pt x="5469459" y="5533503"/>
                </a:cubicBezTo>
                <a:lnTo>
                  <a:pt x="146361" y="5533503"/>
                </a:lnTo>
                <a:cubicBezTo>
                  <a:pt x="65528" y="5533503"/>
                  <a:pt x="0" y="5467975"/>
                  <a:pt x="0" y="5387142"/>
                </a:cubicBezTo>
                <a:lnTo>
                  <a:pt x="0" y="146361"/>
                </a:lnTo>
                <a:cubicBezTo>
                  <a:pt x="0" y="65582"/>
                  <a:pt x="65582" y="0"/>
                  <a:pt x="146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BC7D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509" y="1545722"/>
            <a:ext cx="585362" cy="585362"/>
          </a:xfrm>
          <a:custGeom>
            <a:avLst/>
            <a:gdLst/>
            <a:ahLst/>
            <a:cxnLst/>
            <a:rect l="l" t="t" r="r" b="b"/>
            <a:pathLst>
              <a:path w="585362" h="585362">
                <a:moveTo>
                  <a:pt x="109755" y="0"/>
                </a:moveTo>
                <a:lnTo>
                  <a:pt x="475607" y="0"/>
                </a:lnTo>
                <a:cubicBezTo>
                  <a:pt x="536223" y="0"/>
                  <a:pt x="585362" y="49139"/>
                  <a:pt x="585362" y="109755"/>
                </a:cubicBezTo>
                <a:lnTo>
                  <a:pt x="585362" y="475607"/>
                </a:lnTo>
                <a:cubicBezTo>
                  <a:pt x="585362" y="536223"/>
                  <a:pt x="536223" y="585362"/>
                  <a:pt x="475607" y="585362"/>
                </a:cubicBezTo>
                <a:lnTo>
                  <a:pt x="109755" y="585362"/>
                </a:lnTo>
                <a:cubicBezTo>
                  <a:pt x="49139" y="585362"/>
                  <a:pt x="0" y="536223"/>
                  <a:pt x="0" y="475607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52282" y="1701209"/>
            <a:ext cx="274389" cy="274389"/>
          </a:xfrm>
          <a:custGeom>
            <a:avLst/>
            <a:gdLst/>
            <a:ahLst/>
            <a:cxnLst/>
            <a:rect l="l" t="t" r="r" b="b"/>
            <a:pathLst>
              <a:path w="274389" h="274389">
                <a:moveTo>
                  <a:pt x="0" y="137194"/>
                </a:moveTo>
                <a:cubicBezTo>
                  <a:pt x="0" y="61475"/>
                  <a:pt x="61475" y="0"/>
                  <a:pt x="137194" y="0"/>
                </a:cubicBezTo>
                <a:cubicBezTo>
                  <a:pt x="212914" y="0"/>
                  <a:pt x="274389" y="61475"/>
                  <a:pt x="274389" y="137194"/>
                </a:cubicBezTo>
                <a:cubicBezTo>
                  <a:pt x="274389" y="212914"/>
                  <a:pt x="212914" y="274389"/>
                  <a:pt x="137194" y="274389"/>
                </a:cubicBezTo>
                <a:cubicBezTo>
                  <a:pt x="61475" y="274389"/>
                  <a:pt x="0" y="212914"/>
                  <a:pt x="0" y="137194"/>
                </a:cubicBezTo>
                <a:close/>
                <a:moveTo>
                  <a:pt x="154344" y="51448"/>
                </a:moveTo>
                <a:cubicBezTo>
                  <a:pt x="154344" y="41983"/>
                  <a:pt x="146659" y="34299"/>
                  <a:pt x="137194" y="34299"/>
                </a:cubicBezTo>
                <a:cubicBezTo>
                  <a:pt x="127729" y="34299"/>
                  <a:pt x="120045" y="41983"/>
                  <a:pt x="120045" y="51448"/>
                </a:cubicBezTo>
                <a:cubicBezTo>
                  <a:pt x="120045" y="60913"/>
                  <a:pt x="127729" y="68597"/>
                  <a:pt x="137194" y="68597"/>
                </a:cubicBezTo>
                <a:cubicBezTo>
                  <a:pt x="146659" y="68597"/>
                  <a:pt x="154344" y="60913"/>
                  <a:pt x="154344" y="51448"/>
                </a:cubicBezTo>
                <a:close/>
                <a:moveTo>
                  <a:pt x="137194" y="222941"/>
                </a:moveTo>
                <a:cubicBezTo>
                  <a:pt x="156112" y="222941"/>
                  <a:pt x="171493" y="207560"/>
                  <a:pt x="171493" y="188642"/>
                </a:cubicBezTo>
                <a:cubicBezTo>
                  <a:pt x="171493" y="179960"/>
                  <a:pt x="168277" y="171975"/>
                  <a:pt x="162918" y="165973"/>
                </a:cubicBezTo>
                <a:lnTo>
                  <a:pt x="200164" y="91534"/>
                </a:lnTo>
                <a:cubicBezTo>
                  <a:pt x="203326" y="85157"/>
                  <a:pt x="200754" y="77440"/>
                  <a:pt x="194430" y="74278"/>
                </a:cubicBezTo>
                <a:cubicBezTo>
                  <a:pt x="188106" y="71116"/>
                  <a:pt x="180335" y="73688"/>
                  <a:pt x="177174" y="80012"/>
                </a:cubicBezTo>
                <a:lnTo>
                  <a:pt x="139927" y="154451"/>
                </a:lnTo>
                <a:cubicBezTo>
                  <a:pt x="139016" y="154397"/>
                  <a:pt x="138105" y="154344"/>
                  <a:pt x="137194" y="154344"/>
                </a:cubicBezTo>
                <a:cubicBezTo>
                  <a:pt x="118276" y="154344"/>
                  <a:pt x="102896" y="169724"/>
                  <a:pt x="102896" y="188642"/>
                </a:cubicBezTo>
                <a:cubicBezTo>
                  <a:pt x="102896" y="207560"/>
                  <a:pt x="118276" y="222941"/>
                  <a:pt x="137194" y="222941"/>
                </a:cubicBezTo>
                <a:close/>
                <a:moveTo>
                  <a:pt x="94321" y="77172"/>
                </a:moveTo>
                <a:cubicBezTo>
                  <a:pt x="94321" y="67707"/>
                  <a:pt x="86637" y="60023"/>
                  <a:pt x="77172" y="60023"/>
                </a:cubicBezTo>
                <a:cubicBezTo>
                  <a:pt x="67707" y="60023"/>
                  <a:pt x="60023" y="67707"/>
                  <a:pt x="60023" y="77172"/>
                </a:cubicBezTo>
                <a:cubicBezTo>
                  <a:pt x="60023" y="86637"/>
                  <a:pt x="67707" y="94321"/>
                  <a:pt x="77172" y="94321"/>
                </a:cubicBezTo>
                <a:cubicBezTo>
                  <a:pt x="86637" y="94321"/>
                  <a:pt x="94321" y="86637"/>
                  <a:pt x="94321" y="77172"/>
                </a:cubicBezTo>
                <a:close/>
                <a:moveTo>
                  <a:pt x="51448" y="154344"/>
                </a:moveTo>
                <a:cubicBezTo>
                  <a:pt x="60913" y="154344"/>
                  <a:pt x="68597" y="146659"/>
                  <a:pt x="68597" y="137194"/>
                </a:cubicBezTo>
                <a:cubicBezTo>
                  <a:pt x="68597" y="127729"/>
                  <a:pt x="60913" y="120045"/>
                  <a:pt x="51448" y="120045"/>
                </a:cubicBezTo>
                <a:cubicBezTo>
                  <a:pt x="41983" y="120045"/>
                  <a:pt x="34299" y="127729"/>
                  <a:pt x="34299" y="137194"/>
                </a:cubicBezTo>
                <a:cubicBezTo>
                  <a:pt x="34299" y="146659"/>
                  <a:pt x="41983" y="154344"/>
                  <a:pt x="51448" y="154344"/>
                </a:cubicBezTo>
                <a:close/>
                <a:moveTo>
                  <a:pt x="240090" y="137194"/>
                </a:moveTo>
                <a:cubicBezTo>
                  <a:pt x="240090" y="127729"/>
                  <a:pt x="232406" y="120045"/>
                  <a:pt x="222941" y="120045"/>
                </a:cubicBezTo>
                <a:cubicBezTo>
                  <a:pt x="213476" y="120045"/>
                  <a:pt x="205791" y="127729"/>
                  <a:pt x="205791" y="137194"/>
                </a:cubicBezTo>
                <a:cubicBezTo>
                  <a:pt x="205791" y="146659"/>
                  <a:pt x="213476" y="154344"/>
                  <a:pt x="222941" y="154344"/>
                </a:cubicBezTo>
                <a:cubicBezTo>
                  <a:pt x="232406" y="154344"/>
                  <a:pt x="240090" y="146659"/>
                  <a:pt x="240090" y="1371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326212" y="1673770"/>
            <a:ext cx="1810965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509" y="2277425"/>
            <a:ext cx="5249968" cy="80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Dans ce contexte, la</a:t>
            </a:r>
            <a:r>
              <a:rPr lang="en-US" sz="1296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désigne la vitesse d'exécution des requêtes, mesurée généralement en</a:t>
            </a:r>
            <a:r>
              <a:rPr lang="en-US" sz="1296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de réponse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 en débit (requêtes par minute).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9082" y="3230926"/>
            <a:ext cx="5158506" cy="2496936"/>
          </a:xfrm>
          <a:custGeom>
            <a:avLst/>
            <a:gdLst/>
            <a:ahLst/>
            <a:cxnLst/>
            <a:rect l="l" t="t" r="r" b="b"/>
            <a:pathLst>
              <a:path w="5158506" h="2496936">
                <a:moveTo>
                  <a:pt x="109765" y="0"/>
                </a:moveTo>
                <a:lnTo>
                  <a:pt x="5048740" y="0"/>
                </a:lnTo>
                <a:cubicBezTo>
                  <a:pt x="5109362" y="0"/>
                  <a:pt x="5158506" y="49144"/>
                  <a:pt x="5158506" y="109765"/>
                </a:cubicBezTo>
                <a:lnTo>
                  <a:pt x="5158506" y="2387171"/>
                </a:lnTo>
                <a:cubicBezTo>
                  <a:pt x="5158506" y="2447793"/>
                  <a:pt x="5109362" y="2496936"/>
                  <a:pt x="5048740" y="2496936"/>
                </a:cubicBezTo>
                <a:lnTo>
                  <a:pt x="109765" y="2496936"/>
                </a:lnTo>
                <a:cubicBezTo>
                  <a:pt x="49144" y="2496936"/>
                  <a:pt x="0" y="2447793"/>
                  <a:pt x="0" y="2387171"/>
                </a:cubicBezTo>
                <a:lnTo>
                  <a:pt x="0" y="109765"/>
                </a:lnTo>
                <a:cubicBezTo>
                  <a:pt x="0" y="49144"/>
                  <a:pt x="49144" y="0"/>
                  <a:pt x="109765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72861" y="3418425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22866" y="22866"/>
                </a:moveTo>
                <a:cubicBezTo>
                  <a:pt x="22866" y="16542"/>
                  <a:pt x="17757" y="11433"/>
                  <a:pt x="11433" y="11433"/>
                </a:cubicBezTo>
                <a:cubicBezTo>
                  <a:pt x="5109" y="11433"/>
                  <a:pt x="0" y="16542"/>
                  <a:pt x="0" y="22866"/>
                </a:cubicBezTo>
                <a:lnTo>
                  <a:pt x="0" y="142911"/>
                </a:lnTo>
                <a:cubicBezTo>
                  <a:pt x="0" y="158702"/>
                  <a:pt x="12791" y="171493"/>
                  <a:pt x="28582" y="171493"/>
                </a:cubicBezTo>
                <a:lnTo>
                  <a:pt x="171493" y="171493"/>
                </a:lnTo>
                <a:cubicBezTo>
                  <a:pt x="177817" y="171493"/>
                  <a:pt x="182926" y="166384"/>
                  <a:pt x="182926" y="160060"/>
                </a:cubicBezTo>
                <a:cubicBezTo>
                  <a:pt x="182926" y="153736"/>
                  <a:pt x="177817" y="148627"/>
                  <a:pt x="171493" y="148627"/>
                </a:cubicBezTo>
                <a:lnTo>
                  <a:pt x="28582" y="148627"/>
                </a:lnTo>
                <a:cubicBezTo>
                  <a:pt x="25438" y="148627"/>
                  <a:pt x="22866" y="146055"/>
                  <a:pt x="22866" y="142911"/>
                </a:cubicBezTo>
                <a:lnTo>
                  <a:pt x="22866" y="22866"/>
                </a:lnTo>
                <a:close/>
                <a:moveTo>
                  <a:pt x="168134" y="53806"/>
                </a:moveTo>
                <a:cubicBezTo>
                  <a:pt x="172600" y="49340"/>
                  <a:pt x="172600" y="42087"/>
                  <a:pt x="168134" y="37621"/>
                </a:cubicBezTo>
                <a:cubicBezTo>
                  <a:pt x="163669" y="33155"/>
                  <a:pt x="156416" y="33155"/>
                  <a:pt x="151950" y="37621"/>
                </a:cubicBezTo>
                <a:lnTo>
                  <a:pt x="114329" y="75278"/>
                </a:lnTo>
                <a:lnTo>
                  <a:pt x="93821" y="54806"/>
                </a:lnTo>
                <a:cubicBezTo>
                  <a:pt x="89355" y="50340"/>
                  <a:pt x="82102" y="50340"/>
                  <a:pt x="77636" y="54806"/>
                </a:cubicBezTo>
                <a:lnTo>
                  <a:pt x="43338" y="89105"/>
                </a:lnTo>
                <a:cubicBezTo>
                  <a:pt x="38872" y="93571"/>
                  <a:pt x="38872" y="100824"/>
                  <a:pt x="43338" y="105289"/>
                </a:cubicBezTo>
                <a:cubicBezTo>
                  <a:pt x="47804" y="109755"/>
                  <a:pt x="55056" y="109755"/>
                  <a:pt x="59522" y="105289"/>
                </a:cubicBezTo>
                <a:lnTo>
                  <a:pt x="85746" y="79065"/>
                </a:lnTo>
                <a:lnTo>
                  <a:pt x="106254" y="99573"/>
                </a:lnTo>
                <a:cubicBezTo>
                  <a:pt x="110720" y="104039"/>
                  <a:pt x="117973" y="104039"/>
                  <a:pt x="122439" y="99573"/>
                </a:cubicBezTo>
                <a:lnTo>
                  <a:pt x="168170" y="53842"/>
                </a:ln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78653" y="3381839"/>
            <a:ext cx="471948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Indicateurs de Performance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9995" y="3747691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00BC7D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34599" y="3830008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64024" y="0"/>
                </a:moveTo>
                <a:cubicBezTo>
                  <a:pt x="99360" y="0"/>
                  <a:pt x="128048" y="28688"/>
                  <a:pt x="128048" y="64024"/>
                </a:cubicBezTo>
                <a:cubicBezTo>
                  <a:pt x="128048" y="99360"/>
                  <a:pt x="99360" y="128048"/>
                  <a:pt x="64024" y="128048"/>
                </a:cubicBezTo>
                <a:cubicBezTo>
                  <a:pt x="28688" y="128048"/>
                  <a:pt x="0" y="99360"/>
                  <a:pt x="0" y="64024"/>
                </a:cubicBezTo>
                <a:cubicBezTo>
                  <a:pt x="0" y="28688"/>
                  <a:pt x="28688" y="0"/>
                  <a:pt x="64024" y="0"/>
                </a:cubicBezTo>
                <a:close/>
                <a:moveTo>
                  <a:pt x="58022" y="30011"/>
                </a:moveTo>
                <a:lnTo>
                  <a:pt x="58022" y="64024"/>
                </a:lnTo>
                <a:cubicBezTo>
                  <a:pt x="58022" y="66025"/>
                  <a:pt x="59022" y="67900"/>
                  <a:pt x="60698" y="69026"/>
                </a:cubicBezTo>
                <a:lnTo>
                  <a:pt x="84707" y="85032"/>
                </a:lnTo>
                <a:cubicBezTo>
                  <a:pt x="87458" y="86883"/>
                  <a:pt x="91184" y="86132"/>
                  <a:pt x="93035" y="83356"/>
                </a:cubicBezTo>
                <a:cubicBezTo>
                  <a:pt x="94886" y="80580"/>
                  <a:pt x="94135" y="76879"/>
                  <a:pt x="91359" y="75028"/>
                </a:cubicBezTo>
                <a:lnTo>
                  <a:pt x="70026" y="60823"/>
                </a:lnTo>
                <a:lnTo>
                  <a:pt x="70026" y="30011"/>
                </a:lnTo>
                <a:cubicBezTo>
                  <a:pt x="70026" y="26685"/>
                  <a:pt x="67350" y="24009"/>
                  <a:pt x="64024" y="24009"/>
                </a:cubicBezTo>
                <a:cubicBezTo>
                  <a:pt x="60698" y="24009"/>
                  <a:pt x="58022" y="26685"/>
                  <a:pt x="58022" y="30011"/>
                </a:cubicBez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52432" y="3747691"/>
            <a:ext cx="229571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de Réponse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52432" y="3967202"/>
            <a:ext cx="2736168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Durée entre la soumission et le résultat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9995" y="4223298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00BC7D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42602" y="4305614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84732" y="-2476"/>
                </a:moveTo>
                <a:cubicBezTo>
                  <a:pt x="87708" y="-325"/>
                  <a:pt x="88808" y="3576"/>
                  <a:pt x="87458" y="6978"/>
                </a:cubicBezTo>
                <a:lnTo>
                  <a:pt x="67850" y="56021"/>
                </a:lnTo>
                <a:lnTo>
                  <a:pt x="104039" y="56021"/>
                </a:lnTo>
                <a:cubicBezTo>
                  <a:pt x="107415" y="56021"/>
                  <a:pt x="110416" y="58122"/>
                  <a:pt x="111567" y="61298"/>
                </a:cubicBezTo>
                <a:cubicBezTo>
                  <a:pt x="112717" y="64474"/>
                  <a:pt x="111742" y="68026"/>
                  <a:pt x="109166" y="70176"/>
                </a:cubicBezTo>
                <a:lnTo>
                  <a:pt x="37139" y="130199"/>
                </a:lnTo>
                <a:cubicBezTo>
                  <a:pt x="34313" y="132550"/>
                  <a:pt x="30286" y="132675"/>
                  <a:pt x="27310" y="130524"/>
                </a:cubicBezTo>
                <a:cubicBezTo>
                  <a:pt x="24334" y="128373"/>
                  <a:pt x="23234" y="124472"/>
                  <a:pt x="24584" y="121070"/>
                </a:cubicBezTo>
                <a:lnTo>
                  <a:pt x="44192" y="72027"/>
                </a:lnTo>
                <a:lnTo>
                  <a:pt x="8003" y="72027"/>
                </a:lnTo>
                <a:cubicBezTo>
                  <a:pt x="4627" y="72027"/>
                  <a:pt x="1626" y="69926"/>
                  <a:pt x="475" y="66750"/>
                </a:cubicBezTo>
                <a:cubicBezTo>
                  <a:pt x="-675" y="63574"/>
                  <a:pt x="300" y="60023"/>
                  <a:pt x="2876" y="57872"/>
                </a:cubicBezTo>
                <a:lnTo>
                  <a:pt x="74903" y="-2151"/>
                </a:lnTo>
                <a:cubicBezTo>
                  <a:pt x="77729" y="-4502"/>
                  <a:pt x="81756" y="-4627"/>
                  <a:pt x="84732" y="-2476"/>
                </a:cubicBez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152432" y="4223298"/>
            <a:ext cx="188413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Débit (Throughput)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52432" y="4374211"/>
            <a:ext cx="2329159" cy="25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 de requêtes par minute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49995" y="4698905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00BC7D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818593" y="4781221"/>
            <a:ext cx="160060" cy="128048"/>
          </a:xfrm>
          <a:custGeom>
            <a:avLst/>
            <a:gdLst/>
            <a:ahLst/>
            <a:cxnLst/>
            <a:rect l="l" t="t" r="r" b="b"/>
            <a:pathLst>
              <a:path w="160060" h="128048">
                <a:moveTo>
                  <a:pt x="80030" y="4002"/>
                </a:moveTo>
                <a:cubicBezTo>
                  <a:pt x="94385" y="4002"/>
                  <a:pt x="106040" y="15656"/>
                  <a:pt x="106040" y="30011"/>
                </a:cubicBezTo>
                <a:cubicBezTo>
                  <a:pt x="106040" y="44366"/>
                  <a:pt x="94385" y="56021"/>
                  <a:pt x="80030" y="56021"/>
                </a:cubicBezTo>
                <a:cubicBezTo>
                  <a:pt x="65675" y="56021"/>
                  <a:pt x="54020" y="44366"/>
                  <a:pt x="54020" y="30011"/>
                </a:cubicBezTo>
                <a:cubicBezTo>
                  <a:pt x="54020" y="15656"/>
                  <a:pt x="65675" y="4002"/>
                  <a:pt x="80030" y="4002"/>
                </a:cubicBezTo>
                <a:close/>
                <a:moveTo>
                  <a:pt x="24009" y="22008"/>
                </a:moveTo>
                <a:cubicBezTo>
                  <a:pt x="33947" y="22008"/>
                  <a:pt x="42016" y="30077"/>
                  <a:pt x="42016" y="40015"/>
                </a:cubicBezTo>
                <a:cubicBezTo>
                  <a:pt x="42016" y="49953"/>
                  <a:pt x="33947" y="58022"/>
                  <a:pt x="24009" y="58022"/>
                </a:cubicBezTo>
                <a:cubicBezTo>
                  <a:pt x="14071" y="58022"/>
                  <a:pt x="6002" y="49953"/>
                  <a:pt x="6002" y="40015"/>
                </a:cubicBezTo>
                <a:cubicBezTo>
                  <a:pt x="6002" y="30077"/>
                  <a:pt x="14071" y="22008"/>
                  <a:pt x="24009" y="22008"/>
                </a:cubicBezTo>
                <a:close/>
                <a:moveTo>
                  <a:pt x="0" y="104039"/>
                </a:moveTo>
                <a:cubicBezTo>
                  <a:pt x="0" y="86357"/>
                  <a:pt x="14330" y="72027"/>
                  <a:pt x="32012" y="72027"/>
                </a:cubicBezTo>
                <a:cubicBezTo>
                  <a:pt x="35213" y="72027"/>
                  <a:pt x="38314" y="72502"/>
                  <a:pt x="41240" y="73378"/>
                </a:cubicBezTo>
                <a:cubicBezTo>
                  <a:pt x="33012" y="82581"/>
                  <a:pt x="28011" y="94736"/>
                  <a:pt x="28011" y="108041"/>
                </a:cubicBezTo>
                <a:lnTo>
                  <a:pt x="28011" y="112042"/>
                </a:lnTo>
                <a:cubicBezTo>
                  <a:pt x="28011" y="114893"/>
                  <a:pt x="28611" y="117594"/>
                  <a:pt x="29686" y="120045"/>
                </a:cubicBezTo>
                <a:lnTo>
                  <a:pt x="8003" y="120045"/>
                </a:lnTo>
                <a:cubicBezTo>
                  <a:pt x="3576" y="120045"/>
                  <a:pt x="0" y="116469"/>
                  <a:pt x="0" y="112042"/>
                </a:cubicBezTo>
                <a:lnTo>
                  <a:pt x="0" y="104039"/>
                </a:lnTo>
                <a:close/>
                <a:moveTo>
                  <a:pt x="130374" y="120045"/>
                </a:moveTo>
                <a:cubicBezTo>
                  <a:pt x="131449" y="117594"/>
                  <a:pt x="132050" y="114893"/>
                  <a:pt x="132050" y="112042"/>
                </a:cubicBezTo>
                <a:lnTo>
                  <a:pt x="132050" y="108041"/>
                </a:lnTo>
                <a:cubicBezTo>
                  <a:pt x="132050" y="94736"/>
                  <a:pt x="127048" y="82581"/>
                  <a:pt x="118820" y="73378"/>
                </a:cubicBezTo>
                <a:cubicBezTo>
                  <a:pt x="121746" y="72502"/>
                  <a:pt x="124847" y="72027"/>
                  <a:pt x="128048" y="72027"/>
                </a:cubicBezTo>
                <a:cubicBezTo>
                  <a:pt x="145730" y="72027"/>
                  <a:pt x="160060" y="86357"/>
                  <a:pt x="160060" y="104039"/>
                </a:cubicBezTo>
                <a:lnTo>
                  <a:pt x="160060" y="112042"/>
                </a:lnTo>
                <a:cubicBezTo>
                  <a:pt x="160060" y="116469"/>
                  <a:pt x="156484" y="120045"/>
                  <a:pt x="152057" y="120045"/>
                </a:cubicBezTo>
                <a:lnTo>
                  <a:pt x="130374" y="120045"/>
                </a:lnTo>
                <a:close/>
                <a:moveTo>
                  <a:pt x="118044" y="40015"/>
                </a:moveTo>
                <a:cubicBezTo>
                  <a:pt x="118044" y="30077"/>
                  <a:pt x="126113" y="22008"/>
                  <a:pt x="136051" y="22008"/>
                </a:cubicBezTo>
                <a:cubicBezTo>
                  <a:pt x="145989" y="22008"/>
                  <a:pt x="154058" y="30077"/>
                  <a:pt x="154058" y="40015"/>
                </a:cubicBezTo>
                <a:cubicBezTo>
                  <a:pt x="154058" y="49953"/>
                  <a:pt x="145989" y="58022"/>
                  <a:pt x="136051" y="58022"/>
                </a:cubicBezTo>
                <a:cubicBezTo>
                  <a:pt x="126113" y="58022"/>
                  <a:pt x="118044" y="49953"/>
                  <a:pt x="118044" y="40015"/>
                </a:cubicBezTo>
                <a:close/>
                <a:moveTo>
                  <a:pt x="40015" y="108041"/>
                </a:moveTo>
                <a:cubicBezTo>
                  <a:pt x="40015" y="85932"/>
                  <a:pt x="57922" y="68026"/>
                  <a:pt x="80030" y="68026"/>
                </a:cubicBezTo>
                <a:cubicBezTo>
                  <a:pt x="102138" y="68026"/>
                  <a:pt x="120045" y="85932"/>
                  <a:pt x="120045" y="108041"/>
                </a:cubicBezTo>
                <a:lnTo>
                  <a:pt x="120045" y="112042"/>
                </a:lnTo>
                <a:cubicBezTo>
                  <a:pt x="120045" y="116469"/>
                  <a:pt x="116469" y="120045"/>
                  <a:pt x="112042" y="120045"/>
                </a:cubicBezTo>
                <a:lnTo>
                  <a:pt x="48018" y="120045"/>
                </a:lnTo>
                <a:cubicBezTo>
                  <a:pt x="43591" y="120045"/>
                  <a:pt x="40015" y="116469"/>
                  <a:pt x="40015" y="112042"/>
                </a:cubicBezTo>
                <a:lnTo>
                  <a:pt x="40015" y="108041"/>
                </a:ln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152432" y="4698905"/>
            <a:ext cx="194815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Concurrence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52432" y="4849818"/>
            <a:ext cx="2329159" cy="25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Utilisateurs simultanés supportés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49995" y="5174512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00BC7D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842602" y="5256828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112042" y="51469"/>
                </a:moveTo>
                <a:cubicBezTo>
                  <a:pt x="108341" y="53920"/>
                  <a:pt x="104089" y="55896"/>
                  <a:pt x="99662" y="57472"/>
                </a:cubicBezTo>
                <a:cubicBezTo>
                  <a:pt x="87908" y="61673"/>
                  <a:pt x="72477" y="64024"/>
                  <a:pt x="56021" y="64024"/>
                </a:cubicBezTo>
                <a:cubicBezTo>
                  <a:pt x="39565" y="64024"/>
                  <a:pt x="24109" y="61648"/>
                  <a:pt x="12380" y="57472"/>
                </a:cubicBezTo>
                <a:cubicBezTo>
                  <a:pt x="7978" y="55896"/>
                  <a:pt x="3701" y="53920"/>
                  <a:pt x="0" y="51469"/>
                </a:cubicBezTo>
                <a:lnTo>
                  <a:pt x="0" y="72027"/>
                </a:lnTo>
                <a:cubicBezTo>
                  <a:pt x="0" y="83081"/>
                  <a:pt x="25084" y="92035"/>
                  <a:pt x="56021" y="92035"/>
                </a:cubicBezTo>
                <a:cubicBezTo>
                  <a:pt x="86958" y="92035"/>
                  <a:pt x="112042" y="83081"/>
                  <a:pt x="112042" y="72027"/>
                </a:cubicBezTo>
                <a:lnTo>
                  <a:pt x="112042" y="51469"/>
                </a:lnTo>
                <a:close/>
                <a:moveTo>
                  <a:pt x="112042" y="32012"/>
                </a:moveTo>
                <a:lnTo>
                  <a:pt x="112042" y="20008"/>
                </a:lnTo>
                <a:cubicBezTo>
                  <a:pt x="112042" y="8953"/>
                  <a:pt x="86958" y="0"/>
                  <a:pt x="56021" y="0"/>
                </a:cubicBezTo>
                <a:cubicBezTo>
                  <a:pt x="25084" y="0"/>
                  <a:pt x="0" y="8953"/>
                  <a:pt x="0" y="20008"/>
                </a:cubicBezTo>
                <a:lnTo>
                  <a:pt x="0" y="32012"/>
                </a:lnTo>
                <a:cubicBezTo>
                  <a:pt x="0" y="43066"/>
                  <a:pt x="25084" y="52020"/>
                  <a:pt x="56021" y="52020"/>
                </a:cubicBezTo>
                <a:cubicBezTo>
                  <a:pt x="86958" y="52020"/>
                  <a:pt x="112042" y="43066"/>
                  <a:pt x="112042" y="32012"/>
                </a:cubicBezTo>
                <a:close/>
                <a:moveTo>
                  <a:pt x="99662" y="97487"/>
                </a:moveTo>
                <a:cubicBezTo>
                  <a:pt x="87933" y="101663"/>
                  <a:pt x="72502" y="104039"/>
                  <a:pt x="56021" y="104039"/>
                </a:cubicBezTo>
                <a:cubicBezTo>
                  <a:pt x="39540" y="104039"/>
                  <a:pt x="24109" y="101663"/>
                  <a:pt x="12380" y="97487"/>
                </a:cubicBezTo>
                <a:cubicBezTo>
                  <a:pt x="7978" y="95911"/>
                  <a:pt x="3701" y="93935"/>
                  <a:pt x="0" y="91484"/>
                </a:cubicBezTo>
                <a:lnTo>
                  <a:pt x="0" y="108041"/>
                </a:lnTo>
                <a:cubicBezTo>
                  <a:pt x="0" y="119095"/>
                  <a:pt x="25084" y="128048"/>
                  <a:pt x="56021" y="128048"/>
                </a:cubicBezTo>
                <a:cubicBezTo>
                  <a:pt x="86958" y="128048"/>
                  <a:pt x="112042" y="119095"/>
                  <a:pt x="112042" y="108041"/>
                </a:cubicBezTo>
                <a:lnTo>
                  <a:pt x="112042" y="91484"/>
                </a:lnTo>
                <a:cubicBezTo>
                  <a:pt x="108341" y="93935"/>
                  <a:pt x="104089" y="95911"/>
                  <a:pt x="99662" y="97487"/>
                </a:cubicBezTo>
                <a:close/>
              </a:path>
            </a:pathLst>
          </a:custGeom>
          <a:solidFill>
            <a:srgbClr val="00D49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1152432" y="5174512"/>
            <a:ext cx="171950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 Scanné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52431" y="5325425"/>
            <a:ext cx="2393183" cy="25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Quantité de données traitées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11758" y="1321638"/>
            <a:ext cx="5615820" cy="5170511"/>
          </a:xfrm>
          <a:custGeom>
            <a:avLst/>
            <a:gdLst/>
            <a:ahLst/>
            <a:cxnLst/>
            <a:rect l="l" t="t" r="r" b="b"/>
            <a:pathLst>
              <a:path w="5615820" h="5533503">
                <a:moveTo>
                  <a:pt x="146361" y="0"/>
                </a:moveTo>
                <a:lnTo>
                  <a:pt x="5469459" y="0"/>
                </a:lnTo>
                <a:cubicBezTo>
                  <a:pt x="5550292" y="0"/>
                  <a:pt x="5615820" y="65528"/>
                  <a:pt x="5615820" y="146361"/>
                </a:cubicBezTo>
                <a:lnTo>
                  <a:pt x="5615820" y="5387142"/>
                </a:lnTo>
                <a:cubicBezTo>
                  <a:pt x="5615820" y="5467975"/>
                  <a:pt x="5550292" y="5533503"/>
                  <a:pt x="5469459" y="5533503"/>
                </a:cubicBezTo>
                <a:lnTo>
                  <a:pt x="146361" y="5533503"/>
                </a:lnTo>
                <a:cubicBezTo>
                  <a:pt x="65528" y="5533503"/>
                  <a:pt x="0" y="5467975"/>
                  <a:pt x="0" y="5387142"/>
                </a:cubicBezTo>
                <a:lnTo>
                  <a:pt x="0" y="146361"/>
                </a:lnTo>
                <a:cubicBezTo>
                  <a:pt x="0" y="65582"/>
                  <a:pt x="65582" y="0"/>
                  <a:pt x="146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2D00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6435842" y="1545722"/>
            <a:ext cx="585362" cy="585362"/>
          </a:xfrm>
          <a:custGeom>
            <a:avLst/>
            <a:gdLst/>
            <a:ahLst/>
            <a:cxnLst/>
            <a:rect l="l" t="t" r="r" b="b"/>
            <a:pathLst>
              <a:path w="585362" h="585362">
                <a:moveTo>
                  <a:pt x="109755" y="0"/>
                </a:moveTo>
                <a:lnTo>
                  <a:pt x="475607" y="0"/>
                </a:lnTo>
                <a:cubicBezTo>
                  <a:pt x="536223" y="0"/>
                  <a:pt x="585362" y="49139"/>
                  <a:pt x="585362" y="109755"/>
                </a:cubicBezTo>
                <a:lnTo>
                  <a:pt x="585362" y="475607"/>
                </a:lnTo>
                <a:cubicBezTo>
                  <a:pt x="585362" y="536223"/>
                  <a:pt x="536223" y="585362"/>
                  <a:pt x="475607" y="585362"/>
                </a:cubicBezTo>
                <a:lnTo>
                  <a:pt x="109755" y="585362"/>
                </a:lnTo>
                <a:cubicBezTo>
                  <a:pt x="49139" y="585362"/>
                  <a:pt x="0" y="536223"/>
                  <a:pt x="0" y="475607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6645063" y="1701209"/>
            <a:ext cx="171493" cy="274389"/>
          </a:xfrm>
          <a:custGeom>
            <a:avLst/>
            <a:gdLst/>
            <a:ahLst/>
            <a:cxnLst/>
            <a:rect l="l" t="t" r="r" b="b"/>
            <a:pathLst>
              <a:path w="171493" h="274389">
                <a:moveTo>
                  <a:pt x="72884" y="12862"/>
                </a:moveTo>
                <a:cubicBezTo>
                  <a:pt x="72884" y="5734"/>
                  <a:pt x="78619" y="0"/>
                  <a:pt x="85746" y="0"/>
                </a:cubicBezTo>
                <a:cubicBezTo>
                  <a:pt x="92874" y="0"/>
                  <a:pt x="98608" y="5734"/>
                  <a:pt x="98608" y="12862"/>
                </a:cubicBezTo>
                <a:lnTo>
                  <a:pt x="98608" y="34299"/>
                </a:lnTo>
                <a:lnTo>
                  <a:pt x="128620" y="34299"/>
                </a:lnTo>
                <a:cubicBezTo>
                  <a:pt x="138105" y="34299"/>
                  <a:pt x="145769" y="41962"/>
                  <a:pt x="145769" y="51448"/>
                </a:cubicBezTo>
                <a:cubicBezTo>
                  <a:pt x="145769" y="60934"/>
                  <a:pt x="138105" y="68597"/>
                  <a:pt x="128620" y="68597"/>
                </a:cubicBezTo>
                <a:lnTo>
                  <a:pt x="67043" y="68597"/>
                </a:lnTo>
                <a:cubicBezTo>
                  <a:pt x="53699" y="68597"/>
                  <a:pt x="42873" y="79423"/>
                  <a:pt x="42873" y="92767"/>
                </a:cubicBezTo>
                <a:cubicBezTo>
                  <a:pt x="42873" y="104825"/>
                  <a:pt x="51716" y="115007"/>
                  <a:pt x="63613" y="116722"/>
                </a:cubicBezTo>
                <a:lnTo>
                  <a:pt x="112703" y="123743"/>
                </a:lnTo>
                <a:cubicBezTo>
                  <a:pt x="141535" y="127869"/>
                  <a:pt x="162918" y="152521"/>
                  <a:pt x="162918" y="181622"/>
                </a:cubicBezTo>
                <a:cubicBezTo>
                  <a:pt x="162918" y="213937"/>
                  <a:pt x="136712" y="240090"/>
                  <a:pt x="104450" y="240090"/>
                </a:cubicBezTo>
                <a:lnTo>
                  <a:pt x="98608" y="240090"/>
                </a:lnTo>
                <a:lnTo>
                  <a:pt x="98608" y="261527"/>
                </a:lnTo>
                <a:cubicBezTo>
                  <a:pt x="98608" y="268654"/>
                  <a:pt x="92874" y="274389"/>
                  <a:pt x="85746" y="274389"/>
                </a:cubicBezTo>
                <a:cubicBezTo>
                  <a:pt x="78619" y="274389"/>
                  <a:pt x="72884" y="268654"/>
                  <a:pt x="72884" y="261527"/>
                </a:cubicBezTo>
                <a:lnTo>
                  <a:pt x="72884" y="240090"/>
                </a:lnTo>
                <a:lnTo>
                  <a:pt x="34299" y="240090"/>
                </a:lnTo>
                <a:cubicBezTo>
                  <a:pt x="24813" y="240090"/>
                  <a:pt x="17149" y="232426"/>
                  <a:pt x="17149" y="222941"/>
                </a:cubicBezTo>
                <a:cubicBezTo>
                  <a:pt x="17149" y="213455"/>
                  <a:pt x="24813" y="205791"/>
                  <a:pt x="34299" y="205791"/>
                </a:cubicBezTo>
                <a:lnTo>
                  <a:pt x="104450" y="205791"/>
                </a:lnTo>
                <a:cubicBezTo>
                  <a:pt x="117794" y="205791"/>
                  <a:pt x="128620" y="194966"/>
                  <a:pt x="128620" y="181622"/>
                </a:cubicBezTo>
                <a:cubicBezTo>
                  <a:pt x="128620" y="169564"/>
                  <a:pt x="119777" y="159381"/>
                  <a:pt x="107880" y="157666"/>
                </a:cubicBezTo>
                <a:lnTo>
                  <a:pt x="58790" y="150646"/>
                </a:lnTo>
                <a:cubicBezTo>
                  <a:pt x="29958" y="146573"/>
                  <a:pt x="8575" y="121867"/>
                  <a:pt x="8575" y="92767"/>
                </a:cubicBezTo>
                <a:cubicBezTo>
                  <a:pt x="8575" y="60505"/>
                  <a:pt x="34781" y="34299"/>
                  <a:pt x="67043" y="34299"/>
                </a:cubicBezTo>
                <a:lnTo>
                  <a:pt x="72884" y="34299"/>
                </a:lnTo>
                <a:lnTo>
                  <a:pt x="72884" y="1286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167545" y="1673770"/>
            <a:ext cx="759142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Coût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435842" y="2277425"/>
            <a:ext cx="5249968" cy="80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</a:t>
            </a:r>
            <a:r>
              <a:rPr lang="en-US" sz="1296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représente l'ensemble des dépenses liées au</a:t>
            </a:r>
            <a:r>
              <a:rPr lang="en-US" sz="1296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 données, à la</a:t>
            </a:r>
            <a:r>
              <a:rPr lang="en-US" sz="1296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puissance de calcul</a:t>
            </a:r>
            <a:r>
              <a:rPr lang="en-US" sz="129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consommée et aux transferts de données.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40415" y="3230926"/>
            <a:ext cx="5158506" cy="2496936"/>
          </a:xfrm>
          <a:custGeom>
            <a:avLst/>
            <a:gdLst/>
            <a:ahLst/>
            <a:cxnLst/>
            <a:rect l="l" t="t" r="r" b="b"/>
            <a:pathLst>
              <a:path w="5158506" h="2496936">
                <a:moveTo>
                  <a:pt x="109765" y="0"/>
                </a:moveTo>
                <a:lnTo>
                  <a:pt x="5048740" y="0"/>
                </a:lnTo>
                <a:cubicBezTo>
                  <a:pt x="5109362" y="0"/>
                  <a:pt x="5158506" y="49144"/>
                  <a:pt x="5158506" y="109765"/>
                </a:cubicBezTo>
                <a:lnTo>
                  <a:pt x="5158506" y="2387171"/>
                </a:lnTo>
                <a:cubicBezTo>
                  <a:pt x="5158506" y="2447793"/>
                  <a:pt x="5109362" y="2496936"/>
                  <a:pt x="5048740" y="2496936"/>
                </a:cubicBezTo>
                <a:lnTo>
                  <a:pt x="109765" y="2496936"/>
                </a:lnTo>
                <a:cubicBezTo>
                  <a:pt x="49144" y="2496936"/>
                  <a:pt x="0" y="2447793"/>
                  <a:pt x="0" y="2387171"/>
                </a:cubicBezTo>
                <a:lnTo>
                  <a:pt x="0" y="109765"/>
                </a:lnTo>
                <a:cubicBezTo>
                  <a:pt x="0" y="49144"/>
                  <a:pt x="49144" y="0"/>
                  <a:pt x="109765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6614194" y="3418425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45731" y="34299"/>
                </a:moveTo>
                <a:lnTo>
                  <a:pt x="45731" y="28582"/>
                </a:lnTo>
                <a:cubicBezTo>
                  <a:pt x="45731" y="12791"/>
                  <a:pt x="76457" y="0"/>
                  <a:pt x="114329" y="0"/>
                </a:cubicBezTo>
                <a:cubicBezTo>
                  <a:pt x="152200" y="0"/>
                  <a:pt x="182926" y="12791"/>
                  <a:pt x="182926" y="28582"/>
                </a:cubicBezTo>
                <a:lnTo>
                  <a:pt x="182926" y="34299"/>
                </a:lnTo>
                <a:cubicBezTo>
                  <a:pt x="182926" y="45231"/>
                  <a:pt x="168170" y="54735"/>
                  <a:pt x="146483" y="59558"/>
                </a:cubicBezTo>
                <a:cubicBezTo>
                  <a:pt x="145626" y="58558"/>
                  <a:pt x="144733" y="57593"/>
                  <a:pt x="143840" y="56700"/>
                </a:cubicBezTo>
                <a:cubicBezTo>
                  <a:pt x="138302" y="51233"/>
                  <a:pt x="131156" y="47089"/>
                  <a:pt x="123689" y="44017"/>
                </a:cubicBezTo>
                <a:cubicBezTo>
                  <a:pt x="108719" y="37764"/>
                  <a:pt x="89212" y="34334"/>
                  <a:pt x="68597" y="34334"/>
                </a:cubicBezTo>
                <a:cubicBezTo>
                  <a:pt x="60773" y="34334"/>
                  <a:pt x="53127" y="34834"/>
                  <a:pt x="45803" y="35799"/>
                </a:cubicBezTo>
                <a:cubicBezTo>
                  <a:pt x="45731" y="35335"/>
                  <a:pt x="45731" y="34834"/>
                  <a:pt x="45731" y="34334"/>
                </a:cubicBezTo>
                <a:close/>
                <a:moveTo>
                  <a:pt x="154344" y="126119"/>
                </a:moveTo>
                <a:lnTo>
                  <a:pt x="154344" y="109613"/>
                </a:lnTo>
                <a:cubicBezTo>
                  <a:pt x="159738" y="108219"/>
                  <a:pt x="164812" y="106576"/>
                  <a:pt x="169421" y="104646"/>
                </a:cubicBezTo>
                <a:cubicBezTo>
                  <a:pt x="174137" y="102681"/>
                  <a:pt x="178746" y="100288"/>
                  <a:pt x="182926" y="97394"/>
                </a:cubicBezTo>
                <a:lnTo>
                  <a:pt x="182926" y="102896"/>
                </a:lnTo>
                <a:cubicBezTo>
                  <a:pt x="182926" y="112471"/>
                  <a:pt x="171672" y="120938"/>
                  <a:pt x="154344" y="126119"/>
                </a:cubicBezTo>
                <a:close/>
                <a:moveTo>
                  <a:pt x="154344" y="91820"/>
                </a:moveTo>
                <a:lnTo>
                  <a:pt x="154344" y="80030"/>
                </a:lnTo>
                <a:cubicBezTo>
                  <a:pt x="154344" y="78422"/>
                  <a:pt x="154201" y="76886"/>
                  <a:pt x="153986" y="75385"/>
                </a:cubicBezTo>
                <a:cubicBezTo>
                  <a:pt x="159524" y="73992"/>
                  <a:pt x="164705" y="72313"/>
                  <a:pt x="169421" y="70312"/>
                </a:cubicBezTo>
                <a:cubicBezTo>
                  <a:pt x="174137" y="68311"/>
                  <a:pt x="178746" y="65953"/>
                  <a:pt x="182926" y="63059"/>
                </a:cubicBezTo>
                <a:lnTo>
                  <a:pt x="182926" y="68561"/>
                </a:lnTo>
                <a:cubicBezTo>
                  <a:pt x="182926" y="78136"/>
                  <a:pt x="171672" y="86604"/>
                  <a:pt x="154344" y="91784"/>
                </a:cubicBezTo>
                <a:close/>
                <a:moveTo>
                  <a:pt x="0" y="85746"/>
                </a:moveTo>
                <a:lnTo>
                  <a:pt x="0" y="80030"/>
                </a:lnTo>
                <a:cubicBezTo>
                  <a:pt x="0" y="64238"/>
                  <a:pt x="30726" y="51448"/>
                  <a:pt x="68597" y="51448"/>
                </a:cubicBezTo>
                <a:cubicBezTo>
                  <a:pt x="106468" y="51448"/>
                  <a:pt x="137194" y="64238"/>
                  <a:pt x="137194" y="80030"/>
                </a:cubicBezTo>
                <a:lnTo>
                  <a:pt x="137194" y="85746"/>
                </a:lnTo>
                <a:cubicBezTo>
                  <a:pt x="137194" y="101538"/>
                  <a:pt x="106468" y="114329"/>
                  <a:pt x="68597" y="114329"/>
                </a:cubicBezTo>
                <a:cubicBezTo>
                  <a:pt x="30726" y="114329"/>
                  <a:pt x="0" y="101538"/>
                  <a:pt x="0" y="85746"/>
                </a:cubicBezTo>
                <a:close/>
                <a:moveTo>
                  <a:pt x="137194" y="120045"/>
                </a:moveTo>
                <a:cubicBezTo>
                  <a:pt x="137194" y="135837"/>
                  <a:pt x="106468" y="148627"/>
                  <a:pt x="68597" y="148627"/>
                </a:cubicBezTo>
                <a:cubicBezTo>
                  <a:pt x="30726" y="148627"/>
                  <a:pt x="0" y="135837"/>
                  <a:pt x="0" y="120045"/>
                </a:cubicBezTo>
                <a:lnTo>
                  <a:pt x="0" y="114543"/>
                </a:lnTo>
                <a:cubicBezTo>
                  <a:pt x="4144" y="117437"/>
                  <a:pt x="8753" y="119795"/>
                  <a:pt x="13505" y="121796"/>
                </a:cubicBezTo>
                <a:cubicBezTo>
                  <a:pt x="28475" y="128048"/>
                  <a:pt x="47982" y="131478"/>
                  <a:pt x="68597" y="131478"/>
                </a:cubicBezTo>
                <a:cubicBezTo>
                  <a:pt x="89212" y="131478"/>
                  <a:pt x="108719" y="128012"/>
                  <a:pt x="123689" y="121796"/>
                </a:cubicBezTo>
                <a:cubicBezTo>
                  <a:pt x="128405" y="119831"/>
                  <a:pt x="133014" y="117437"/>
                  <a:pt x="137194" y="114543"/>
                </a:cubicBezTo>
                <a:lnTo>
                  <a:pt x="137194" y="120045"/>
                </a:lnTo>
                <a:close/>
                <a:moveTo>
                  <a:pt x="137194" y="148842"/>
                </a:moveTo>
                <a:lnTo>
                  <a:pt x="137194" y="154344"/>
                </a:lnTo>
                <a:cubicBezTo>
                  <a:pt x="137194" y="170135"/>
                  <a:pt x="106468" y="182926"/>
                  <a:pt x="68597" y="182926"/>
                </a:cubicBezTo>
                <a:cubicBezTo>
                  <a:pt x="30726" y="182926"/>
                  <a:pt x="0" y="170135"/>
                  <a:pt x="0" y="154344"/>
                </a:cubicBezTo>
                <a:lnTo>
                  <a:pt x="0" y="148842"/>
                </a:lnTo>
                <a:cubicBezTo>
                  <a:pt x="4144" y="151735"/>
                  <a:pt x="8753" y="154093"/>
                  <a:pt x="13505" y="156094"/>
                </a:cubicBezTo>
                <a:cubicBezTo>
                  <a:pt x="28475" y="162347"/>
                  <a:pt x="47982" y="165776"/>
                  <a:pt x="68597" y="165776"/>
                </a:cubicBezTo>
                <a:cubicBezTo>
                  <a:pt x="89212" y="165776"/>
                  <a:pt x="108719" y="162311"/>
                  <a:pt x="123689" y="156094"/>
                </a:cubicBezTo>
                <a:cubicBezTo>
                  <a:pt x="128405" y="154129"/>
                  <a:pt x="133014" y="151735"/>
                  <a:pt x="137194" y="148842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6819986" y="3381839"/>
            <a:ext cx="471948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Composantes du Coût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591329" y="3747691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FF6900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6683935" y="3830008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16006" y="8003"/>
                </a:moveTo>
                <a:cubicBezTo>
                  <a:pt x="7178" y="8003"/>
                  <a:pt x="0" y="15181"/>
                  <a:pt x="0" y="24009"/>
                </a:cubicBezTo>
                <a:lnTo>
                  <a:pt x="0" y="65049"/>
                </a:lnTo>
                <a:cubicBezTo>
                  <a:pt x="4527" y="61873"/>
                  <a:pt x="10054" y="60023"/>
                  <a:pt x="16006" y="60023"/>
                </a:cubicBezTo>
                <a:lnTo>
                  <a:pt x="96036" y="60023"/>
                </a:lnTo>
                <a:cubicBezTo>
                  <a:pt x="101988" y="60023"/>
                  <a:pt x="107515" y="61873"/>
                  <a:pt x="112042" y="65049"/>
                </a:cubicBezTo>
                <a:lnTo>
                  <a:pt x="112042" y="24009"/>
                </a:lnTo>
                <a:cubicBezTo>
                  <a:pt x="112042" y="15181"/>
                  <a:pt x="104864" y="8003"/>
                  <a:pt x="96036" y="8003"/>
                </a:cubicBezTo>
                <a:lnTo>
                  <a:pt x="16006" y="8003"/>
                </a:lnTo>
                <a:close/>
                <a:moveTo>
                  <a:pt x="112042" y="88033"/>
                </a:moveTo>
                <a:cubicBezTo>
                  <a:pt x="112042" y="79205"/>
                  <a:pt x="104864" y="72027"/>
                  <a:pt x="96036" y="72027"/>
                </a:cubicBezTo>
                <a:lnTo>
                  <a:pt x="16006" y="72027"/>
                </a:lnTo>
                <a:cubicBezTo>
                  <a:pt x="7178" y="72027"/>
                  <a:pt x="0" y="79205"/>
                  <a:pt x="0" y="88033"/>
                </a:cubicBezTo>
                <a:lnTo>
                  <a:pt x="0" y="104039"/>
                </a:lnTo>
                <a:cubicBezTo>
                  <a:pt x="0" y="112867"/>
                  <a:pt x="7178" y="120045"/>
                  <a:pt x="16006" y="120045"/>
                </a:cubicBezTo>
                <a:lnTo>
                  <a:pt x="96036" y="120045"/>
                </a:lnTo>
                <a:cubicBezTo>
                  <a:pt x="104864" y="120045"/>
                  <a:pt x="112042" y="112867"/>
                  <a:pt x="112042" y="104039"/>
                </a:cubicBezTo>
                <a:lnTo>
                  <a:pt x="112042" y="88033"/>
                </a:lnTo>
                <a:close/>
                <a:moveTo>
                  <a:pt x="56021" y="96036"/>
                </a:moveTo>
                <a:cubicBezTo>
                  <a:pt x="56021" y="91619"/>
                  <a:pt x="59607" y="88033"/>
                  <a:pt x="64024" y="88033"/>
                </a:cubicBezTo>
                <a:cubicBezTo>
                  <a:pt x="68441" y="88033"/>
                  <a:pt x="72027" y="91619"/>
                  <a:pt x="72027" y="96036"/>
                </a:cubicBezTo>
                <a:cubicBezTo>
                  <a:pt x="72027" y="100453"/>
                  <a:pt x="68441" y="104039"/>
                  <a:pt x="64024" y="104039"/>
                </a:cubicBezTo>
                <a:cubicBezTo>
                  <a:pt x="59607" y="104039"/>
                  <a:pt x="56021" y="100453"/>
                  <a:pt x="56021" y="96036"/>
                </a:cubicBezTo>
                <a:close/>
                <a:moveTo>
                  <a:pt x="88033" y="88033"/>
                </a:moveTo>
                <a:cubicBezTo>
                  <a:pt x="92450" y="88033"/>
                  <a:pt x="96036" y="91619"/>
                  <a:pt x="96036" y="96036"/>
                </a:cubicBezTo>
                <a:cubicBezTo>
                  <a:pt x="96036" y="100453"/>
                  <a:pt x="92450" y="104039"/>
                  <a:pt x="88033" y="104039"/>
                </a:cubicBezTo>
                <a:cubicBezTo>
                  <a:pt x="83616" y="104039"/>
                  <a:pt x="80030" y="100453"/>
                  <a:pt x="80030" y="96036"/>
                </a:cubicBezTo>
                <a:cubicBezTo>
                  <a:pt x="80030" y="91619"/>
                  <a:pt x="83616" y="88033"/>
                  <a:pt x="88033" y="88033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6993765" y="3747691"/>
            <a:ext cx="149999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993765" y="3967202"/>
            <a:ext cx="149084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par GB/mois stocké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591329" y="4223298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FF6900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3"/>
          <p:cNvSpPr/>
          <p:nvPr/>
        </p:nvSpPr>
        <p:spPr>
          <a:xfrm>
            <a:off x="6675932" y="4305614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44017" y="6002"/>
                </a:moveTo>
                <a:cubicBezTo>
                  <a:pt x="44017" y="2676"/>
                  <a:pt x="41341" y="0"/>
                  <a:pt x="38014" y="0"/>
                </a:cubicBezTo>
                <a:cubicBezTo>
                  <a:pt x="34688" y="0"/>
                  <a:pt x="32012" y="2676"/>
                  <a:pt x="32012" y="6002"/>
                </a:cubicBezTo>
                <a:lnTo>
                  <a:pt x="32012" y="16006"/>
                </a:lnTo>
                <a:cubicBezTo>
                  <a:pt x="23184" y="16006"/>
                  <a:pt x="16006" y="23184"/>
                  <a:pt x="16006" y="32012"/>
                </a:cubicBezTo>
                <a:lnTo>
                  <a:pt x="6002" y="32012"/>
                </a:lnTo>
                <a:cubicBezTo>
                  <a:pt x="2676" y="32012"/>
                  <a:pt x="0" y="34688"/>
                  <a:pt x="0" y="38014"/>
                </a:cubicBezTo>
                <a:cubicBezTo>
                  <a:pt x="0" y="41341"/>
                  <a:pt x="2676" y="44017"/>
                  <a:pt x="6002" y="44017"/>
                </a:cubicBezTo>
                <a:lnTo>
                  <a:pt x="16006" y="44017"/>
                </a:lnTo>
                <a:lnTo>
                  <a:pt x="16006" y="58022"/>
                </a:lnTo>
                <a:lnTo>
                  <a:pt x="6002" y="58022"/>
                </a:lnTo>
                <a:cubicBezTo>
                  <a:pt x="2676" y="58022"/>
                  <a:pt x="0" y="60698"/>
                  <a:pt x="0" y="64024"/>
                </a:cubicBezTo>
                <a:cubicBezTo>
                  <a:pt x="0" y="67350"/>
                  <a:pt x="2676" y="70026"/>
                  <a:pt x="6002" y="70026"/>
                </a:cubicBezTo>
                <a:lnTo>
                  <a:pt x="16006" y="70026"/>
                </a:lnTo>
                <a:lnTo>
                  <a:pt x="16006" y="84032"/>
                </a:lnTo>
                <a:lnTo>
                  <a:pt x="6002" y="84032"/>
                </a:lnTo>
                <a:cubicBezTo>
                  <a:pt x="2676" y="84032"/>
                  <a:pt x="0" y="86708"/>
                  <a:pt x="0" y="90034"/>
                </a:cubicBezTo>
                <a:cubicBezTo>
                  <a:pt x="0" y="93360"/>
                  <a:pt x="2676" y="96036"/>
                  <a:pt x="6002" y="96036"/>
                </a:cubicBezTo>
                <a:lnTo>
                  <a:pt x="16006" y="96036"/>
                </a:lnTo>
                <a:cubicBezTo>
                  <a:pt x="16006" y="104864"/>
                  <a:pt x="23184" y="112042"/>
                  <a:pt x="32012" y="112042"/>
                </a:cubicBezTo>
                <a:lnTo>
                  <a:pt x="32012" y="122046"/>
                </a:lnTo>
                <a:cubicBezTo>
                  <a:pt x="32012" y="125372"/>
                  <a:pt x="34688" y="128048"/>
                  <a:pt x="38014" y="128048"/>
                </a:cubicBezTo>
                <a:cubicBezTo>
                  <a:pt x="41341" y="128048"/>
                  <a:pt x="44017" y="125372"/>
                  <a:pt x="44017" y="122046"/>
                </a:cubicBezTo>
                <a:lnTo>
                  <a:pt x="44017" y="112042"/>
                </a:lnTo>
                <a:lnTo>
                  <a:pt x="58022" y="112042"/>
                </a:lnTo>
                <a:lnTo>
                  <a:pt x="58022" y="122046"/>
                </a:lnTo>
                <a:cubicBezTo>
                  <a:pt x="58022" y="125372"/>
                  <a:pt x="60698" y="128048"/>
                  <a:pt x="64024" y="128048"/>
                </a:cubicBezTo>
                <a:cubicBezTo>
                  <a:pt x="67350" y="128048"/>
                  <a:pt x="70026" y="125372"/>
                  <a:pt x="70026" y="122046"/>
                </a:cubicBezTo>
                <a:lnTo>
                  <a:pt x="70026" y="112042"/>
                </a:lnTo>
                <a:lnTo>
                  <a:pt x="84032" y="112042"/>
                </a:lnTo>
                <a:lnTo>
                  <a:pt x="84032" y="122046"/>
                </a:lnTo>
                <a:cubicBezTo>
                  <a:pt x="84032" y="125372"/>
                  <a:pt x="86708" y="128048"/>
                  <a:pt x="90034" y="128048"/>
                </a:cubicBezTo>
                <a:cubicBezTo>
                  <a:pt x="93360" y="128048"/>
                  <a:pt x="96036" y="125372"/>
                  <a:pt x="96036" y="122046"/>
                </a:cubicBezTo>
                <a:lnTo>
                  <a:pt x="96036" y="112042"/>
                </a:lnTo>
                <a:cubicBezTo>
                  <a:pt x="104864" y="112042"/>
                  <a:pt x="112042" y="104864"/>
                  <a:pt x="112042" y="96036"/>
                </a:cubicBezTo>
                <a:lnTo>
                  <a:pt x="122046" y="96036"/>
                </a:lnTo>
                <a:cubicBezTo>
                  <a:pt x="125372" y="96036"/>
                  <a:pt x="128048" y="93360"/>
                  <a:pt x="128048" y="90034"/>
                </a:cubicBezTo>
                <a:cubicBezTo>
                  <a:pt x="128048" y="86708"/>
                  <a:pt x="125372" y="84032"/>
                  <a:pt x="122046" y="84032"/>
                </a:cubicBezTo>
                <a:lnTo>
                  <a:pt x="112042" y="84032"/>
                </a:lnTo>
                <a:lnTo>
                  <a:pt x="112042" y="70026"/>
                </a:lnTo>
                <a:lnTo>
                  <a:pt x="122046" y="70026"/>
                </a:lnTo>
                <a:cubicBezTo>
                  <a:pt x="125372" y="70026"/>
                  <a:pt x="128048" y="67350"/>
                  <a:pt x="128048" y="64024"/>
                </a:cubicBezTo>
                <a:cubicBezTo>
                  <a:pt x="128048" y="60698"/>
                  <a:pt x="125372" y="58022"/>
                  <a:pt x="122046" y="58022"/>
                </a:cubicBezTo>
                <a:lnTo>
                  <a:pt x="112042" y="58022"/>
                </a:lnTo>
                <a:lnTo>
                  <a:pt x="112042" y="44017"/>
                </a:lnTo>
                <a:lnTo>
                  <a:pt x="122046" y="44017"/>
                </a:lnTo>
                <a:cubicBezTo>
                  <a:pt x="125372" y="44017"/>
                  <a:pt x="128048" y="41341"/>
                  <a:pt x="128048" y="38014"/>
                </a:cubicBezTo>
                <a:cubicBezTo>
                  <a:pt x="128048" y="34688"/>
                  <a:pt x="125372" y="32012"/>
                  <a:pt x="122046" y="32012"/>
                </a:cubicBezTo>
                <a:lnTo>
                  <a:pt x="112042" y="32012"/>
                </a:lnTo>
                <a:cubicBezTo>
                  <a:pt x="112042" y="23184"/>
                  <a:pt x="104864" y="16006"/>
                  <a:pt x="96036" y="16006"/>
                </a:cubicBezTo>
                <a:lnTo>
                  <a:pt x="96036" y="6002"/>
                </a:lnTo>
                <a:cubicBezTo>
                  <a:pt x="96036" y="2676"/>
                  <a:pt x="93360" y="0"/>
                  <a:pt x="90034" y="0"/>
                </a:cubicBezTo>
                <a:cubicBezTo>
                  <a:pt x="86708" y="0"/>
                  <a:pt x="84032" y="2676"/>
                  <a:pt x="84032" y="6002"/>
                </a:cubicBezTo>
                <a:lnTo>
                  <a:pt x="84032" y="16006"/>
                </a:lnTo>
                <a:lnTo>
                  <a:pt x="70026" y="16006"/>
                </a:lnTo>
                <a:lnTo>
                  <a:pt x="70026" y="6002"/>
                </a:lnTo>
                <a:cubicBezTo>
                  <a:pt x="70026" y="2676"/>
                  <a:pt x="67350" y="0"/>
                  <a:pt x="64024" y="0"/>
                </a:cubicBezTo>
                <a:cubicBezTo>
                  <a:pt x="60698" y="0"/>
                  <a:pt x="58022" y="2676"/>
                  <a:pt x="58022" y="6002"/>
                </a:cubicBezTo>
                <a:lnTo>
                  <a:pt x="58022" y="16006"/>
                </a:lnTo>
                <a:lnTo>
                  <a:pt x="44017" y="16006"/>
                </a:lnTo>
                <a:lnTo>
                  <a:pt x="44017" y="6002"/>
                </a:lnTo>
                <a:close/>
                <a:moveTo>
                  <a:pt x="40015" y="32012"/>
                </a:moveTo>
                <a:lnTo>
                  <a:pt x="88033" y="32012"/>
                </a:lnTo>
                <a:cubicBezTo>
                  <a:pt x="92460" y="32012"/>
                  <a:pt x="96036" y="35588"/>
                  <a:pt x="96036" y="40015"/>
                </a:cubicBezTo>
                <a:lnTo>
                  <a:pt x="96036" y="88033"/>
                </a:lnTo>
                <a:cubicBezTo>
                  <a:pt x="96036" y="92460"/>
                  <a:pt x="92460" y="96036"/>
                  <a:pt x="88033" y="96036"/>
                </a:cubicBezTo>
                <a:lnTo>
                  <a:pt x="40015" y="96036"/>
                </a:lnTo>
                <a:cubicBezTo>
                  <a:pt x="35588" y="96036"/>
                  <a:pt x="32012" y="92460"/>
                  <a:pt x="32012" y="88033"/>
                </a:cubicBezTo>
                <a:lnTo>
                  <a:pt x="32012" y="40015"/>
                </a:lnTo>
                <a:cubicBezTo>
                  <a:pt x="32012" y="35588"/>
                  <a:pt x="35588" y="32012"/>
                  <a:pt x="40015" y="32012"/>
                </a:cubicBezTo>
                <a:close/>
                <a:moveTo>
                  <a:pt x="44017" y="44017"/>
                </a:moveTo>
                <a:lnTo>
                  <a:pt x="44017" y="84032"/>
                </a:lnTo>
                <a:lnTo>
                  <a:pt x="84032" y="84032"/>
                </a:lnTo>
                <a:lnTo>
                  <a:pt x="84032" y="44017"/>
                </a:lnTo>
                <a:lnTo>
                  <a:pt x="44017" y="44017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4"/>
          <p:cNvSpPr/>
          <p:nvPr/>
        </p:nvSpPr>
        <p:spPr>
          <a:xfrm>
            <a:off x="6993765" y="4223298"/>
            <a:ext cx="187498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993765" y="4442809"/>
            <a:ext cx="186584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des ressources CPU/RAM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591329" y="4698905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FF6900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7"/>
          <p:cNvSpPr/>
          <p:nvPr/>
        </p:nvSpPr>
        <p:spPr>
          <a:xfrm>
            <a:off x="6667929" y="4781221"/>
            <a:ext cx="144054" cy="128048"/>
          </a:xfrm>
          <a:custGeom>
            <a:avLst/>
            <a:gdLst/>
            <a:ahLst/>
            <a:cxnLst/>
            <a:rect l="l" t="t" r="r" b="b"/>
            <a:pathLst>
              <a:path w="144054" h="128048">
                <a:moveTo>
                  <a:pt x="62023" y="22008"/>
                </a:moveTo>
                <a:lnTo>
                  <a:pt x="82031" y="22008"/>
                </a:lnTo>
                <a:lnTo>
                  <a:pt x="82031" y="34013"/>
                </a:lnTo>
                <a:lnTo>
                  <a:pt x="62023" y="34013"/>
                </a:lnTo>
                <a:lnTo>
                  <a:pt x="62023" y="22008"/>
                </a:lnTo>
                <a:close/>
                <a:moveTo>
                  <a:pt x="60023" y="8003"/>
                </a:moveTo>
                <a:cubicBezTo>
                  <a:pt x="53395" y="8003"/>
                  <a:pt x="48018" y="13380"/>
                  <a:pt x="48018" y="20008"/>
                </a:cubicBezTo>
                <a:lnTo>
                  <a:pt x="48018" y="36014"/>
                </a:lnTo>
                <a:cubicBezTo>
                  <a:pt x="48018" y="42641"/>
                  <a:pt x="53395" y="48018"/>
                  <a:pt x="60023" y="48018"/>
                </a:cubicBezTo>
                <a:lnTo>
                  <a:pt x="64024" y="48018"/>
                </a:lnTo>
                <a:lnTo>
                  <a:pt x="64024" y="56021"/>
                </a:lnTo>
                <a:lnTo>
                  <a:pt x="8003" y="56021"/>
                </a:lnTo>
                <a:cubicBezTo>
                  <a:pt x="3576" y="56021"/>
                  <a:pt x="0" y="59597"/>
                  <a:pt x="0" y="64024"/>
                </a:cubicBezTo>
                <a:cubicBezTo>
                  <a:pt x="0" y="68451"/>
                  <a:pt x="3576" y="72027"/>
                  <a:pt x="8003" y="72027"/>
                </a:cubicBezTo>
                <a:lnTo>
                  <a:pt x="32012" y="72027"/>
                </a:lnTo>
                <a:lnTo>
                  <a:pt x="32012" y="80030"/>
                </a:lnTo>
                <a:lnTo>
                  <a:pt x="28011" y="80030"/>
                </a:lnTo>
                <a:cubicBezTo>
                  <a:pt x="21383" y="80030"/>
                  <a:pt x="16006" y="85407"/>
                  <a:pt x="16006" y="92035"/>
                </a:cubicBezTo>
                <a:lnTo>
                  <a:pt x="16006" y="108041"/>
                </a:lnTo>
                <a:cubicBezTo>
                  <a:pt x="16006" y="114668"/>
                  <a:pt x="21383" y="120045"/>
                  <a:pt x="28011" y="120045"/>
                </a:cubicBezTo>
                <a:lnTo>
                  <a:pt x="52020" y="120045"/>
                </a:lnTo>
                <a:cubicBezTo>
                  <a:pt x="58647" y="120045"/>
                  <a:pt x="64024" y="114668"/>
                  <a:pt x="64024" y="108041"/>
                </a:cubicBezTo>
                <a:lnTo>
                  <a:pt x="64024" y="92035"/>
                </a:lnTo>
                <a:cubicBezTo>
                  <a:pt x="64024" y="85407"/>
                  <a:pt x="58647" y="80030"/>
                  <a:pt x="52020" y="80030"/>
                </a:cubicBezTo>
                <a:lnTo>
                  <a:pt x="48018" y="80030"/>
                </a:lnTo>
                <a:lnTo>
                  <a:pt x="48018" y="72027"/>
                </a:lnTo>
                <a:lnTo>
                  <a:pt x="96036" y="72027"/>
                </a:lnTo>
                <a:lnTo>
                  <a:pt x="96036" y="80030"/>
                </a:lnTo>
                <a:lnTo>
                  <a:pt x="92035" y="80030"/>
                </a:lnTo>
                <a:cubicBezTo>
                  <a:pt x="85407" y="80030"/>
                  <a:pt x="80030" y="85407"/>
                  <a:pt x="80030" y="92035"/>
                </a:cubicBezTo>
                <a:lnTo>
                  <a:pt x="80030" y="108041"/>
                </a:lnTo>
                <a:cubicBezTo>
                  <a:pt x="80030" y="114668"/>
                  <a:pt x="85407" y="120045"/>
                  <a:pt x="92035" y="120045"/>
                </a:cubicBezTo>
                <a:lnTo>
                  <a:pt x="116044" y="120045"/>
                </a:lnTo>
                <a:cubicBezTo>
                  <a:pt x="122671" y="120045"/>
                  <a:pt x="128048" y="114668"/>
                  <a:pt x="128048" y="108041"/>
                </a:cubicBezTo>
                <a:lnTo>
                  <a:pt x="128048" y="92035"/>
                </a:lnTo>
                <a:cubicBezTo>
                  <a:pt x="128048" y="85407"/>
                  <a:pt x="122671" y="80030"/>
                  <a:pt x="116044" y="80030"/>
                </a:cubicBezTo>
                <a:lnTo>
                  <a:pt x="112042" y="80030"/>
                </a:lnTo>
                <a:lnTo>
                  <a:pt x="112042" y="72027"/>
                </a:lnTo>
                <a:lnTo>
                  <a:pt x="136051" y="72027"/>
                </a:lnTo>
                <a:cubicBezTo>
                  <a:pt x="140478" y="72027"/>
                  <a:pt x="144054" y="68451"/>
                  <a:pt x="144054" y="64024"/>
                </a:cubicBezTo>
                <a:cubicBezTo>
                  <a:pt x="144054" y="59597"/>
                  <a:pt x="140478" y="56021"/>
                  <a:pt x="136051" y="56021"/>
                </a:cubicBezTo>
                <a:lnTo>
                  <a:pt x="80030" y="56021"/>
                </a:lnTo>
                <a:lnTo>
                  <a:pt x="80030" y="48018"/>
                </a:lnTo>
                <a:lnTo>
                  <a:pt x="84032" y="48018"/>
                </a:lnTo>
                <a:cubicBezTo>
                  <a:pt x="90659" y="48018"/>
                  <a:pt x="96036" y="42641"/>
                  <a:pt x="96036" y="36014"/>
                </a:cubicBezTo>
                <a:lnTo>
                  <a:pt x="96036" y="20008"/>
                </a:lnTo>
                <a:cubicBezTo>
                  <a:pt x="96036" y="13380"/>
                  <a:pt x="90659" y="8003"/>
                  <a:pt x="84032" y="8003"/>
                </a:cubicBezTo>
                <a:lnTo>
                  <a:pt x="60023" y="8003"/>
                </a:lnTo>
                <a:close/>
                <a:moveTo>
                  <a:pt x="112042" y="94035"/>
                </a:moveTo>
                <a:lnTo>
                  <a:pt x="114043" y="94035"/>
                </a:lnTo>
                <a:lnTo>
                  <a:pt x="114043" y="106040"/>
                </a:lnTo>
                <a:lnTo>
                  <a:pt x="94035" y="106040"/>
                </a:lnTo>
                <a:lnTo>
                  <a:pt x="94035" y="94035"/>
                </a:lnTo>
                <a:lnTo>
                  <a:pt x="112042" y="94035"/>
                </a:lnTo>
                <a:close/>
                <a:moveTo>
                  <a:pt x="48018" y="94035"/>
                </a:moveTo>
                <a:lnTo>
                  <a:pt x="50019" y="94035"/>
                </a:lnTo>
                <a:lnTo>
                  <a:pt x="50019" y="106040"/>
                </a:lnTo>
                <a:lnTo>
                  <a:pt x="30011" y="106040"/>
                </a:lnTo>
                <a:lnTo>
                  <a:pt x="30011" y="94035"/>
                </a:lnTo>
                <a:lnTo>
                  <a:pt x="48018" y="94035"/>
                </a:ln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8"/>
          <p:cNvSpPr/>
          <p:nvPr/>
        </p:nvSpPr>
        <p:spPr>
          <a:xfrm>
            <a:off x="6993765" y="4698905"/>
            <a:ext cx="2167670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Transfert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993764" y="4838710"/>
            <a:ext cx="2653669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des entrées/sorties de données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591329" y="5174512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FF6900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6659926" y="5256828"/>
            <a:ext cx="160060" cy="128048"/>
          </a:xfrm>
          <a:custGeom>
            <a:avLst/>
            <a:gdLst/>
            <a:ahLst/>
            <a:cxnLst/>
            <a:rect l="l" t="t" r="r" b="b"/>
            <a:pathLst>
              <a:path w="160060" h="128048">
                <a:moveTo>
                  <a:pt x="104014" y="52645"/>
                </a:moveTo>
                <a:cubicBezTo>
                  <a:pt x="107065" y="51819"/>
                  <a:pt x="110266" y="53270"/>
                  <a:pt x="111642" y="56096"/>
                </a:cubicBezTo>
                <a:lnTo>
                  <a:pt x="116294" y="65500"/>
                </a:lnTo>
                <a:cubicBezTo>
                  <a:pt x="118870" y="65850"/>
                  <a:pt x="121396" y="66550"/>
                  <a:pt x="123771" y="67525"/>
                </a:cubicBezTo>
                <a:lnTo>
                  <a:pt x="132525" y="61698"/>
                </a:lnTo>
                <a:cubicBezTo>
                  <a:pt x="135151" y="59947"/>
                  <a:pt x="138627" y="60298"/>
                  <a:pt x="140853" y="62523"/>
                </a:cubicBezTo>
                <a:lnTo>
                  <a:pt x="145655" y="67325"/>
                </a:lnTo>
                <a:cubicBezTo>
                  <a:pt x="147880" y="69551"/>
                  <a:pt x="148231" y="73052"/>
                  <a:pt x="146480" y="75653"/>
                </a:cubicBezTo>
                <a:lnTo>
                  <a:pt x="140653" y="84382"/>
                </a:lnTo>
                <a:cubicBezTo>
                  <a:pt x="141128" y="85557"/>
                  <a:pt x="141553" y="86783"/>
                  <a:pt x="141903" y="88058"/>
                </a:cubicBezTo>
                <a:cubicBezTo>
                  <a:pt x="142253" y="89333"/>
                  <a:pt x="142478" y="90584"/>
                  <a:pt x="142653" y="91859"/>
                </a:cubicBezTo>
                <a:lnTo>
                  <a:pt x="152082" y="96511"/>
                </a:lnTo>
                <a:cubicBezTo>
                  <a:pt x="154908" y="97912"/>
                  <a:pt x="156359" y="101113"/>
                  <a:pt x="155533" y="104139"/>
                </a:cubicBezTo>
                <a:lnTo>
                  <a:pt x="153783" y="110692"/>
                </a:lnTo>
                <a:cubicBezTo>
                  <a:pt x="152957" y="113718"/>
                  <a:pt x="150131" y="115768"/>
                  <a:pt x="146980" y="115568"/>
                </a:cubicBezTo>
                <a:lnTo>
                  <a:pt x="136476" y="114893"/>
                </a:lnTo>
                <a:cubicBezTo>
                  <a:pt x="134901" y="116919"/>
                  <a:pt x="133075" y="118795"/>
                  <a:pt x="130999" y="120395"/>
                </a:cubicBezTo>
                <a:lnTo>
                  <a:pt x="131674" y="130874"/>
                </a:lnTo>
                <a:cubicBezTo>
                  <a:pt x="131874" y="134025"/>
                  <a:pt x="129824" y="136876"/>
                  <a:pt x="126798" y="137677"/>
                </a:cubicBezTo>
                <a:lnTo>
                  <a:pt x="120245" y="139427"/>
                </a:lnTo>
                <a:cubicBezTo>
                  <a:pt x="117194" y="140253"/>
                  <a:pt x="114018" y="138802"/>
                  <a:pt x="112617" y="135976"/>
                </a:cubicBezTo>
                <a:lnTo>
                  <a:pt x="107965" y="126572"/>
                </a:lnTo>
                <a:cubicBezTo>
                  <a:pt x="105390" y="126222"/>
                  <a:pt x="102864" y="125522"/>
                  <a:pt x="100488" y="124547"/>
                </a:cubicBezTo>
                <a:lnTo>
                  <a:pt x="91734" y="130374"/>
                </a:lnTo>
                <a:cubicBezTo>
                  <a:pt x="89108" y="132125"/>
                  <a:pt x="85632" y="131774"/>
                  <a:pt x="83406" y="129549"/>
                </a:cubicBezTo>
                <a:lnTo>
                  <a:pt x="78604" y="124747"/>
                </a:lnTo>
                <a:cubicBezTo>
                  <a:pt x="76379" y="122521"/>
                  <a:pt x="76029" y="119045"/>
                  <a:pt x="77779" y="116419"/>
                </a:cubicBezTo>
                <a:lnTo>
                  <a:pt x="83606" y="107665"/>
                </a:lnTo>
                <a:cubicBezTo>
                  <a:pt x="83131" y="106490"/>
                  <a:pt x="82706" y="105264"/>
                  <a:pt x="82356" y="103989"/>
                </a:cubicBezTo>
                <a:cubicBezTo>
                  <a:pt x="82006" y="102714"/>
                  <a:pt x="81781" y="101438"/>
                  <a:pt x="81606" y="100188"/>
                </a:cubicBezTo>
                <a:lnTo>
                  <a:pt x="72177" y="95536"/>
                </a:lnTo>
                <a:cubicBezTo>
                  <a:pt x="69351" y="94135"/>
                  <a:pt x="67925" y="90934"/>
                  <a:pt x="68726" y="87908"/>
                </a:cubicBezTo>
                <a:lnTo>
                  <a:pt x="70476" y="81356"/>
                </a:lnTo>
                <a:cubicBezTo>
                  <a:pt x="71302" y="78329"/>
                  <a:pt x="74128" y="76279"/>
                  <a:pt x="77279" y="76479"/>
                </a:cubicBezTo>
                <a:lnTo>
                  <a:pt x="87758" y="77154"/>
                </a:lnTo>
                <a:cubicBezTo>
                  <a:pt x="89333" y="75128"/>
                  <a:pt x="91159" y="73252"/>
                  <a:pt x="93235" y="71652"/>
                </a:cubicBezTo>
                <a:lnTo>
                  <a:pt x="92560" y="61198"/>
                </a:lnTo>
                <a:cubicBezTo>
                  <a:pt x="92360" y="58047"/>
                  <a:pt x="94410" y="55196"/>
                  <a:pt x="97437" y="54395"/>
                </a:cubicBezTo>
                <a:lnTo>
                  <a:pt x="103989" y="52645"/>
                </a:lnTo>
                <a:close/>
                <a:moveTo>
                  <a:pt x="112142" y="85032"/>
                </a:moveTo>
                <a:cubicBezTo>
                  <a:pt x="106069" y="85039"/>
                  <a:pt x="101144" y="89975"/>
                  <a:pt x="101150" y="96049"/>
                </a:cubicBezTo>
                <a:cubicBezTo>
                  <a:pt x="101157" y="102122"/>
                  <a:pt x="106094" y="107047"/>
                  <a:pt x="112167" y="107040"/>
                </a:cubicBezTo>
                <a:cubicBezTo>
                  <a:pt x="118240" y="107033"/>
                  <a:pt x="123166" y="102097"/>
                  <a:pt x="123159" y="96024"/>
                </a:cubicBezTo>
                <a:cubicBezTo>
                  <a:pt x="123152" y="89950"/>
                  <a:pt x="118215" y="85025"/>
                  <a:pt x="112142" y="85032"/>
                </a:cubicBezTo>
                <a:close/>
                <a:moveTo>
                  <a:pt x="56246" y="-11379"/>
                </a:moveTo>
                <a:lnTo>
                  <a:pt x="62799" y="-9629"/>
                </a:lnTo>
                <a:cubicBezTo>
                  <a:pt x="65825" y="-8803"/>
                  <a:pt x="67875" y="-5952"/>
                  <a:pt x="67675" y="-2826"/>
                </a:cubicBezTo>
                <a:lnTo>
                  <a:pt x="67000" y="7628"/>
                </a:lnTo>
                <a:cubicBezTo>
                  <a:pt x="69076" y="9228"/>
                  <a:pt x="70902" y="11079"/>
                  <a:pt x="72477" y="13130"/>
                </a:cubicBezTo>
                <a:lnTo>
                  <a:pt x="82981" y="12455"/>
                </a:lnTo>
                <a:cubicBezTo>
                  <a:pt x="86107" y="12255"/>
                  <a:pt x="88958" y="14305"/>
                  <a:pt x="89784" y="17331"/>
                </a:cubicBezTo>
                <a:lnTo>
                  <a:pt x="91534" y="23884"/>
                </a:lnTo>
                <a:cubicBezTo>
                  <a:pt x="92335" y="26910"/>
                  <a:pt x="90909" y="30111"/>
                  <a:pt x="88083" y="31512"/>
                </a:cubicBezTo>
                <a:lnTo>
                  <a:pt x="78654" y="36164"/>
                </a:lnTo>
                <a:cubicBezTo>
                  <a:pt x="78479" y="37439"/>
                  <a:pt x="78229" y="38715"/>
                  <a:pt x="77904" y="39965"/>
                </a:cubicBezTo>
                <a:cubicBezTo>
                  <a:pt x="77579" y="41215"/>
                  <a:pt x="77129" y="42466"/>
                  <a:pt x="76654" y="43641"/>
                </a:cubicBezTo>
                <a:lnTo>
                  <a:pt x="82481" y="52395"/>
                </a:lnTo>
                <a:cubicBezTo>
                  <a:pt x="84232" y="55021"/>
                  <a:pt x="83881" y="58497"/>
                  <a:pt x="81656" y="60723"/>
                </a:cubicBezTo>
                <a:lnTo>
                  <a:pt x="76854" y="65525"/>
                </a:lnTo>
                <a:cubicBezTo>
                  <a:pt x="74628" y="67750"/>
                  <a:pt x="71152" y="68101"/>
                  <a:pt x="68526" y="66350"/>
                </a:cubicBezTo>
                <a:lnTo>
                  <a:pt x="59772" y="60523"/>
                </a:lnTo>
                <a:cubicBezTo>
                  <a:pt x="57397" y="61498"/>
                  <a:pt x="54871" y="62198"/>
                  <a:pt x="52295" y="62548"/>
                </a:cubicBezTo>
                <a:lnTo>
                  <a:pt x="47643" y="71952"/>
                </a:lnTo>
                <a:cubicBezTo>
                  <a:pt x="46242" y="74778"/>
                  <a:pt x="43041" y="76204"/>
                  <a:pt x="40015" y="75403"/>
                </a:cubicBezTo>
                <a:lnTo>
                  <a:pt x="33463" y="73653"/>
                </a:lnTo>
                <a:cubicBezTo>
                  <a:pt x="30411" y="72827"/>
                  <a:pt x="28386" y="69976"/>
                  <a:pt x="28586" y="66850"/>
                </a:cubicBezTo>
                <a:lnTo>
                  <a:pt x="29261" y="56371"/>
                </a:lnTo>
                <a:cubicBezTo>
                  <a:pt x="27185" y="54771"/>
                  <a:pt x="25360" y="52920"/>
                  <a:pt x="23784" y="50869"/>
                </a:cubicBezTo>
                <a:lnTo>
                  <a:pt x="13280" y="51544"/>
                </a:lnTo>
                <a:cubicBezTo>
                  <a:pt x="10154" y="51744"/>
                  <a:pt x="7303" y="49694"/>
                  <a:pt x="6477" y="46667"/>
                </a:cubicBezTo>
                <a:lnTo>
                  <a:pt x="4727" y="40115"/>
                </a:lnTo>
                <a:cubicBezTo>
                  <a:pt x="3926" y="37089"/>
                  <a:pt x="5352" y="33888"/>
                  <a:pt x="8178" y="32487"/>
                </a:cubicBezTo>
                <a:lnTo>
                  <a:pt x="17607" y="27835"/>
                </a:lnTo>
                <a:cubicBezTo>
                  <a:pt x="17782" y="26560"/>
                  <a:pt x="18032" y="25309"/>
                  <a:pt x="18357" y="24034"/>
                </a:cubicBezTo>
                <a:cubicBezTo>
                  <a:pt x="18707" y="22759"/>
                  <a:pt x="19107" y="21533"/>
                  <a:pt x="19607" y="20358"/>
                </a:cubicBezTo>
                <a:lnTo>
                  <a:pt x="13780" y="11629"/>
                </a:lnTo>
                <a:cubicBezTo>
                  <a:pt x="12030" y="9003"/>
                  <a:pt x="12380" y="5527"/>
                  <a:pt x="14605" y="3301"/>
                </a:cubicBezTo>
                <a:lnTo>
                  <a:pt x="19407" y="-1501"/>
                </a:lnTo>
                <a:cubicBezTo>
                  <a:pt x="21633" y="-3726"/>
                  <a:pt x="25109" y="-4077"/>
                  <a:pt x="27735" y="-2326"/>
                </a:cubicBezTo>
                <a:lnTo>
                  <a:pt x="36489" y="3501"/>
                </a:lnTo>
                <a:cubicBezTo>
                  <a:pt x="38865" y="2526"/>
                  <a:pt x="41391" y="1826"/>
                  <a:pt x="43966" y="1476"/>
                </a:cubicBezTo>
                <a:lnTo>
                  <a:pt x="48618" y="-7928"/>
                </a:lnTo>
                <a:cubicBezTo>
                  <a:pt x="50019" y="-10754"/>
                  <a:pt x="53195" y="-12180"/>
                  <a:pt x="56246" y="-11379"/>
                </a:cubicBezTo>
                <a:close/>
                <a:moveTo>
                  <a:pt x="48118" y="21008"/>
                </a:moveTo>
                <a:cubicBezTo>
                  <a:pt x="42045" y="21008"/>
                  <a:pt x="37114" y="25939"/>
                  <a:pt x="37114" y="32012"/>
                </a:cubicBezTo>
                <a:cubicBezTo>
                  <a:pt x="37114" y="38085"/>
                  <a:pt x="42045" y="43016"/>
                  <a:pt x="48118" y="43016"/>
                </a:cubicBezTo>
                <a:cubicBezTo>
                  <a:pt x="54191" y="43016"/>
                  <a:pt x="59122" y="38085"/>
                  <a:pt x="59122" y="32012"/>
                </a:cubicBezTo>
                <a:cubicBezTo>
                  <a:pt x="59122" y="25939"/>
                  <a:pt x="54191" y="21008"/>
                  <a:pt x="48118" y="21008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6993765" y="5174512"/>
            <a:ext cx="149999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Licences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993765" y="5394023"/>
            <a:ext cx="149084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Frais de logiciels et outils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>
            <a:extLst>
              <a:ext uri="{FF2B5EF4-FFF2-40B4-BE49-F238E27FC236}">
                <a16:creationId xmlns:a16="http://schemas.microsoft.com/office/drawing/2014/main" id="{C1DF0ECC-62C7-BFEA-09CA-7475D16D4884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5" name="Shape 0">
            <a:extLst>
              <a:ext uri="{FF2B5EF4-FFF2-40B4-BE49-F238E27FC236}">
                <a16:creationId xmlns:a16="http://schemas.microsoft.com/office/drawing/2014/main" id="{65BF8C3A-D633-2DF0-DB92-3BA9C6009F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322753" y="322753"/>
            <a:ext cx="1161104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kern="0" spc="5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CONTEXTE &amp; ENJEUX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2753" y="580956"/>
            <a:ext cx="11740146" cy="38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Contexte et Problématique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3919" y="1331357"/>
            <a:ext cx="5220532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6788" y="1247099"/>
            <a:ext cx="5672386" cy="2521044"/>
          </a:xfrm>
          <a:custGeom>
            <a:avLst/>
            <a:gdLst/>
            <a:ahLst/>
            <a:cxnLst/>
            <a:rect l="l" t="t" r="r" b="b"/>
            <a:pathLst>
              <a:path w="5672386" h="2525543">
                <a:moveTo>
                  <a:pt x="129106" y="0"/>
                </a:moveTo>
                <a:lnTo>
                  <a:pt x="5543281" y="0"/>
                </a:lnTo>
                <a:cubicBezTo>
                  <a:pt x="5614584" y="0"/>
                  <a:pt x="5672386" y="57803"/>
                  <a:pt x="5672386" y="129106"/>
                </a:cubicBezTo>
                <a:lnTo>
                  <a:pt x="5672386" y="2396438"/>
                </a:lnTo>
                <a:cubicBezTo>
                  <a:pt x="5672386" y="2467741"/>
                  <a:pt x="5614584" y="2525543"/>
                  <a:pt x="5543281" y="2525543"/>
                </a:cubicBezTo>
                <a:lnTo>
                  <a:pt x="129106" y="2525543"/>
                </a:lnTo>
                <a:cubicBezTo>
                  <a:pt x="57803" y="2525543"/>
                  <a:pt x="0" y="2467741"/>
                  <a:pt x="0" y="2396438"/>
                </a:cubicBezTo>
                <a:lnTo>
                  <a:pt x="0" y="129106"/>
                </a:lnTo>
                <a:cubicBezTo>
                  <a:pt x="0" y="57803"/>
                  <a:pt x="57803" y="0"/>
                  <a:pt x="1291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92199" y="1473191"/>
            <a:ext cx="5422253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 Migration vers le Cloud s'Accélère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96233" y="1932692"/>
            <a:ext cx="2614300" cy="589024"/>
          </a:xfrm>
          <a:custGeom>
            <a:avLst/>
            <a:gdLst/>
            <a:ahLst/>
            <a:cxnLst/>
            <a:rect l="l" t="t" r="r" b="b"/>
            <a:pathLst>
              <a:path w="2614300" h="589024">
                <a:moveTo>
                  <a:pt x="64551" y="0"/>
                </a:moveTo>
                <a:lnTo>
                  <a:pt x="2549749" y="0"/>
                </a:lnTo>
                <a:cubicBezTo>
                  <a:pt x="2585400" y="0"/>
                  <a:pt x="2614300" y="28901"/>
                  <a:pt x="2614300" y="64551"/>
                </a:cubicBezTo>
                <a:lnTo>
                  <a:pt x="2614300" y="524473"/>
                </a:lnTo>
                <a:cubicBezTo>
                  <a:pt x="2614300" y="560124"/>
                  <a:pt x="2585400" y="589024"/>
                  <a:pt x="2549749" y="589024"/>
                </a:cubicBezTo>
                <a:lnTo>
                  <a:pt x="64551" y="589024"/>
                </a:lnTo>
                <a:cubicBezTo>
                  <a:pt x="28901" y="589024"/>
                  <a:pt x="0" y="560124"/>
                  <a:pt x="0" y="524473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3C0366">
              <a:alpha val="50196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13231" y="2065827"/>
            <a:ext cx="129101" cy="129101"/>
          </a:xfrm>
          <a:custGeom>
            <a:avLst/>
            <a:gdLst/>
            <a:ahLst/>
            <a:cxnLst/>
            <a:rect l="l" t="t" r="r" b="b"/>
            <a:pathLst>
              <a:path w="129101" h="129101">
                <a:moveTo>
                  <a:pt x="32275" y="80688"/>
                </a:moveTo>
                <a:lnTo>
                  <a:pt x="6178" y="80688"/>
                </a:lnTo>
                <a:cubicBezTo>
                  <a:pt x="-101" y="80688"/>
                  <a:pt x="-3959" y="73855"/>
                  <a:pt x="-731" y="68459"/>
                </a:cubicBezTo>
                <a:lnTo>
                  <a:pt x="12608" y="46219"/>
                </a:lnTo>
                <a:cubicBezTo>
                  <a:pt x="14801" y="42563"/>
                  <a:pt x="18735" y="40344"/>
                  <a:pt x="22996" y="40344"/>
                </a:cubicBezTo>
                <a:lnTo>
                  <a:pt x="46950" y="40344"/>
                </a:lnTo>
                <a:cubicBezTo>
                  <a:pt x="66139" y="7842"/>
                  <a:pt x="94758" y="6203"/>
                  <a:pt x="113897" y="9002"/>
                </a:cubicBezTo>
                <a:cubicBezTo>
                  <a:pt x="117124" y="9481"/>
                  <a:pt x="119646" y="12002"/>
                  <a:pt x="120099" y="15205"/>
                </a:cubicBezTo>
                <a:cubicBezTo>
                  <a:pt x="122898" y="34343"/>
                  <a:pt x="121259" y="62962"/>
                  <a:pt x="88757" y="82151"/>
                </a:cubicBezTo>
                <a:lnTo>
                  <a:pt x="88757" y="106105"/>
                </a:lnTo>
                <a:cubicBezTo>
                  <a:pt x="88757" y="110366"/>
                  <a:pt x="86538" y="114300"/>
                  <a:pt x="82882" y="116494"/>
                </a:cubicBezTo>
                <a:lnTo>
                  <a:pt x="60642" y="129832"/>
                </a:lnTo>
                <a:cubicBezTo>
                  <a:pt x="55271" y="133060"/>
                  <a:pt x="48413" y="129177"/>
                  <a:pt x="48413" y="122924"/>
                </a:cubicBezTo>
                <a:lnTo>
                  <a:pt x="48413" y="96826"/>
                </a:lnTo>
                <a:cubicBezTo>
                  <a:pt x="48413" y="87925"/>
                  <a:pt x="41176" y="80688"/>
                  <a:pt x="32275" y="80688"/>
                </a:cubicBezTo>
                <a:lnTo>
                  <a:pt x="32250" y="80688"/>
                </a:lnTo>
                <a:close/>
                <a:moveTo>
                  <a:pt x="100860" y="40344"/>
                </a:moveTo>
                <a:cubicBezTo>
                  <a:pt x="100860" y="33664"/>
                  <a:pt x="95437" y="28241"/>
                  <a:pt x="88757" y="28241"/>
                </a:cubicBezTo>
                <a:cubicBezTo>
                  <a:pt x="82077" y="28241"/>
                  <a:pt x="76654" y="33664"/>
                  <a:pt x="76654" y="40344"/>
                </a:cubicBezTo>
                <a:cubicBezTo>
                  <a:pt x="76654" y="47024"/>
                  <a:pt x="82077" y="52447"/>
                  <a:pt x="88757" y="52447"/>
                </a:cubicBezTo>
                <a:cubicBezTo>
                  <a:pt x="95437" y="52447"/>
                  <a:pt x="100860" y="47024"/>
                  <a:pt x="100860" y="40344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23021" y="2105272"/>
            <a:ext cx="2346138" cy="12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Migration  des </a:t>
            </a:r>
            <a:r>
              <a:rPr lang="en-US" sz="1017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entreprises</a:t>
            </a: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017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</a:t>
            </a: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 Cloud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7093" y="2340164"/>
            <a:ext cx="246906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Plus d'agilité et flexibilité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13537" y="1932692"/>
            <a:ext cx="2614300" cy="589024"/>
          </a:xfrm>
          <a:custGeom>
            <a:avLst/>
            <a:gdLst/>
            <a:ahLst/>
            <a:cxnLst/>
            <a:rect l="l" t="t" r="r" b="b"/>
            <a:pathLst>
              <a:path w="2614300" h="589024">
                <a:moveTo>
                  <a:pt x="64551" y="0"/>
                </a:moveTo>
                <a:lnTo>
                  <a:pt x="2549749" y="0"/>
                </a:lnTo>
                <a:cubicBezTo>
                  <a:pt x="2585400" y="0"/>
                  <a:pt x="2614300" y="28901"/>
                  <a:pt x="2614300" y="64551"/>
                </a:cubicBezTo>
                <a:lnTo>
                  <a:pt x="2614300" y="524473"/>
                </a:lnTo>
                <a:cubicBezTo>
                  <a:pt x="2614300" y="560124"/>
                  <a:pt x="2585400" y="589024"/>
                  <a:pt x="2549749" y="589024"/>
                </a:cubicBezTo>
                <a:lnTo>
                  <a:pt x="64551" y="589024"/>
                </a:lnTo>
                <a:cubicBezTo>
                  <a:pt x="28901" y="589024"/>
                  <a:pt x="0" y="560124"/>
                  <a:pt x="0" y="524473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3C0366">
              <a:alpha val="50196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3338604" y="2065827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12964" y="51893"/>
                </a:moveTo>
                <a:cubicBezTo>
                  <a:pt x="109232" y="54364"/>
                  <a:pt x="104945" y="56356"/>
                  <a:pt x="100482" y="57944"/>
                </a:cubicBezTo>
                <a:cubicBezTo>
                  <a:pt x="88631" y="62180"/>
                  <a:pt x="73073" y="64551"/>
                  <a:pt x="56482" y="64551"/>
                </a:cubicBezTo>
                <a:cubicBezTo>
                  <a:pt x="39890" y="64551"/>
                  <a:pt x="24307" y="62155"/>
                  <a:pt x="12481" y="57944"/>
                </a:cubicBezTo>
                <a:cubicBezTo>
                  <a:pt x="8044" y="56356"/>
                  <a:pt x="3732" y="54364"/>
                  <a:pt x="0" y="51893"/>
                </a:cubicBezTo>
                <a:lnTo>
                  <a:pt x="0" y="72619"/>
                </a:lnTo>
                <a:cubicBezTo>
                  <a:pt x="0" y="83765"/>
                  <a:pt x="25291" y="92792"/>
                  <a:pt x="56482" y="92792"/>
                </a:cubicBezTo>
                <a:cubicBezTo>
                  <a:pt x="87673" y="92792"/>
                  <a:pt x="112964" y="83765"/>
                  <a:pt x="112964" y="72619"/>
                </a:cubicBezTo>
                <a:lnTo>
                  <a:pt x="112964" y="51893"/>
                </a:lnTo>
                <a:close/>
                <a:moveTo>
                  <a:pt x="112964" y="32275"/>
                </a:moveTo>
                <a:lnTo>
                  <a:pt x="112964" y="20172"/>
                </a:lnTo>
                <a:cubicBezTo>
                  <a:pt x="112964" y="9027"/>
                  <a:pt x="87673" y="0"/>
                  <a:pt x="56482" y="0"/>
                </a:cubicBezTo>
                <a:cubicBezTo>
                  <a:pt x="25291" y="0"/>
                  <a:pt x="0" y="9027"/>
                  <a:pt x="0" y="20172"/>
                </a:cubicBezTo>
                <a:lnTo>
                  <a:pt x="0" y="32275"/>
                </a:lnTo>
                <a:cubicBezTo>
                  <a:pt x="0" y="43420"/>
                  <a:pt x="25291" y="52447"/>
                  <a:pt x="56482" y="52447"/>
                </a:cubicBezTo>
                <a:cubicBezTo>
                  <a:pt x="87673" y="52447"/>
                  <a:pt x="112964" y="43420"/>
                  <a:pt x="112964" y="32275"/>
                </a:cubicBezTo>
                <a:close/>
                <a:moveTo>
                  <a:pt x="100482" y="98288"/>
                </a:moveTo>
                <a:cubicBezTo>
                  <a:pt x="88656" y="102499"/>
                  <a:pt x="73099" y="104895"/>
                  <a:pt x="56482" y="104895"/>
                </a:cubicBezTo>
                <a:cubicBezTo>
                  <a:pt x="39865" y="104895"/>
                  <a:pt x="24307" y="102499"/>
                  <a:pt x="12481" y="98288"/>
                </a:cubicBezTo>
                <a:cubicBezTo>
                  <a:pt x="8044" y="96700"/>
                  <a:pt x="3732" y="94708"/>
                  <a:pt x="0" y="92237"/>
                </a:cubicBezTo>
                <a:lnTo>
                  <a:pt x="0" y="108929"/>
                </a:lnTo>
                <a:cubicBezTo>
                  <a:pt x="0" y="120074"/>
                  <a:pt x="25291" y="129101"/>
                  <a:pt x="56482" y="129101"/>
                </a:cubicBezTo>
                <a:cubicBezTo>
                  <a:pt x="87673" y="129101"/>
                  <a:pt x="112964" y="120074"/>
                  <a:pt x="112964" y="108929"/>
                </a:cubicBezTo>
                <a:lnTo>
                  <a:pt x="112964" y="92237"/>
                </a:lnTo>
                <a:cubicBezTo>
                  <a:pt x="109232" y="94708"/>
                  <a:pt x="104945" y="96700"/>
                  <a:pt x="100482" y="98288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3540325" y="2033552"/>
            <a:ext cx="1516940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Explosion des Volumes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14397" y="2259479"/>
            <a:ext cx="246906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Croissance 10x en 5 ans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6233" y="2662475"/>
            <a:ext cx="2614300" cy="589024"/>
          </a:xfrm>
          <a:custGeom>
            <a:avLst/>
            <a:gdLst/>
            <a:ahLst/>
            <a:cxnLst/>
            <a:rect l="l" t="t" r="r" b="b"/>
            <a:pathLst>
              <a:path w="2614300" h="589024">
                <a:moveTo>
                  <a:pt x="64551" y="0"/>
                </a:moveTo>
                <a:lnTo>
                  <a:pt x="2549749" y="0"/>
                </a:lnTo>
                <a:cubicBezTo>
                  <a:pt x="2585400" y="0"/>
                  <a:pt x="2614300" y="28901"/>
                  <a:pt x="2614300" y="64551"/>
                </a:cubicBezTo>
                <a:lnTo>
                  <a:pt x="2614300" y="524473"/>
                </a:lnTo>
                <a:cubicBezTo>
                  <a:pt x="2614300" y="560124"/>
                  <a:pt x="2585400" y="589024"/>
                  <a:pt x="2549749" y="589024"/>
                </a:cubicBezTo>
                <a:lnTo>
                  <a:pt x="64551" y="589024"/>
                </a:lnTo>
                <a:cubicBezTo>
                  <a:pt x="28901" y="589024"/>
                  <a:pt x="0" y="560124"/>
                  <a:pt x="0" y="524473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3C0366">
              <a:alpha val="50196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97093" y="2759747"/>
            <a:ext cx="161377" cy="129101"/>
          </a:xfrm>
          <a:custGeom>
            <a:avLst/>
            <a:gdLst/>
            <a:ahLst/>
            <a:cxnLst/>
            <a:rect l="l" t="t" r="r" b="b"/>
            <a:pathLst>
              <a:path w="161377" h="129101">
                <a:moveTo>
                  <a:pt x="80688" y="4034"/>
                </a:moveTo>
                <a:cubicBezTo>
                  <a:pt x="95162" y="4034"/>
                  <a:pt x="106912" y="15785"/>
                  <a:pt x="106912" y="30258"/>
                </a:cubicBezTo>
                <a:cubicBezTo>
                  <a:pt x="106912" y="44731"/>
                  <a:pt x="95162" y="56482"/>
                  <a:pt x="80688" y="56482"/>
                </a:cubicBezTo>
                <a:cubicBezTo>
                  <a:pt x="66215" y="56482"/>
                  <a:pt x="54465" y="44731"/>
                  <a:pt x="54465" y="30258"/>
                </a:cubicBezTo>
                <a:cubicBezTo>
                  <a:pt x="54465" y="15785"/>
                  <a:pt x="66215" y="4034"/>
                  <a:pt x="80688" y="4034"/>
                </a:cubicBezTo>
                <a:close/>
                <a:moveTo>
                  <a:pt x="24206" y="22189"/>
                </a:moveTo>
                <a:cubicBezTo>
                  <a:pt x="34226" y="22189"/>
                  <a:pt x="42361" y="30324"/>
                  <a:pt x="42361" y="40344"/>
                </a:cubicBezTo>
                <a:cubicBezTo>
                  <a:pt x="42361" y="50364"/>
                  <a:pt x="34226" y="58499"/>
                  <a:pt x="24206" y="58499"/>
                </a:cubicBezTo>
                <a:cubicBezTo>
                  <a:pt x="14187" y="58499"/>
                  <a:pt x="6052" y="50364"/>
                  <a:pt x="6052" y="40344"/>
                </a:cubicBezTo>
                <a:cubicBezTo>
                  <a:pt x="6052" y="30324"/>
                  <a:pt x="14187" y="22189"/>
                  <a:pt x="24206" y="22189"/>
                </a:cubicBezTo>
                <a:close/>
                <a:moveTo>
                  <a:pt x="0" y="104895"/>
                </a:moveTo>
                <a:cubicBezTo>
                  <a:pt x="0" y="87068"/>
                  <a:pt x="14448" y="72619"/>
                  <a:pt x="32275" y="72619"/>
                </a:cubicBezTo>
                <a:cubicBezTo>
                  <a:pt x="35503" y="72619"/>
                  <a:pt x="38630" y="73099"/>
                  <a:pt x="41580" y="73981"/>
                </a:cubicBezTo>
                <a:cubicBezTo>
                  <a:pt x="33284" y="83260"/>
                  <a:pt x="28241" y="95515"/>
                  <a:pt x="28241" y="108929"/>
                </a:cubicBezTo>
                <a:lnTo>
                  <a:pt x="28241" y="112964"/>
                </a:lnTo>
                <a:cubicBezTo>
                  <a:pt x="28241" y="115838"/>
                  <a:pt x="28846" y="118561"/>
                  <a:pt x="29930" y="121032"/>
                </a:cubicBezTo>
                <a:lnTo>
                  <a:pt x="8069" y="121032"/>
                </a:lnTo>
                <a:cubicBezTo>
                  <a:pt x="3606" y="121032"/>
                  <a:pt x="0" y="117427"/>
                  <a:pt x="0" y="112964"/>
                </a:cubicBezTo>
                <a:lnTo>
                  <a:pt x="0" y="104895"/>
                </a:lnTo>
                <a:close/>
                <a:moveTo>
                  <a:pt x="131446" y="121032"/>
                </a:moveTo>
                <a:cubicBezTo>
                  <a:pt x="132531" y="118561"/>
                  <a:pt x="133136" y="115838"/>
                  <a:pt x="133136" y="112964"/>
                </a:cubicBezTo>
                <a:lnTo>
                  <a:pt x="133136" y="108929"/>
                </a:lnTo>
                <a:cubicBezTo>
                  <a:pt x="133136" y="95515"/>
                  <a:pt x="128093" y="83260"/>
                  <a:pt x="119797" y="73981"/>
                </a:cubicBezTo>
                <a:cubicBezTo>
                  <a:pt x="122747" y="73099"/>
                  <a:pt x="125874" y="72619"/>
                  <a:pt x="129101" y="72619"/>
                </a:cubicBezTo>
                <a:cubicBezTo>
                  <a:pt x="146928" y="72619"/>
                  <a:pt x="161377" y="87068"/>
                  <a:pt x="161377" y="104895"/>
                </a:cubicBezTo>
                <a:lnTo>
                  <a:pt x="161377" y="112964"/>
                </a:lnTo>
                <a:cubicBezTo>
                  <a:pt x="161377" y="117427"/>
                  <a:pt x="157771" y="121032"/>
                  <a:pt x="153308" y="121032"/>
                </a:cubicBezTo>
                <a:lnTo>
                  <a:pt x="131446" y="121032"/>
                </a:lnTo>
                <a:close/>
                <a:moveTo>
                  <a:pt x="119015" y="40344"/>
                </a:moveTo>
                <a:cubicBezTo>
                  <a:pt x="119015" y="30324"/>
                  <a:pt x="127150" y="22189"/>
                  <a:pt x="137170" y="22189"/>
                </a:cubicBezTo>
                <a:cubicBezTo>
                  <a:pt x="147190" y="22189"/>
                  <a:pt x="155325" y="30324"/>
                  <a:pt x="155325" y="40344"/>
                </a:cubicBezTo>
                <a:cubicBezTo>
                  <a:pt x="155325" y="50364"/>
                  <a:pt x="147190" y="58499"/>
                  <a:pt x="137170" y="58499"/>
                </a:cubicBezTo>
                <a:cubicBezTo>
                  <a:pt x="127150" y="58499"/>
                  <a:pt x="119015" y="50364"/>
                  <a:pt x="119015" y="40344"/>
                </a:cubicBezTo>
                <a:close/>
                <a:moveTo>
                  <a:pt x="40344" y="108929"/>
                </a:moveTo>
                <a:cubicBezTo>
                  <a:pt x="40344" y="86639"/>
                  <a:pt x="58398" y="68585"/>
                  <a:pt x="80688" y="68585"/>
                </a:cubicBezTo>
                <a:cubicBezTo>
                  <a:pt x="102978" y="68585"/>
                  <a:pt x="121032" y="86639"/>
                  <a:pt x="121032" y="108929"/>
                </a:cubicBezTo>
                <a:lnTo>
                  <a:pt x="121032" y="112964"/>
                </a:lnTo>
                <a:cubicBezTo>
                  <a:pt x="121032" y="117427"/>
                  <a:pt x="117427" y="121032"/>
                  <a:pt x="112964" y="121032"/>
                </a:cubicBezTo>
                <a:lnTo>
                  <a:pt x="48413" y="121032"/>
                </a:lnTo>
                <a:cubicBezTo>
                  <a:pt x="43950" y="121032"/>
                  <a:pt x="40344" y="117427"/>
                  <a:pt x="40344" y="112964"/>
                </a:cubicBezTo>
                <a:lnTo>
                  <a:pt x="40344" y="108929"/>
                </a:ln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23021" y="2727471"/>
            <a:ext cx="136363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Utilisateurs Multiples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97093" y="2953399"/>
            <a:ext cx="246906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Requêtes simultanées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13537" y="2662473"/>
            <a:ext cx="2614300" cy="589024"/>
          </a:xfrm>
          <a:custGeom>
            <a:avLst/>
            <a:gdLst/>
            <a:ahLst/>
            <a:cxnLst/>
            <a:rect l="l" t="t" r="r" b="b"/>
            <a:pathLst>
              <a:path w="2614300" h="589024">
                <a:moveTo>
                  <a:pt x="64551" y="0"/>
                </a:moveTo>
                <a:lnTo>
                  <a:pt x="2549749" y="0"/>
                </a:lnTo>
                <a:cubicBezTo>
                  <a:pt x="2585400" y="0"/>
                  <a:pt x="2614300" y="28901"/>
                  <a:pt x="2614300" y="64551"/>
                </a:cubicBezTo>
                <a:lnTo>
                  <a:pt x="2614300" y="524473"/>
                </a:lnTo>
                <a:cubicBezTo>
                  <a:pt x="2614300" y="560124"/>
                  <a:pt x="2585400" y="589024"/>
                  <a:pt x="2549749" y="589024"/>
                </a:cubicBezTo>
                <a:lnTo>
                  <a:pt x="64551" y="589024"/>
                </a:lnTo>
                <a:cubicBezTo>
                  <a:pt x="28901" y="589024"/>
                  <a:pt x="0" y="560124"/>
                  <a:pt x="0" y="524473"/>
                </a:cubicBezTo>
                <a:lnTo>
                  <a:pt x="0" y="64551"/>
                </a:lnTo>
                <a:cubicBezTo>
                  <a:pt x="0" y="28924"/>
                  <a:pt x="28924" y="0"/>
                  <a:pt x="64551" y="0"/>
                </a:cubicBezTo>
                <a:close/>
              </a:path>
            </a:pathLst>
          </a:custGeom>
          <a:solidFill>
            <a:srgbClr val="3C0366">
              <a:alpha val="50196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3322466" y="2759747"/>
            <a:ext cx="145239" cy="129101"/>
          </a:xfrm>
          <a:custGeom>
            <a:avLst/>
            <a:gdLst/>
            <a:ahLst/>
            <a:cxnLst/>
            <a:rect l="l" t="t" r="r" b="b"/>
            <a:pathLst>
              <a:path w="145239" h="129101">
                <a:moveTo>
                  <a:pt x="90976" y="303"/>
                </a:moveTo>
                <a:cubicBezTo>
                  <a:pt x="86689" y="-933"/>
                  <a:pt x="82226" y="1563"/>
                  <a:pt x="80991" y="5850"/>
                </a:cubicBezTo>
                <a:lnTo>
                  <a:pt x="48716" y="118814"/>
                </a:lnTo>
                <a:cubicBezTo>
                  <a:pt x="47480" y="123100"/>
                  <a:pt x="49976" y="127563"/>
                  <a:pt x="54263" y="128799"/>
                </a:cubicBezTo>
                <a:cubicBezTo>
                  <a:pt x="58549" y="130034"/>
                  <a:pt x="63013" y="127538"/>
                  <a:pt x="64248" y="123251"/>
                </a:cubicBezTo>
                <a:lnTo>
                  <a:pt x="96523" y="10288"/>
                </a:lnTo>
                <a:cubicBezTo>
                  <a:pt x="97759" y="6001"/>
                  <a:pt x="95263" y="1538"/>
                  <a:pt x="90976" y="303"/>
                </a:cubicBezTo>
                <a:close/>
                <a:moveTo>
                  <a:pt x="107265" y="34620"/>
                </a:moveTo>
                <a:cubicBezTo>
                  <a:pt x="104113" y="37772"/>
                  <a:pt x="104113" y="42891"/>
                  <a:pt x="107265" y="46043"/>
                </a:cubicBezTo>
                <a:lnTo>
                  <a:pt x="125773" y="64551"/>
                </a:lnTo>
                <a:lnTo>
                  <a:pt x="107265" y="83059"/>
                </a:lnTo>
                <a:cubicBezTo>
                  <a:pt x="104113" y="86210"/>
                  <a:pt x="104113" y="91329"/>
                  <a:pt x="107265" y="94481"/>
                </a:cubicBezTo>
                <a:cubicBezTo>
                  <a:pt x="110417" y="97633"/>
                  <a:pt x="115536" y="97633"/>
                  <a:pt x="118687" y="94481"/>
                </a:cubicBezTo>
                <a:lnTo>
                  <a:pt x="142894" y="70274"/>
                </a:lnTo>
                <a:cubicBezTo>
                  <a:pt x="146046" y="67123"/>
                  <a:pt x="146046" y="62004"/>
                  <a:pt x="142894" y="58852"/>
                </a:cubicBezTo>
                <a:lnTo>
                  <a:pt x="118687" y="34646"/>
                </a:lnTo>
                <a:cubicBezTo>
                  <a:pt x="115536" y="31494"/>
                  <a:pt x="110417" y="31494"/>
                  <a:pt x="107265" y="34646"/>
                </a:cubicBezTo>
                <a:close/>
                <a:moveTo>
                  <a:pt x="37999" y="34620"/>
                </a:moveTo>
                <a:cubicBezTo>
                  <a:pt x="34847" y="31468"/>
                  <a:pt x="29729" y="31468"/>
                  <a:pt x="26577" y="34620"/>
                </a:cubicBezTo>
                <a:lnTo>
                  <a:pt x="2370" y="58827"/>
                </a:lnTo>
                <a:cubicBezTo>
                  <a:pt x="-782" y="61979"/>
                  <a:pt x="-782" y="67097"/>
                  <a:pt x="2370" y="70249"/>
                </a:cubicBezTo>
                <a:lnTo>
                  <a:pt x="26577" y="94456"/>
                </a:lnTo>
                <a:cubicBezTo>
                  <a:pt x="29729" y="97608"/>
                  <a:pt x="34847" y="97608"/>
                  <a:pt x="37999" y="94456"/>
                </a:cubicBezTo>
                <a:cubicBezTo>
                  <a:pt x="41151" y="91304"/>
                  <a:pt x="41151" y="86185"/>
                  <a:pt x="37999" y="83033"/>
                </a:cubicBezTo>
                <a:lnTo>
                  <a:pt x="19491" y="64551"/>
                </a:lnTo>
                <a:lnTo>
                  <a:pt x="37974" y="46043"/>
                </a:lnTo>
                <a:cubicBezTo>
                  <a:pt x="41126" y="42891"/>
                  <a:pt x="41126" y="37772"/>
                  <a:pt x="37974" y="34620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3540325" y="2727471"/>
            <a:ext cx="1371701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Requêtes Complexes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14397" y="2953399"/>
            <a:ext cx="246906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Calculs intensifs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06204" y="1165946"/>
            <a:ext cx="5672386" cy="3558353"/>
          </a:xfrm>
          <a:custGeom>
            <a:avLst/>
            <a:gdLst/>
            <a:ahLst/>
            <a:cxnLst/>
            <a:rect l="l" t="t" r="r" b="b"/>
            <a:pathLst>
              <a:path w="5672386" h="3558353">
                <a:moveTo>
                  <a:pt x="129097" y="0"/>
                </a:moveTo>
                <a:lnTo>
                  <a:pt x="5543289" y="0"/>
                </a:lnTo>
                <a:cubicBezTo>
                  <a:pt x="5614588" y="0"/>
                  <a:pt x="5672386" y="57799"/>
                  <a:pt x="5672386" y="129097"/>
                </a:cubicBezTo>
                <a:lnTo>
                  <a:pt x="5672386" y="3429256"/>
                </a:lnTo>
                <a:cubicBezTo>
                  <a:pt x="5672386" y="3500555"/>
                  <a:pt x="5614588" y="3558353"/>
                  <a:pt x="5543289" y="3558353"/>
                </a:cubicBezTo>
                <a:lnTo>
                  <a:pt x="129097" y="3558353"/>
                </a:lnTo>
                <a:cubicBezTo>
                  <a:pt x="57799" y="3558353"/>
                  <a:pt x="0" y="3500555"/>
                  <a:pt x="0" y="3429256"/>
                </a:cubicBezTo>
                <a:lnTo>
                  <a:pt x="0" y="129097"/>
                </a:lnTo>
                <a:cubicBezTo>
                  <a:pt x="0" y="57799"/>
                  <a:pt x="57799" y="0"/>
                  <a:pt x="129097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60000"/>
                </a:srgbClr>
              </a:gs>
              <a:gs pos="100000">
                <a:srgbClr val="9F0712">
                  <a:alpha val="40000"/>
                </a:srgbClr>
              </a:gs>
            </a:gsLst>
            <a:lin ang="2700000" scaled="1"/>
          </a:gradFill>
          <a:ln w="12700">
            <a:solidFill>
              <a:srgbClr val="FB2C36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6386856" y="1363632"/>
            <a:ext cx="193652" cy="193652"/>
          </a:xfrm>
          <a:custGeom>
            <a:avLst/>
            <a:gdLst/>
            <a:ahLst/>
            <a:cxnLst/>
            <a:rect l="l" t="t" r="r" b="b"/>
            <a:pathLst>
              <a:path w="193652" h="193652">
                <a:moveTo>
                  <a:pt x="96826" y="193652"/>
                </a:moveTo>
                <a:cubicBezTo>
                  <a:pt x="150266" y="193652"/>
                  <a:pt x="193652" y="150266"/>
                  <a:pt x="193652" y="96826"/>
                </a:cubicBezTo>
                <a:cubicBezTo>
                  <a:pt x="193652" y="43386"/>
                  <a:pt x="150266" y="0"/>
                  <a:pt x="96826" y="0"/>
                </a:cubicBezTo>
                <a:cubicBezTo>
                  <a:pt x="43386" y="0"/>
                  <a:pt x="0" y="43386"/>
                  <a:pt x="0" y="96826"/>
                </a:cubicBezTo>
                <a:cubicBezTo>
                  <a:pt x="0" y="150266"/>
                  <a:pt x="43386" y="193652"/>
                  <a:pt x="96826" y="193652"/>
                </a:cubicBezTo>
                <a:close/>
                <a:moveTo>
                  <a:pt x="96826" y="51439"/>
                </a:moveTo>
                <a:cubicBezTo>
                  <a:pt x="101856" y="51439"/>
                  <a:pt x="105903" y="55486"/>
                  <a:pt x="105903" y="60516"/>
                </a:cubicBezTo>
                <a:lnTo>
                  <a:pt x="105903" y="102878"/>
                </a:lnTo>
                <a:cubicBezTo>
                  <a:pt x="105903" y="107908"/>
                  <a:pt x="101856" y="111955"/>
                  <a:pt x="96826" y="111955"/>
                </a:cubicBezTo>
                <a:cubicBezTo>
                  <a:pt x="91796" y="111955"/>
                  <a:pt x="87749" y="107908"/>
                  <a:pt x="87749" y="102878"/>
                </a:cubicBezTo>
                <a:lnTo>
                  <a:pt x="87749" y="60516"/>
                </a:lnTo>
                <a:cubicBezTo>
                  <a:pt x="87749" y="55486"/>
                  <a:pt x="91796" y="51439"/>
                  <a:pt x="96826" y="51439"/>
                </a:cubicBezTo>
                <a:close/>
                <a:moveTo>
                  <a:pt x="86727" y="133136"/>
                </a:moveTo>
                <a:cubicBezTo>
                  <a:pt x="86498" y="129387"/>
                  <a:pt x="88367" y="125821"/>
                  <a:pt x="91580" y="123877"/>
                </a:cubicBezTo>
                <a:cubicBezTo>
                  <a:pt x="94794" y="121933"/>
                  <a:pt x="98820" y="121933"/>
                  <a:pt x="102034" y="123877"/>
                </a:cubicBezTo>
                <a:cubicBezTo>
                  <a:pt x="105247" y="125821"/>
                  <a:pt x="107116" y="129387"/>
                  <a:pt x="106887" y="133136"/>
                </a:cubicBezTo>
                <a:cubicBezTo>
                  <a:pt x="107116" y="136884"/>
                  <a:pt x="105247" y="140451"/>
                  <a:pt x="102034" y="142394"/>
                </a:cubicBezTo>
                <a:cubicBezTo>
                  <a:pt x="98820" y="144338"/>
                  <a:pt x="94794" y="144338"/>
                  <a:pt x="91580" y="142394"/>
                </a:cubicBezTo>
                <a:cubicBezTo>
                  <a:pt x="88367" y="140451"/>
                  <a:pt x="86498" y="136884"/>
                  <a:pt x="86727" y="133136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6604714" y="1331357"/>
            <a:ext cx="5196326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Problématique Centrale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66684" y="1722695"/>
            <a:ext cx="5333496" cy="790745"/>
          </a:xfrm>
          <a:custGeom>
            <a:avLst/>
            <a:gdLst/>
            <a:ahLst/>
            <a:cxnLst/>
            <a:rect l="l" t="t" r="r" b="b"/>
            <a:pathLst>
              <a:path w="5333496" h="790745">
                <a:moveTo>
                  <a:pt x="96827" y="0"/>
                </a:moveTo>
                <a:lnTo>
                  <a:pt x="5236669" y="0"/>
                </a:lnTo>
                <a:cubicBezTo>
                  <a:pt x="5290145" y="0"/>
                  <a:pt x="5333496" y="43351"/>
                  <a:pt x="5333496" y="96827"/>
                </a:cubicBezTo>
                <a:lnTo>
                  <a:pt x="5333496" y="693918"/>
                </a:lnTo>
                <a:cubicBezTo>
                  <a:pt x="5333496" y="747394"/>
                  <a:pt x="5290145" y="790745"/>
                  <a:pt x="5236669" y="790745"/>
                </a:cubicBezTo>
                <a:lnTo>
                  <a:pt x="96827" y="790745"/>
                </a:lnTo>
                <a:cubicBezTo>
                  <a:pt x="43351" y="790745"/>
                  <a:pt x="0" y="747394"/>
                  <a:pt x="0" y="693918"/>
                </a:cubicBezTo>
                <a:lnTo>
                  <a:pt x="0" y="96827"/>
                </a:lnTo>
                <a:cubicBezTo>
                  <a:pt x="0" y="43387"/>
                  <a:pt x="43387" y="0"/>
                  <a:pt x="96827" y="0"/>
                </a:cubicBezTo>
                <a:close/>
              </a:path>
            </a:pathLst>
          </a:custGeom>
          <a:solidFill>
            <a:srgbClr val="460809">
              <a:alpha val="60000"/>
            </a:srgbClr>
          </a:solidFill>
          <a:ln w="12700">
            <a:solidFill>
              <a:srgbClr val="FB2C3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6459476" y="1855831"/>
            <a:ext cx="5147913" cy="524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7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Comment </a:t>
            </a:r>
            <a:r>
              <a:rPr lang="en-US" sz="1271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optimiser</a:t>
            </a:r>
            <a:r>
              <a:rPr lang="en-US" sz="127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les </a:t>
            </a:r>
            <a:r>
              <a:rPr lang="en-US" sz="1271" b="1" dirty="0">
                <a:solidFill>
                  <a:srgbClr val="FF6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performances </a:t>
            </a:r>
            <a:r>
              <a:rPr lang="en-US" sz="127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tout en </a:t>
            </a:r>
            <a:r>
              <a:rPr lang="en-US" sz="1271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réduisant</a:t>
            </a:r>
            <a:r>
              <a:rPr lang="en-US" sz="127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les </a:t>
            </a:r>
            <a:r>
              <a:rPr lang="en-US" sz="1271" b="1" dirty="0" err="1">
                <a:solidFill>
                  <a:srgbClr val="FF6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coûts</a:t>
            </a:r>
            <a:r>
              <a:rPr lang="en-US" sz="1271" b="1" dirty="0">
                <a:solidFill>
                  <a:srgbClr val="FF6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7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dans les Data Warehouses Cloud?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66684" y="2650610"/>
            <a:ext cx="5333496" cy="556749"/>
          </a:xfrm>
          <a:custGeom>
            <a:avLst/>
            <a:gdLst/>
            <a:ahLst/>
            <a:cxnLst/>
            <a:rect l="l" t="t" r="r" b="b"/>
            <a:pathLst>
              <a:path w="5333496" h="556749">
                <a:moveTo>
                  <a:pt x="64549" y="0"/>
                </a:moveTo>
                <a:lnTo>
                  <a:pt x="5268946" y="0"/>
                </a:lnTo>
                <a:cubicBezTo>
                  <a:pt x="5304596" y="0"/>
                  <a:pt x="5333496" y="28900"/>
                  <a:pt x="5333496" y="64549"/>
                </a:cubicBezTo>
                <a:lnTo>
                  <a:pt x="5333496" y="492200"/>
                </a:lnTo>
                <a:cubicBezTo>
                  <a:pt x="5333496" y="527849"/>
                  <a:pt x="5304596" y="556749"/>
                  <a:pt x="5268946" y="556749"/>
                </a:cubicBezTo>
                <a:lnTo>
                  <a:pt x="64549" y="556749"/>
                </a:lnTo>
                <a:cubicBezTo>
                  <a:pt x="28924" y="556749"/>
                  <a:pt x="0" y="527826"/>
                  <a:pt x="0" y="492200"/>
                </a:cubicBezTo>
                <a:lnTo>
                  <a:pt x="0" y="64549"/>
                </a:lnTo>
                <a:cubicBezTo>
                  <a:pt x="0" y="28924"/>
                  <a:pt x="28924" y="0"/>
                  <a:pt x="64549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FF6900">
                  <a:alpha val="20000"/>
                </a:srgbClr>
              </a:gs>
            </a:gsLst>
            <a:lin ang="0" scaled="1"/>
          </a:gra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6487716" y="2848296"/>
            <a:ext cx="161377" cy="161377"/>
          </a:xfrm>
          <a:custGeom>
            <a:avLst/>
            <a:gdLst/>
            <a:ahLst/>
            <a:cxnLst/>
            <a:rect l="l" t="t" r="r" b="b"/>
            <a:pathLst>
              <a:path w="161377" h="161377">
                <a:moveTo>
                  <a:pt x="80688" y="161377"/>
                </a:moveTo>
                <a:cubicBezTo>
                  <a:pt x="125221" y="161377"/>
                  <a:pt x="161377" y="125221"/>
                  <a:pt x="161377" y="80688"/>
                </a:cubicBezTo>
                <a:cubicBezTo>
                  <a:pt x="161377" y="36155"/>
                  <a:pt x="125221" y="0"/>
                  <a:pt x="80688" y="0"/>
                </a:cubicBezTo>
                <a:cubicBezTo>
                  <a:pt x="36155" y="0"/>
                  <a:pt x="0" y="36155"/>
                  <a:pt x="0" y="80688"/>
                </a:cubicBezTo>
                <a:cubicBezTo>
                  <a:pt x="0" y="125221"/>
                  <a:pt x="36155" y="161377"/>
                  <a:pt x="80688" y="161377"/>
                </a:cubicBezTo>
                <a:close/>
                <a:moveTo>
                  <a:pt x="52636" y="52636"/>
                </a:moveTo>
                <a:cubicBezTo>
                  <a:pt x="55599" y="49674"/>
                  <a:pt x="60390" y="49674"/>
                  <a:pt x="63321" y="52636"/>
                </a:cubicBezTo>
                <a:lnTo>
                  <a:pt x="80657" y="69972"/>
                </a:lnTo>
                <a:lnTo>
                  <a:pt x="97992" y="52636"/>
                </a:lnTo>
                <a:cubicBezTo>
                  <a:pt x="100955" y="49674"/>
                  <a:pt x="105746" y="49674"/>
                  <a:pt x="108677" y="52636"/>
                </a:cubicBezTo>
                <a:cubicBezTo>
                  <a:pt x="111608" y="55599"/>
                  <a:pt x="111640" y="60390"/>
                  <a:pt x="108677" y="63321"/>
                </a:cubicBezTo>
                <a:lnTo>
                  <a:pt x="91342" y="80657"/>
                </a:lnTo>
                <a:lnTo>
                  <a:pt x="108677" y="97992"/>
                </a:lnTo>
                <a:cubicBezTo>
                  <a:pt x="111640" y="100955"/>
                  <a:pt x="111640" y="105746"/>
                  <a:pt x="108677" y="108677"/>
                </a:cubicBezTo>
                <a:cubicBezTo>
                  <a:pt x="105714" y="111608"/>
                  <a:pt x="100923" y="111640"/>
                  <a:pt x="97992" y="108677"/>
                </a:cubicBezTo>
                <a:lnTo>
                  <a:pt x="80657" y="91342"/>
                </a:lnTo>
                <a:lnTo>
                  <a:pt x="63321" y="108677"/>
                </a:lnTo>
                <a:cubicBezTo>
                  <a:pt x="60359" y="111640"/>
                  <a:pt x="55568" y="111640"/>
                  <a:pt x="52636" y="108677"/>
                </a:cubicBezTo>
                <a:cubicBezTo>
                  <a:pt x="49705" y="105714"/>
                  <a:pt x="49674" y="100923"/>
                  <a:pt x="52636" y="97992"/>
                </a:cubicBezTo>
                <a:lnTo>
                  <a:pt x="69972" y="80657"/>
                </a:lnTo>
                <a:lnTo>
                  <a:pt x="52636" y="63321"/>
                </a:lnTo>
                <a:cubicBezTo>
                  <a:pt x="49674" y="60359"/>
                  <a:pt x="49674" y="55568"/>
                  <a:pt x="52636" y="52636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766091" y="2751471"/>
            <a:ext cx="2719195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Mauvaise Performance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766090" y="2912848"/>
            <a:ext cx="293271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de réponse excessifs, utilisateurs mécontents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66684" y="3312254"/>
            <a:ext cx="5333496" cy="556749"/>
          </a:xfrm>
          <a:custGeom>
            <a:avLst/>
            <a:gdLst/>
            <a:ahLst/>
            <a:cxnLst/>
            <a:rect l="l" t="t" r="r" b="b"/>
            <a:pathLst>
              <a:path w="5333496" h="556749">
                <a:moveTo>
                  <a:pt x="64549" y="0"/>
                </a:moveTo>
                <a:lnTo>
                  <a:pt x="5268946" y="0"/>
                </a:lnTo>
                <a:cubicBezTo>
                  <a:pt x="5304596" y="0"/>
                  <a:pt x="5333496" y="28900"/>
                  <a:pt x="5333496" y="64549"/>
                </a:cubicBezTo>
                <a:lnTo>
                  <a:pt x="5333496" y="492200"/>
                </a:lnTo>
                <a:cubicBezTo>
                  <a:pt x="5333496" y="527849"/>
                  <a:pt x="5304596" y="556749"/>
                  <a:pt x="5268946" y="556749"/>
                </a:cubicBezTo>
                <a:lnTo>
                  <a:pt x="64549" y="556749"/>
                </a:lnTo>
                <a:cubicBezTo>
                  <a:pt x="28924" y="556749"/>
                  <a:pt x="0" y="527826"/>
                  <a:pt x="0" y="492200"/>
                </a:cubicBezTo>
                <a:lnTo>
                  <a:pt x="0" y="64549"/>
                </a:lnTo>
                <a:cubicBezTo>
                  <a:pt x="0" y="28924"/>
                  <a:pt x="28924" y="0"/>
                  <a:pt x="64549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>
                  <a:alpha val="20000"/>
                </a:srgbClr>
              </a:gs>
              <a:gs pos="100000">
                <a:srgbClr val="F0B100">
                  <a:alpha val="20000"/>
                </a:srgbClr>
              </a:gs>
            </a:gsLst>
            <a:lin ang="0" scaled="1"/>
          </a:gra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6487716" y="3509940"/>
            <a:ext cx="161377" cy="161377"/>
          </a:xfrm>
          <a:custGeom>
            <a:avLst/>
            <a:gdLst/>
            <a:ahLst/>
            <a:cxnLst/>
            <a:rect l="l" t="t" r="r" b="b"/>
            <a:pathLst>
              <a:path w="161377" h="161377">
                <a:moveTo>
                  <a:pt x="80688" y="161377"/>
                </a:moveTo>
                <a:cubicBezTo>
                  <a:pt x="125221" y="161377"/>
                  <a:pt x="161377" y="125221"/>
                  <a:pt x="161377" y="80688"/>
                </a:cubicBezTo>
                <a:cubicBezTo>
                  <a:pt x="161377" y="36155"/>
                  <a:pt x="125221" y="0"/>
                  <a:pt x="80688" y="0"/>
                </a:cubicBezTo>
                <a:cubicBezTo>
                  <a:pt x="36155" y="0"/>
                  <a:pt x="0" y="36155"/>
                  <a:pt x="0" y="80688"/>
                </a:cubicBezTo>
                <a:cubicBezTo>
                  <a:pt x="0" y="125221"/>
                  <a:pt x="36155" y="161377"/>
                  <a:pt x="80688" y="161377"/>
                </a:cubicBezTo>
                <a:close/>
                <a:moveTo>
                  <a:pt x="52636" y="52636"/>
                </a:moveTo>
                <a:cubicBezTo>
                  <a:pt x="55599" y="49674"/>
                  <a:pt x="60390" y="49674"/>
                  <a:pt x="63321" y="52636"/>
                </a:cubicBezTo>
                <a:lnTo>
                  <a:pt x="80657" y="69972"/>
                </a:lnTo>
                <a:lnTo>
                  <a:pt x="97992" y="52636"/>
                </a:lnTo>
                <a:cubicBezTo>
                  <a:pt x="100955" y="49674"/>
                  <a:pt x="105746" y="49674"/>
                  <a:pt x="108677" y="52636"/>
                </a:cubicBezTo>
                <a:cubicBezTo>
                  <a:pt x="111608" y="55599"/>
                  <a:pt x="111640" y="60390"/>
                  <a:pt x="108677" y="63321"/>
                </a:cubicBezTo>
                <a:lnTo>
                  <a:pt x="91342" y="80657"/>
                </a:lnTo>
                <a:lnTo>
                  <a:pt x="108677" y="97992"/>
                </a:lnTo>
                <a:cubicBezTo>
                  <a:pt x="111640" y="100955"/>
                  <a:pt x="111640" y="105746"/>
                  <a:pt x="108677" y="108677"/>
                </a:cubicBezTo>
                <a:cubicBezTo>
                  <a:pt x="105714" y="111608"/>
                  <a:pt x="100923" y="111640"/>
                  <a:pt x="97992" y="108677"/>
                </a:cubicBezTo>
                <a:lnTo>
                  <a:pt x="80657" y="91342"/>
                </a:lnTo>
                <a:lnTo>
                  <a:pt x="63321" y="108677"/>
                </a:lnTo>
                <a:cubicBezTo>
                  <a:pt x="60359" y="111640"/>
                  <a:pt x="55568" y="111640"/>
                  <a:pt x="52636" y="108677"/>
                </a:cubicBezTo>
                <a:cubicBezTo>
                  <a:pt x="49705" y="105714"/>
                  <a:pt x="49674" y="100923"/>
                  <a:pt x="52636" y="97992"/>
                </a:cubicBezTo>
                <a:lnTo>
                  <a:pt x="69972" y="80657"/>
                </a:lnTo>
                <a:lnTo>
                  <a:pt x="52636" y="63321"/>
                </a:lnTo>
                <a:cubicBezTo>
                  <a:pt x="49674" y="60359"/>
                  <a:pt x="49674" y="55568"/>
                  <a:pt x="52636" y="52636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6766091" y="3413114"/>
            <a:ext cx="2057551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Élevé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66090" y="3509940"/>
            <a:ext cx="2624489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Factures imprévisibles, budget dépassé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66684" y="3973898"/>
            <a:ext cx="5333496" cy="556749"/>
          </a:xfrm>
          <a:custGeom>
            <a:avLst/>
            <a:gdLst/>
            <a:ahLst/>
            <a:cxnLst/>
            <a:rect l="l" t="t" r="r" b="b"/>
            <a:pathLst>
              <a:path w="5333496" h="556749">
                <a:moveTo>
                  <a:pt x="64549" y="0"/>
                </a:moveTo>
                <a:lnTo>
                  <a:pt x="5268946" y="0"/>
                </a:lnTo>
                <a:cubicBezTo>
                  <a:pt x="5304596" y="0"/>
                  <a:pt x="5333496" y="28900"/>
                  <a:pt x="5333496" y="64549"/>
                </a:cubicBezTo>
                <a:lnTo>
                  <a:pt x="5333496" y="492200"/>
                </a:lnTo>
                <a:cubicBezTo>
                  <a:pt x="5333496" y="527849"/>
                  <a:pt x="5304596" y="556749"/>
                  <a:pt x="5268946" y="556749"/>
                </a:cubicBezTo>
                <a:lnTo>
                  <a:pt x="64549" y="556749"/>
                </a:lnTo>
                <a:cubicBezTo>
                  <a:pt x="28924" y="556749"/>
                  <a:pt x="0" y="527826"/>
                  <a:pt x="0" y="492200"/>
                </a:cubicBezTo>
                <a:lnTo>
                  <a:pt x="0" y="64549"/>
                </a:lnTo>
                <a:cubicBezTo>
                  <a:pt x="0" y="28924"/>
                  <a:pt x="28924" y="0"/>
                  <a:pt x="645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>
                  <a:alpha val="20000"/>
                </a:srgbClr>
              </a:gs>
              <a:gs pos="100000">
                <a:srgbClr val="00BC7D">
                  <a:alpha val="20000"/>
                </a:srgbClr>
              </a:gs>
            </a:gsLst>
            <a:lin ang="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6487716" y="4171584"/>
            <a:ext cx="161377" cy="161377"/>
          </a:xfrm>
          <a:custGeom>
            <a:avLst/>
            <a:gdLst/>
            <a:ahLst/>
            <a:cxnLst/>
            <a:rect l="l" t="t" r="r" b="b"/>
            <a:pathLst>
              <a:path w="161377" h="161377">
                <a:moveTo>
                  <a:pt x="80688" y="161377"/>
                </a:moveTo>
                <a:cubicBezTo>
                  <a:pt x="125221" y="161377"/>
                  <a:pt x="161377" y="125221"/>
                  <a:pt x="161377" y="80688"/>
                </a:cubicBezTo>
                <a:cubicBezTo>
                  <a:pt x="161377" y="36155"/>
                  <a:pt x="125221" y="0"/>
                  <a:pt x="80688" y="0"/>
                </a:cubicBezTo>
                <a:cubicBezTo>
                  <a:pt x="36155" y="0"/>
                  <a:pt x="0" y="36155"/>
                  <a:pt x="0" y="80688"/>
                </a:cubicBezTo>
                <a:cubicBezTo>
                  <a:pt x="0" y="125221"/>
                  <a:pt x="36155" y="161377"/>
                  <a:pt x="80688" y="161377"/>
                </a:cubicBezTo>
                <a:close/>
                <a:moveTo>
                  <a:pt x="107290" y="67041"/>
                </a:moveTo>
                <a:lnTo>
                  <a:pt x="82075" y="107385"/>
                </a:lnTo>
                <a:cubicBezTo>
                  <a:pt x="80751" y="109497"/>
                  <a:pt x="78482" y="110820"/>
                  <a:pt x="75992" y="110946"/>
                </a:cubicBezTo>
                <a:cubicBezTo>
                  <a:pt x="73502" y="111072"/>
                  <a:pt x="71107" y="109938"/>
                  <a:pt x="69625" y="107921"/>
                </a:cubicBezTo>
                <a:lnTo>
                  <a:pt x="54496" y="87749"/>
                </a:lnTo>
                <a:cubicBezTo>
                  <a:pt x="51975" y="84408"/>
                  <a:pt x="52668" y="79680"/>
                  <a:pt x="56009" y="77158"/>
                </a:cubicBezTo>
                <a:cubicBezTo>
                  <a:pt x="59350" y="74637"/>
                  <a:pt x="64078" y="75330"/>
                  <a:pt x="66599" y="78671"/>
                </a:cubicBezTo>
                <a:lnTo>
                  <a:pt x="75109" y="90018"/>
                </a:lnTo>
                <a:lnTo>
                  <a:pt x="94462" y="59035"/>
                </a:lnTo>
                <a:cubicBezTo>
                  <a:pt x="96668" y="55505"/>
                  <a:pt x="101333" y="54402"/>
                  <a:pt x="104895" y="56639"/>
                </a:cubicBezTo>
                <a:cubicBezTo>
                  <a:pt x="108456" y="58877"/>
                  <a:pt x="109528" y="63511"/>
                  <a:pt x="107290" y="67072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6766091" y="4074758"/>
            <a:ext cx="129101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Bonne Optimisation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766090" y="4236136"/>
            <a:ext cx="1566251" cy="19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↑ et Coût ↓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97239" y="4861469"/>
            <a:ext cx="5672386" cy="1428183"/>
          </a:xfrm>
          <a:custGeom>
            <a:avLst/>
            <a:gdLst/>
            <a:ahLst/>
            <a:cxnLst/>
            <a:rect l="l" t="t" r="r" b="b"/>
            <a:pathLst>
              <a:path w="5672386" h="1428183">
                <a:moveTo>
                  <a:pt x="129108" y="0"/>
                </a:moveTo>
                <a:lnTo>
                  <a:pt x="5543279" y="0"/>
                </a:lnTo>
                <a:cubicBezTo>
                  <a:pt x="5614583" y="0"/>
                  <a:pt x="5672386" y="57803"/>
                  <a:pt x="5672386" y="129108"/>
                </a:cubicBezTo>
                <a:lnTo>
                  <a:pt x="5672386" y="1299075"/>
                </a:lnTo>
                <a:cubicBezTo>
                  <a:pt x="5672387" y="1370379"/>
                  <a:pt x="5614583" y="1428183"/>
                  <a:pt x="5543279" y="1428183"/>
                </a:cubicBezTo>
                <a:lnTo>
                  <a:pt x="129108" y="1428183"/>
                </a:lnTo>
                <a:cubicBezTo>
                  <a:pt x="57803" y="1428183"/>
                  <a:pt x="0" y="1370379"/>
                  <a:pt x="0" y="1299075"/>
                </a:cubicBezTo>
                <a:lnTo>
                  <a:pt x="0" y="129108"/>
                </a:lnTo>
                <a:cubicBezTo>
                  <a:pt x="0" y="57851"/>
                  <a:pt x="57851" y="0"/>
                  <a:pt x="1291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6350546" y="5034949"/>
            <a:ext cx="145239" cy="145239"/>
          </a:xfrm>
          <a:custGeom>
            <a:avLst/>
            <a:gdLst/>
            <a:ahLst/>
            <a:cxnLst/>
            <a:rect l="l" t="t" r="r" b="b"/>
            <a:pathLst>
              <a:path w="145239" h="145239">
                <a:moveTo>
                  <a:pt x="127084" y="72619"/>
                </a:moveTo>
                <a:cubicBezTo>
                  <a:pt x="127084" y="42560"/>
                  <a:pt x="102679" y="18155"/>
                  <a:pt x="72619" y="18155"/>
                </a:cubicBezTo>
                <a:cubicBezTo>
                  <a:pt x="42560" y="18155"/>
                  <a:pt x="18155" y="42560"/>
                  <a:pt x="18155" y="72619"/>
                </a:cubicBezTo>
                <a:cubicBezTo>
                  <a:pt x="18155" y="102679"/>
                  <a:pt x="42560" y="127084"/>
                  <a:pt x="72619" y="127084"/>
                </a:cubicBezTo>
                <a:cubicBezTo>
                  <a:pt x="102679" y="127084"/>
                  <a:pt x="127084" y="102679"/>
                  <a:pt x="127084" y="72619"/>
                </a:cubicBezTo>
                <a:close/>
                <a:moveTo>
                  <a:pt x="0" y="72619"/>
                </a:moveTo>
                <a:cubicBezTo>
                  <a:pt x="0" y="32540"/>
                  <a:pt x="32540" y="0"/>
                  <a:pt x="72619" y="0"/>
                </a:cubicBezTo>
                <a:cubicBezTo>
                  <a:pt x="112699" y="0"/>
                  <a:pt x="145239" y="32540"/>
                  <a:pt x="145239" y="72619"/>
                </a:cubicBezTo>
                <a:cubicBezTo>
                  <a:pt x="145239" y="112699"/>
                  <a:pt x="112699" y="145239"/>
                  <a:pt x="72619" y="145239"/>
                </a:cubicBezTo>
                <a:cubicBezTo>
                  <a:pt x="32540" y="145239"/>
                  <a:pt x="0" y="112699"/>
                  <a:pt x="0" y="72619"/>
                </a:cubicBezTo>
                <a:close/>
                <a:moveTo>
                  <a:pt x="72619" y="95313"/>
                </a:moveTo>
                <a:cubicBezTo>
                  <a:pt x="85144" y="95313"/>
                  <a:pt x="95313" y="85144"/>
                  <a:pt x="95313" y="72619"/>
                </a:cubicBezTo>
                <a:cubicBezTo>
                  <a:pt x="95313" y="60095"/>
                  <a:pt x="85144" y="49926"/>
                  <a:pt x="72619" y="49926"/>
                </a:cubicBezTo>
                <a:cubicBezTo>
                  <a:pt x="60095" y="49926"/>
                  <a:pt x="49926" y="60095"/>
                  <a:pt x="49926" y="72619"/>
                </a:cubicBezTo>
                <a:cubicBezTo>
                  <a:pt x="49926" y="85144"/>
                  <a:pt x="60095" y="95313"/>
                  <a:pt x="72619" y="95313"/>
                </a:cubicBezTo>
                <a:close/>
                <a:moveTo>
                  <a:pt x="72619" y="31771"/>
                </a:moveTo>
                <a:cubicBezTo>
                  <a:pt x="95164" y="31771"/>
                  <a:pt x="113468" y="50075"/>
                  <a:pt x="113468" y="72619"/>
                </a:cubicBezTo>
                <a:cubicBezTo>
                  <a:pt x="113468" y="95164"/>
                  <a:pt x="95164" y="113468"/>
                  <a:pt x="72619" y="113468"/>
                </a:cubicBezTo>
                <a:cubicBezTo>
                  <a:pt x="50075" y="113468"/>
                  <a:pt x="31771" y="95164"/>
                  <a:pt x="31771" y="72619"/>
                </a:cubicBezTo>
                <a:cubicBezTo>
                  <a:pt x="31771" y="50075"/>
                  <a:pt x="50075" y="31771"/>
                  <a:pt x="72619" y="31771"/>
                </a:cubicBezTo>
                <a:close/>
                <a:moveTo>
                  <a:pt x="63542" y="72619"/>
                </a:moveTo>
                <a:cubicBezTo>
                  <a:pt x="63542" y="67609"/>
                  <a:pt x="67609" y="63542"/>
                  <a:pt x="72619" y="63542"/>
                </a:cubicBezTo>
                <a:cubicBezTo>
                  <a:pt x="77629" y="63542"/>
                  <a:pt x="81697" y="67609"/>
                  <a:pt x="81697" y="72619"/>
                </a:cubicBezTo>
                <a:cubicBezTo>
                  <a:pt x="81697" y="77629"/>
                  <a:pt x="77629" y="81697"/>
                  <a:pt x="72619" y="81697"/>
                </a:cubicBezTo>
                <a:cubicBezTo>
                  <a:pt x="67609" y="81697"/>
                  <a:pt x="63542" y="77629"/>
                  <a:pt x="63542" y="72619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6515957" y="4994605"/>
            <a:ext cx="5293152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Objectifs de cette Présentation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54581" y="5317358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5"/>
          <p:cNvSpPr/>
          <p:nvPr/>
        </p:nvSpPr>
        <p:spPr>
          <a:xfrm>
            <a:off x="6556301" y="5285083"/>
            <a:ext cx="2928985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Comprendre les modèles de tarification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54581" y="5543285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6556301" y="5511010"/>
            <a:ext cx="283427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Maîtriser les facteurs de performance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54581" y="5769212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6556301" y="5736937"/>
            <a:ext cx="2834278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Appliquer des stratégies d'optimisation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54581" y="5995140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09635" y="17676"/>
                </a:moveTo>
                <a:cubicBezTo>
                  <a:pt x="113241" y="20298"/>
                  <a:pt x="114048" y="25341"/>
                  <a:pt x="111425" y="28947"/>
                </a:cubicBezTo>
                <a:lnTo>
                  <a:pt x="46875" y="117704"/>
                </a:lnTo>
                <a:cubicBezTo>
                  <a:pt x="45488" y="119620"/>
                  <a:pt x="43345" y="120805"/>
                  <a:pt x="40975" y="121007"/>
                </a:cubicBezTo>
                <a:cubicBezTo>
                  <a:pt x="38604" y="121209"/>
                  <a:pt x="36310" y="120326"/>
                  <a:pt x="34646" y="118662"/>
                </a:cubicBezTo>
                <a:lnTo>
                  <a:pt x="2370" y="86387"/>
                </a:lnTo>
                <a:cubicBezTo>
                  <a:pt x="-782" y="83235"/>
                  <a:pt x="-782" y="78116"/>
                  <a:pt x="2370" y="74964"/>
                </a:cubicBezTo>
                <a:cubicBezTo>
                  <a:pt x="5522" y="71813"/>
                  <a:pt x="10641" y="71813"/>
                  <a:pt x="13793" y="74964"/>
                </a:cubicBezTo>
                <a:lnTo>
                  <a:pt x="39386" y="100558"/>
                </a:lnTo>
                <a:lnTo>
                  <a:pt x="98389" y="19441"/>
                </a:lnTo>
                <a:cubicBezTo>
                  <a:pt x="101012" y="15835"/>
                  <a:pt x="106055" y="15028"/>
                  <a:pt x="109660" y="1765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1"/>
          <p:cNvSpPr/>
          <p:nvPr/>
        </p:nvSpPr>
        <p:spPr>
          <a:xfrm>
            <a:off x="6556300" y="5898313"/>
            <a:ext cx="2741811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Mesurer l'impact des optimisations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>
            <a:extLst>
              <a:ext uri="{FF2B5EF4-FFF2-40B4-BE49-F238E27FC236}">
                <a16:creationId xmlns:a16="http://schemas.microsoft.com/office/drawing/2014/main" id="{663DF1F7-9290-93CE-956A-F790772EEA88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kern="0" spc="56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&amp; COÛTS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37953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Modèles de Tarification — Partie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1063256"/>
            <a:ext cx="1156290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Comparaison des structures de coûts pour BigQuery et Snowflake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849" y="1457547"/>
            <a:ext cx="5626395" cy="5041605"/>
          </a:xfrm>
          <a:custGeom>
            <a:avLst/>
            <a:gdLst/>
            <a:ahLst/>
            <a:cxnLst/>
            <a:rect l="l" t="t" r="r" b="b"/>
            <a:pathLst>
              <a:path w="5626395" h="5041605">
                <a:moveTo>
                  <a:pt x="141770" y="0"/>
                </a:moveTo>
                <a:lnTo>
                  <a:pt x="5484625" y="0"/>
                </a:lnTo>
                <a:cubicBezTo>
                  <a:pt x="5562923" y="0"/>
                  <a:pt x="5626395" y="63473"/>
                  <a:pt x="5626395" y="141770"/>
                </a:cubicBezTo>
                <a:lnTo>
                  <a:pt x="5626395" y="4899835"/>
                </a:lnTo>
                <a:cubicBezTo>
                  <a:pt x="5626395" y="4978132"/>
                  <a:pt x="5562923" y="5041605"/>
                  <a:pt x="5484625" y="5041605"/>
                </a:cubicBezTo>
                <a:lnTo>
                  <a:pt x="141770" y="5041605"/>
                </a:lnTo>
                <a:cubicBezTo>
                  <a:pt x="63473" y="5041605"/>
                  <a:pt x="0" y="4978132"/>
                  <a:pt x="0" y="4899835"/>
                </a:cubicBezTo>
                <a:lnTo>
                  <a:pt x="0" y="141770"/>
                </a:lnTo>
                <a:cubicBezTo>
                  <a:pt x="0" y="63525"/>
                  <a:pt x="63525" y="0"/>
                  <a:pt x="141770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0488" y="1639186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>
                <a:moveTo>
                  <a:pt x="106328" y="0"/>
                </a:moveTo>
                <a:lnTo>
                  <a:pt x="389858" y="0"/>
                </a:lnTo>
                <a:cubicBezTo>
                  <a:pt x="448582" y="0"/>
                  <a:pt x="496186" y="47605"/>
                  <a:pt x="496186" y="106328"/>
                </a:cubicBezTo>
                <a:lnTo>
                  <a:pt x="496186" y="389858"/>
                </a:lnTo>
                <a:cubicBezTo>
                  <a:pt x="496186" y="448582"/>
                  <a:pt x="448582" y="496186"/>
                  <a:pt x="389858" y="496186"/>
                </a:cubicBezTo>
                <a:lnTo>
                  <a:pt x="106328" y="496186"/>
                </a:lnTo>
                <a:cubicBezTo>
                  <a:pt x="47605" y="496186"/>
                  <a:pt x="0" y="448582"/>
                  <a:pt x="0" y="389858"/>
                </a:cubicBezTo>
                <a:lnTo>
                  <a:pt x="0" y="106328"/>
                </a:lnTo>
                <a:cubicBezTo>
                  <a:pt x="0" y="47644"/>
                  <a:pt x="47644" y="0"/>
                  <a:pt x="10632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8965" y="1780953"/>
            <a:ext cx="239233" cy="212651"/>
          </a:xfrm>
          <a:custGeom>
            <a:avLst/>
            <a:gdLst/>
            <a:ahLst/>
            <a:cxnLst/>
            <a:rect l="l" t="t" r="r" b="b"/>
            <a:pathLst>
              <a:path w="239233" h="212651">
                <a:moveTo>
                  <a:pt x="0" y="139552"/>
                </a:moveTo>
                <a:cubicBezTo>
                  <a:pt x="0" y="172571"/>
                  <a:pt x="26789" y="199360"/>
                  <a:pt x="59808" y="199360"/>
                </a:cubicBezTo>
                <a:lnTo>
                  <a:pt x="186070" y="199360"/>
                </a:lnTo>
                <a:cubicBezTo>
                  <a:pt x="215434" y="199360"/>
                  <a:pt x="239233" y="175562"/>
                  <a:pt x="239233" y="146198"/>
                </a:cubicBezTo>
                <a:cubicBezTo>
                  <a:pt x="239233" y="124766"/>
                  <a:pt x="226565" y="106284"/>
                  <a:pt x="208290" y="97894"/>
                </a:cubicBezTo>
                <a:cubicBezTo>
                  <a:pt x="211073" y="92453"/>
                  <a:pt x="212651" y="86265"/>
                  <a:pt x="212651" y="79744"/>
                </a:cubicBezTo>
                <a:cubicBezTo>
                  <a:pt x="212651" y="57731"/>
                  <a:pt x="194792" y="39872"/>
                  <a:pt x="172779" y="39872"/>
                </a:cubicBezTo>
                <a:cubicBezTo>
                  <a:pt x="165428" y="39872"/>
                  <a:pt x="158575" y="41866"/>
                  <a:pt x="152677" y="45313"/>
                </a:cubicBezTo>
                <a:cubicBezTo>
                  <a:pt x="142667" y="26291"/>
                  <a:pt x="122690" y="13291"/>
                  <a:pt x="99680" y="13291"/>
                </a:cubicBezTo>
                <a:cubicBezTo>
                  <a:pt x="66661" y="13291"/>
                  <a:pt x="39872" y="40080"/>
                  <a:pt x="39872" y="73099"/>
                </a:cubicBezTo>
                <a:cubicBezTo>
                  <a:pt x="39872" y="76422"/>
                  <a:pt x="40163" y="79703"/>
                  <a:pt x="40661" y="82859"/>
                </a:cubicBezTo>
                <a:cubicBezTo>
                  <a:pt x="17029" y="90834"/>
                  <a:pt x="0" y="113220"/>
                  <a:pt x="0" y="13955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78442" y="1639186"/>
            <a:ext cx="1063256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BigQuery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8442" y="1922721"/>
            <a:ext cx="1027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919" y="2281570"/>
            <a:ext cx="5254256" cy="2808767"/>
          </a:xfrm>
          <a:custGeom>
            <a:avLst/>
            <a:gdLst/>
            <a:ahLst/>
            <a:cxnLst/>
            <a:rect l="l" t="t" r="r" b="b"/>
            <a:pathLst>
              <a:path w="5254256" h="2808767">
                <a:moveTo>
                  <a:pt x="106312" y="0"/>
                </a:moveTo>
                <a:lnTo>
                  <a:pt x="5147944" y="0"/>
                </a:lnTo>
                <a:cubicBezTo>
                  <a:pt x="5206658" y="0"/>
                  <a:pt x="5254256" y="47597"/>
                  <a:pt x="5254256" y="106312"/>
                </a:cubicBezTo>
                <a:lnTo>
                  <a:pt x="5254256" y="2702456"/>
                </a:lnTo>
                <a:cubicBezTo>
                  <a:pt x="5254256" y="2761170"/>
                  <a:pt x="5206658" y="2808767"/>
                  <a:pt x="5147944" y="2808767"/>
                </a:cubicBezTo>
                <a:lnTo>
                  <a:pt x="106312" y="2808767"/>
                </a:lnTo>
                <a:cubicBezTo>
                  <a:pt x="47597" y="2808767"/>
                  <a:pt x="0" y="2761170"/>
                  <a:pt x="0" y="2702456"/>
                </a:cubicBezTo>
                <a:lnTo>
                  <a:pt x="0" y="106312"/>
                </a:lnTo>
                <a:cubicBezTo>
                  <a:pt x="0" y="47637"/>
                  <a:pt x="47637" y="0"/>
                  <a:pt x="10631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91116" y="2427767"/>
            <a:ext cx="504160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 de Prix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1116" y="2782186"/>
            <a:ext cx="4961860" cy="673395"/>
          </a:xfrm>
          <a:custGeom>
            <a:avLst/>
            <a:gdLst/>
            <a:ahLst/>
            <a:cxnLst/>
            <a:rect l="l" t="t" r="r" b="b"/>
            <a:pathLst>
              <a:path w="4961860" h="673395">
                <a:moveTo>
                  <a:pt x="70882" y="0"/>
                </a:moveTo>
                <a:lnTo>
                  <a:pt x="4890979" y="0"/>
                </a:lnTo>
                <a:cubicBezTo>
                  <a:pt x="4930126" y="0"/>
                  <a:pt x="4961860" y="31735"/>
                  <a:pt x="4961860" y="70882"/>
                </a:cubicBezTo>
                <a:lnTo>
                  <a:pt x="4961860" y="602514"/>
                </a:lnTo>
                <a:cubicBezTo>
                  <a:pt x="4961860" y="641661"/>
                  <a:pt x="4930126" y="673395"/>
                  <a:pt x="4890979" y="673395"/>
                </a:cubicBezTo>
                <a:lnTo>
                  <a:pt x="70882" y="673395"/>
                </a:lnTo>
                <a:cubicBezTo>
                  <a:pt x="31761" y="673395"/>
                  <a:pt x="0" y="641634"/>
                  <a:pt x="0" y="602514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1C398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7442" y="2906233"/>
            <a:ext cx="1178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Scan de données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3607" y="2888512"/>
            <a:ext cx="60251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5$ / TB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7442" y="3172047"/>
            <a:ext cx="481123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Facturation basée sur la quantité de données analysées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1116" y="3526465"/>
            <a:ext cx="4961860" cy="673395"/>
          </a:xfrm>
          <a:custGeom>
            <a:avLst/>
            <a:gdLst/>
            <a:ahLst/>
            <a:cxnLst/>
            <a:rect l="l" t="t" r="r" b="b"/>
            <a:pathLst>
              <a:path w="4961860" h="673395">
                <a:moveTo>
                  <a:pt x="70882" y="0"/>
                </a:moveTo>
                <a:lnTo>
                  <a:pt x="4890979" y="0"/>
                </a:lnTo>
                <a:cubicBezTo>
                  <a:pt x="4930126" y="0"/>
                  <a:pt x="4961860" y="31735"/>
                  <a:pt x="4961860" y="70882"/>
                </a:cubicBezTo>
                <a:lnTo>
                  <a:pt x="4961860" y="602514"/>
                </a:lnTo>
                <a:cubicBezTo>
                  <a:pt x="4961860" y="641661"/>
                  <a:pt x="4930126" y="673395"/>
                  <a:pt x="4890979" y="673395"/>
                </a:cubicBezTo>
                <a:lnTo>
                  <a:pt x="70882" y="673395"/>
                </a:lnTo>
                <a:cubicBezTo>
                  <a:pt x="31761" y="673395"/>
                  <a:pt x="0" y="641634"/>
                  <a:pt x="0" y="602514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1C398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97442" y="3650512"/>
            <a:ext cx="664535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70190" y="3632791"/>
            <a:ext cx="135565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0.02$ / GB / mois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7442" y="3916326"/>
            <a:ext cx="481123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de stockage actif des données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1116" y="4270744"/>
            <a:ext cx="4961860" cy="673395"/>
          </a:xfrm>
          <a:custGeom>
            <a:avLst/>
            <a:gdLst/>
            <a:ahLst/>
            <a:cxnLst/>
            <a:rect l="l" t="t" r="r" b="b"/>
            <a:pathLst>
              <a:path w="4961860" h="673395">
                <a:moveTo>
                  <a:pt x="70882" y="0"/>
                </a:moveTo>
                <a:lnTo>
                  <a:pt x="4890979" y="0"/>
                </a:lnTo>
                <a:cubicBezTo>
                  <a:pt x="4930126" y="0"/>
                  <a:pt x="4961860" y="31735"/>
                  <a:pt x="4961860" y="70882"/>
                </a:cubicBezTo>
                <a:lnTo>
                  <a:pt x="4961860" y="602514"/>
                </a:lnTo>
                <a:cubicBezTo>
                  <a:pt x="4961860" y="641661"/>
                  <a:pt x="4930126" y="673395"/>
                  <a:pt x="4890979" y="673395"/>
                </a:cubicBezTo>
                <a:lnTo>
                  <a:pt x="70882" y="673395"/>
                </a:lnTo>
                <a:cubicBezTo>
                  <a:pt x="31761" y="673395"/>
                  <a:pt x="0" y="641634"/>
                  <a:pt x="0" y="602514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1C398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97442" y="4394791"/>
            <a:ext cx="46074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0466" y="4377070"/>
            <a:ext cx="96579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On-demand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7442" y="4660605"/>
            <a:ext cx="481123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Slots partagés, pas de provisionnement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4919" y="5236534"/>
            <a:ext cx="2569535" cy="1107558"/>
          </a:xfrm>
          <a:custGeom>
            <a:avLst/>
            <a:gdLst/>
            <a:ahLst/>
            <a:cxnLst/>
            <a:rect l="l" t="t" r="r" b="b"/>
            <a:pathLst>
              <a:path w="2569535" h="1107558">
                <a:moveTo>
                  <a:pt x="106326" y="0"/>
                </a:moveTo>
                <a:lnTo>
                  <a:pt x="2463209" y="0"/>
                </a:lnTo>
                <a:cubicBezTo>
                  <a:pt x="2521931" y="0"/>
                  <a:pt x="2569535" y="47604"/>
                  <a:pt x="2569535" y="106326"/>
                </a:cubicBezTo>
                <a:lnTo>
                  <a:pt x="2569535" y="1001233"/>
                </a:lnTo>
                <a:cubicBezTo>
                  <a:pt x="2569535" y="1059955"/>
                  <a:pt x="2521931" y="1107558"/>
                  <a:pt x="2463209" y="1107558"/>
                </a:cubicBezTo>
                <a:lnTo>
                  <a:pt x="106326" y="1107558"/>
                </a:lnTo>
                <a:cubicBezTo>
                  <a:pt x="47604" y="1107558"/>
                  <a:pt x="0" y="1059955"/>
                  <a:pt x="0" y="1001233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73395" y="5351721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64238" y="95250"/>
                </a:moveTo>
                <a:lnTo>
                  <a:pt x="64238" y="77529"/>
                </a:lnTo>
                <a:lnTo>
                  <a:pt x="46517" y="77529"/>
                </a:lnTo>
                <a:cubicBezTo>
                  <a:pt x="42835" y="77529"/>
                  <a:pt x="39872" y="74566"/>
                  <a:pt x="39872" y="70884"/>
                </a:cubicBezTo>
                <a:cubicBezTo>
                  <a:pt x="39872" y="67201"/>
                  <a:pt x="42835" y="64238"/>
                  <a:pt x="46517" y="64238"/>
                </a:cubicBezTo>
                <a:lnTo>
                  <a:pt x="64238" y="64238"/>
                </a:lnTo>
                <a:lnTo>
                  <a:pt x="64238" y="46517"/>
                </a:lnTo>
                <a:cubicBezTo>
                  <a:pt x="64238" y="42835"/>
                  <a:pt x="67201" y="39872"/>
                  <a:pt x="70884" y="39872"/>
                </a:cubicBezTo>
                <a:cubicBezTo>
                  <a:pt x="74566" y="39872"/>
                  <a:pt x="77529" y="42835"/>
                  <a:pt x="77529" y="46517"/>
                </a:cubicBezTo>
                <a:lnTo>
                  <a:pt x="77529" y="64238"/>
                </a:lnTo>
                <a:lnTo>
                  <a:pt x="95250" y="64238"/>
                </a:lnTo>
                <a:cubicBezTo>
                  <a:pt x="98933" y="64238"/>
                  <a:pt x="101895" y="67201"/>
                  <a:pt x="101895" y="70884"/>
                </a:cubicBezTo>
                <a:cubicBezTo>
                  <a:pt x="101895" y="74566"/>
                  <a:pt x="98933" y="77529"/>
                  <a:pt x="95250" y="77529"/>
                </a:cubicBezTo>
                <a:lnTo>
                  <a:pt x="77529" y="77529"/>
                </a:lnTo>
                <a:lnTo>
                  <a:pt x="77529" y="95250"/>
                </a:lnTo>
                <a:cubicBezTo>
                  <a:pt x="77529" y="98933"/>
                  <a:pt x="74566" y="101895"/>
                  <a:pt x="70884" y="101895"/>
                </a:cubicBezTo>
                <a:cubicBezTo>
                  <a:pt x="67201" y="101895"/>
                  <a:pt x="64238" y="98933"/>
                  <a:pt x="64238" y="9525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32884" y="5316279"/>
            <a:ext cx="224169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5610" y="5635256"/>
            <a:ext cx="93035" cy="106326"/>
          </a:xfrm>
          <a:custGeom>
            <a:avLst/>
            <a:gdLst/>
            <a:ahLst/>
            <a:cxnLst/>
            <a:rect l="l" t="t" r="r" b="b"/>
            <a:pathLst>
              <a:path w="93035" h="106326">
                <a:moveTo>
                  <a:pt x="90294" y="14557"/>
                </a:moveTo>
                <a:cubicBezTo>
                  <a:pt x="93263" y="16717"/>
                  <a:pt x="93928" y="20871"/>
                  <a:pt x="91768" y="23840"/>
                </a:cubicBezTo>
                <a:lnTo>
                  <a:pt x="38605" y="96939"/>
                </a:lnTo>
                <a:cubicBezTo>
                  <a:pt x="37463" y="98517"/>
                  <a:pt x="35698" y="99493"/>
                  <a:pt x="33746" y="99659"/>
                </a:cubicBezTo>
                <a:cubicBezTo>
                  <a:pt x="31794" y="99826"/>
                  <a:pt x="29904" y="99099"/>
                  <a:pt x="28533" y="97728"/>
                </a:cubicBezTo>
                <a:lnTo>
                  <a:pt x="1952" y="71147"/>
                </a:lnTo>
                <a:cubicBezTo>
                  <a:pt x="-644" y="68551"/>
                  <a:pt x="-644" y="64335"/>
                  <a:pt x="1952" y="61739"/>
                </a:cubicBezTo>
                <a:cubicBezTo>
                  <a:pt x="4548" y="59144"/>
                  <a:pt x="8764" y="59144"/>
                  <a:pt x="11359" y="61739"/>
                </a:cubicBezTo>
                <a:lnTo>
                  <a:pt x="32438" y="82818"/>
                </a:lnTo>
                <a:lnTo>
                  <a:pt x="81032" y="16011"/>
                </a:lnTo>
                <a:cubicBezTo>
                  <a:pt x="83191" y="13041"/>
                  <a:pt x="87345" y="12377"/>
                  <a:pt x="90314" y="14537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59465" y="5528930"/>
            <a:ext cx="203790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Aucune gestion d'infrastructure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465" y="5812465"/>
            <a:ext cx="218410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5610" y="5782655"/>
            <a:ext cx="93035" cy="106326"/>
          </a:xfrm>
          <a:custGeom>
            <a:avLst/>
            <a:gdLst/>
            <a:ahLst/>
            <a:cxnLst/>
            <a:rect l="l" t="t" r="r" b="b"/>
            <a:pathLst>
              <a:path w="93035" h="106326">
                <a:moveTo>
                  <a:pt x="90294" y="14557"/>
                </a:moveTo>
                <a:cubicBezTo>
                  <a:pt x="93263" y="16717"/>
                  <a:pt x="93928" y="20871"/>
                  <a:pt x="91768" y="23840"/>
                </a:cubicBezTo>
                <a:lnTo>
                  <a:pt x="38605" y="96939"/>
                </a:lnTo>
                <a:cubicBezTo>
                  <a:pt x="37463" y="98517"/>
                  <a:pt x="35698" y="99493"/>
                  <a:pt x="33746" y="99659"/>
                </a:cubicBezTo>
                <a:cubicBezTo>
                  <a:pt x="31794" y="99826"/>
                  <a:pt x="29904" y="99099"/>
                  <a:pt x="28533" y="97728"/>
                </a:cubicBezTo>
                <a:lnTo>
                  <a:pt x="1952" y="71147"/>
                </a:lnTo>
                <a:cubicBezTo>
                  <a:pt x="-644" y="68551"/>
                  <a:pt x="-644" y="64335"/>
                  <a:pt x="1952" y="61739"/>
                </a:cubicBezTo>
                <a:cubicBezTo>
                  <a:pt x="4548" y="59144"/>
                  <a:pt x="8764" y="59144"/>
                  <a:pt x="11359" y="61739"/>
                </a:cubicBezTo>
                <a:lnTo>
                  <a:pt x="32438" y="82818"/>
                </a:lnTo>
                <a:lnTo>
                  <a:pt x="81032" y="16011"/>
                </a:lnTo>
                <a:cubicBezTo>
                  <a:pt x="83191" y="13041"/>
                  <a:pt x="87345" y="12377"/>
                  <a:pt x="90314" y="14537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59465" y="5774517"/>
            <a:ext cx="201132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 résultats performant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29640" y="5205523"/>
            <a:ext cx="2569535" cy="1107558"/>
          </a:xfrm>
          <a:custGeom>
            <a:avLst/>
            <a:gdLst/>
            <a:ahLst/>
            <a:cxnLst/>
            <a:rect l="l" t="t" r="r" b="b"/>
            <a:pathLst>
              <a:path w="2569535" h="1107558">
                <a:moveTo>
                  <a:pt x="106326" y="0"/>
                </a:moveTo>
                <a:lnTo>
                  <a:pt x="2463209" y="0"/>
                </a:lnTo>
                <a:cubicBezTo>
                  <a:pt x="2521931" y="0"/>
                  <a:pt x="2569535" y="47604"/>
                  <a:pt x="2569535" y="106326"/>
                </a:cubicBezTo>
                <a:lnTo>
                  <a:pt x="2569535" y="1001233"/>
                </a:lnTo>
                <a:cubicBezTo>
                  <a:pt x="2569535" y="1059955"/>
                  <a:pt x="2521931" y="1107558"/>
                  <a:pt x="2463209" y="1107558"/>
                </a:cubicBezTo>
                <a:lnTo>
                  <a:pt x="106326" y="1107558"/>
                </a:lnTo>
                <a:cubicBezTo>
                  <a:pt x="47604" y="1107558"/>
                  <a:pt x="0" y="1059955"/>
                  <a:pt x="0" y="1001233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3358116" y="5351721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0"/>
                </a:moveTo>
                <a:cubicBezTo>
                  <a:pt x="74954" y="0"/>
                  <a:pt x="78692" y="2243"/>
                  <a:pt x="80630" y="5815"/>
                </a:cubicBezTo>
                <a:lnTo>
                  <a:pt x="140438" y="116570"/>
                </a:lnTo>
                <a:cubicBezTo>
                  <a:pt x="142294" y="120004"/>
                  <a:pt x="142210" y="124157"/>
                  <a:pt x="140217" y="127508"/>
                </a:cubicBezTo>
                <a:cubicBezTo>
                  <a:pt x="138223" y="130858"/>
                  <a:pt x="134596" y="132907"/>
                  <a:pt x="130692" y="132907"/>
                </a:cubicBezTo>
                <a:lnTo>
                  <a:pt x="11076" y="132907"/>
                </a:lnTo>
                <a:cubicBezTo>
                  <a:pt x="7171" y="132907"/>
                  <a:pt x="3572" y="130858"/>
                  <a:pt x="1551" y="127508"/>
                </a:cubicBezTo>
                <a:cubicBezTo>
                  <a:pt x="-471" y="124157"/>
                  <a:pt x="-526" y="120004"/>
                  <a:pt x="1329" y="116570"/>
                </a:cubicBezTo>
                <a:lnTo>
                  <a:pt x="61137" y="5815"/>
                </a:lnTo>
                <a:cubicBezTo>
                  <a:pt x="63075" y="2243"/>
                  <a:pt x="66813" y="0"/>
                  <a:pt x="70884" y="0"/>
                </a:cubicBezTo>
                <a:close/>
                <a:moveTo>
                  <a:pt x="70884" y="46517"/>
                </a:moveTo>
                <a:cubicBezTo>
                  <a:pt x="67201" y="46517"/>
                  <a:pt x="64238" y="49480"/>
                  <a:pt x="64238" y="53163"/>
                </a:cubicBezTo>
                <a:lnTo>
                  <a:pt x="64238" y="84174"/>
                </a:lnTo>
                <a:cubicBezTo>
                  <a:pt x="64238" y="87857"/>
                  <a:pt x="67201" y="90820"/>
                  <a:pt x="70884" y="90820"/>
                </a:cubicBezTo>
                <a:cubicBezTo>
                  <a:pt x="74566" y="90820"/>
                  <a:pt x="77529" y="87857"/>
                  <a:pt x="77529" y="84174"/>
                </a:cubicBezTo>
                <a:lnTo>
                  <a:pt x="77529" y="53163"/>
                </a:lnTo>
                <a:cubicBezTo>
                  <a:pt x="77529" y="49480"/>
                  <a:pt x="74566" y="46517"/>
                  <a:pt x="70884" y="46517"/>
                </a:cubicBezTo>
                <a:close/>
                <a:moveTo>
                  <a:pt x="78277" y="106326"/>
                </a:moveTo>
                <a:cubicBezTo>
                  <a:pt x="78445" y="103581"/>
                  <a:pt x="77076" y="100971"/>
                  <a:pt x="74724" y="99548"/>
                </a:cubicBezTo>
                <a:cubicBezTo>
                  <a:pt x="72371" y="98125"/>
                  <a:pt x="69424" y="98125"/>
                  <a:pt x="67071" y="99548"/>
                </a:cubicBezTo>
                <a:cubicBezTo>
                  <a:pt x="64719" y="100971"/>
                  <a:pt x="63350" y="103581"/>
                  <a:pt x="63518" y="106326"/>
                </a:cubicBezTo>
                <a:cubicBezTo>
                  <a:pt x="63350" y="109070"/>
                  <a:pt x="64719" y="111681"/>
                  <a:pt x="67071" y="113104"/>
                </a:cubicBezTo>
                <a:cubicBezTo>
                  <a:pt x="69424" y="114526"/>
                  <a:pt x="72371" y="114526"/>
                  <a:pt x="74724" y="113104"/>
                </a:cubicBezTo>
                <a:cubicBezTo>
                  <a:pt x="77076" y="111681"/>
                  <a:pt x="78445" y="109070"/>
                  <a:pt x="78277" y="106326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517605" y="5316279"/>
            <a:ext cx="224169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66977" y="5635256"/>
            <a:ext cx="79744" cy="106326"/>
          </a:xfrm>
          <a:custGeom>
            <a:avLst/>
            <a:gdLst/>
            <a:ahLst/>
            <a:cxnLst/>
            <a:rect l="l" t="t" r="r" b="b"/>
            <a:pathLst>
              <a:path w="79744" h="106326">
                <a:moveTo>
                  <a:pt x="11442" y="15243"/>
                </a:moveTo>
                <a:cubicBezTo>
                  <a:pt x="8847" y="12647"/>
                  <a:pt x="4631" y="12647"/>
                  <a:pt x="2035" y="15243"/>
                </a:cubicBezTo>
                <a:cubicBezTo>
                  <a:pt x="-561" y="17839"/>
                  <a:pt x="-561" y="22054"/>
                  <a:pt x="2035" y="24650"/>
                </a:cubicBezTo>
                <a:lnTo>
                  <a:pt x="30569" y="53163"/>
                </a:lnTo>
                <a:lnTo>
                  <a:pt x="2056" y="81696"/>
                </a:lnTo>
                <a:cubicBezTo>
                  <a:pt x="-540" y="84292"/>
                  <a:pt x="-540" y="88508"/>
                  <a:pt x="2056" y="91104"/>
                </a:cubicBezTo>
                <a:cubicBezTo>
                  <a:pt x="4652" y="93699"/>
                  <a:pt x="8867" y="93699"/>
                  <a:pt x="11463" y="91104"/>
                </a:cubicBezTo>
                <a:lnTo>
                  <a:pt x="39976" y="62570"/>
                </a:lnTo>
                <a:lnTo>
                  <a:pt x="68509" y="91083"/>
                </a:lnTo>
                <a:cubicBezTo>
                  <a:pt x="71105" y="93679"/>
                  <a:pt x="75321" y="93679"/>
                  <a:pt x="77917" y="91083"/>
                </a:cubicBezTo>
                <a:cubicBezTo>
                  <a:pt x="80513" y="88487"/>
                  <a:pt x="80513" y="84271"/>
                  <a:pt x="77917" y="81675"/>
                </a:cubicBezTo>
                <a:lnTo>
                  <a:pt x="49383" y="53163"/>
                </a:lnTo>
                <a:lnTo>
                  <a:pt x="77896" y="24629"/>
                </a:lnTo>
                <a:cubicBezTo>
                  <a:pt x="80492" y="22033"/>
                  <a:pt x="80492" y="17818"/>
                  <a:pt x="77896" y="15222"/>
                </a:cubicBezTo>
                <a:cubicBezTo>
                  <a:pt x="75300" y="12626"/>
                  <a:pt x="71084" y="12626"/>
                  <a:pt x="68489" y="15222"/>
                </a:cubicBezTo>
                <a:lnTo>
                  <a:pt x="39976" y="43755"/>
                </a:lnTo>
                <a:lnTo>
                  <a:pt x="11442" y="152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544186" y="5599814"/>
            <a:ext cx="157716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Coûts imprévisibles (scans)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66977" y="5847907"/>
            <a:ext cx="79744" cy="106326"/>
          </a:xfrm>
          <a:custGeom>
            <a:avLst/>
            <a:gdLst/>
            <a:ahLst/>
            <a:cxnLst/>
            <a:rect l="l" t="t" r="r" b="b"/>
            <a:pathLst>
              <a:path w="79744" h="106326">
                <a:moveTo>
                  <a:pt x="11442" y="15243"/>
                </a:moveTo>
                <a:cubicBezTo>
                  <a:pt x="8847" y="12647"/>
                  <a:pt x="4631" y="12647"/>
                  <a:pt x="2035" y="15243"/>
                </a:cubicBezTo>
                <a:cubicBezTo>
                  <a:pt x="-561" y="17839"/>
                  <a:pt x="-561" y="22054"/>
                  <a:pt x="2035" y="24650"/>
                </a:cubicBezTo>
                <a:lnTo>
                  <a:pt x="30569" y="53163"/>
                </a:lnTo>
                <a:lnTo>
                  <a:pt x="2056" y="81696"/>
                </a:lnTo>
                <a:cubicBezTo>
                  <a:pt x="-540" y="84292"/>
                  <a:pt x="-540" y="88508"/>
                  <a:pt x="2056" y="91104"/>
                </a:cubicBezTo>
                <a:cubicBezTo>
                  <a:pt x="4652" y="93699"/>
                  <a:pt x="8867" y="93699"/>
                  <a:pt x="11463" y="91104"/>
                </a:cubicBezTo>
                <a:lnTo>
                  <a:pt x="39976" y="62570"/>
                </a:lnTo>
                <a:lnTo>
                  <a:pt x="68509" y="91083"/>
                </a:lnTo>
                <a:cubicBezTo>
                  <a:pt x="71105" y="93679"/>
                  <a:pt x="75321" y="93679"/>
                  <a:pt x="77917" y="91083"/>
                </a:cubicBezTo>
                <a:cubicBezTo>
                  <a:pt x="80513" y="88487"/>
                  <a:pt x="80513" y="84271"/>
                  <a:pt x="77917" y="81675"/>
                </a:cubicBezTo>
                <a:lnTo>
                  <a:pt x="49383" y="53163"/>
                </a:lnTo>
                <a:lnTo>
                  <a:pt x="77896" y="24629"/>
                </a:lnTo>
                <a:cubicBezTo>
                  <a:pt x="80492" y="22033"/>
                  <a:pt x="80492" y="17818"/>
                  <a:pt x="77896" y="15222"/>
                </a:cubicBezTo>
                <a:cubicBezTo>
                  <a:pt x="75300" y="12626"/>
                  <a:pt x="71084" y="12626"/>
                  <a:pt x="68489" y="15222"/>
                </a:cubicBezTo>
                <a:lnTo>
                  <a:pt x="39976" y="43755"/>
                </a:lnTo>
                <a:lnTo>
                  <a:pt x="11442" y="152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544185" y="5847907"/>
            <a:ext cx="2064489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Latence variable on-demand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06756" y="1457547"/>
            <a:ext cx="5626395" cy="5041605"/>
          </a:xfrm>
          <a:custGeom>
            <a:avLst/>
            <a:gdLst/>
            <a:ahLst/>
            <a:cxnLst/>
            <a:rect l="l" t="t" r="r" b="b"/>
            <a:pathLst>
              <a:path w="5626395" h="5041605">
                <a:moveTo>
                  <a:pt x="141770" y="0"/>
                </a:moveTo>
                <a:lnTo>
                  <a:pt x="5484625" y="0"/>
                </a:lnTo>
                <a:cubicBezTo>
                  <a:pt x="5562923" y="0"/>
                  <a:pt x="5626395" y="63473"/>
                  <a:pt x="5626395" y="141770"/>
                </a:cubicBezTo>
                <a:lnTo>
                  <a:pt x="5626395" y="4899835"/>
                </a:lnTo>
                <a:cubicBezTo>
                  <a:pt x="5626395" y="4978132"/>
                  <a:pt x="5562923" y="5041605"/>
                  <a:pt x="5484625" y="5041605"/>
                </a:cubicBezTo>
                <a:lnTo>
                  <a:pt x="141770" y="5041605"/>
                </a:lnTo>
                <a:cubicBezTo>
                  <a:pt x="63473" y="5041605"/>
                  <a:pt x="0" y="4978132"/>
                  <a:pt x="0" y="4899835"/>
                </a:cubicBezTo>
                <a:lnTo>
                  <a:pt x="0" y="141770"/>
                </a:lnTo>
                <a:cubicBezTo>
                  <a:pt x="0" y="63525"/>
                  <a:pt x="63525" y="0"/>
                  <a:pt x="141770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388395" y="1639186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>
                <a:moveTo>
                  <a:pt x="106328" y="0"/>
                </a:moveTo>
                <a:lnTo>
                  <a:pt x="389858" y="0"/>
                </a:lnTo>
                <a:cubicBezTo>
                  <a:pt x="448582" y="0"/>
                  <a:pt x="496186" y="47605"/>
                  <a:pt x="496186" y="106328"/>
                </a:cubicBezTo>
                <a:lnTo>
                  <a:pt x="496186" y="389858"/>
                </a:lnTo>
                <a:cubicBezTo>
                  <a:pt x="496186" y="448582"/>
                  <a:pt x="448582" y="496186"/>
                  <a:pt x="389858" y="496186"/>
                </a:cubicBezTo>
                <a:lnTo>
                  <a:pt x="106328" y="496186"/>
                </a:lnTo>
                <a:cubicBezTo>
                  <a:pt x="47605" y="496186"/>
                  <a:pt x="0" y="448582"/>
                  <a:pt x="0" y="389858"/>
                </a:cubicBezTo>
                <a:lnTo>
                  <a:pt x="0" y="106328"/>
                </a:lnTo>
                <a:cubicBezTo>
                  <a:pt x="0" y="47644"/>
                  <a:pt x="47644" y="0"/>
                  <a:pt x="106328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530163" y="1780953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19699" y="0"/>
                </a:moveTo>
                <a:cubicBezTo>
                  <a:pt x="119699" y="-7351"/>
                  <a:pt x="113760" y="-13291"/>
                  <a:pt x="106409" y="-13291"/>
                </a:cubicBezTo>
                <a:cubicBezTo>
                  <a:pt x="99057" y="-13291"/>
                  <a:pt x="93118" y="-7351"/>
                  <a:pt x="93118" y="0"/>
                </a:cubicBezTo>
                <a:lnTo>
                  <a:pt x="93118" y="25792"/>
                </a:lnTo>
                <a:lnTo>
                  <a:pt x="86888" y="19562"/>
                </a:lnTo>
                <a:cubicBezTo>
                  <a:pt x="82984" y="15658"/>
                  <a:pt x="76671" y="15658"/>
                  <a:pt x="72808" y="19562"/>
                </a:cubicBezTo>
                <a:cubicBezTo>
                  <a:pt x="68945" y="23466"/>
                  <a:pt x="68904" y="29779"/>
                  <a:pt x="72808" y="33642"/>
                </a:cubicBezTo>
                <a:lnTo>
                  <a:pt x="93159" y="53993"/>
                </a:lnTo>
                <a:lnTo>
                  <a:pt x="93159" y="83316"/>
                </a:lnTo>
                <a:lnTo>
                  <a:pt x="67741" y="68655"/>
                </a:lnTo>
                <a:lnTo>
                  <a:pt x="60307" y="40869"/>
                </a:lnTo>
                <a:cubicBezTo>
                  <a:pt x="58894" y="35553"/>
                  <a:pt x="53412" y="32396"/>
                  <a:pt x="48096" y="33808"/>
                </a:cubicBezTo>
                <a:cubicBezTo>
                  <a:pt x="42779" y="35220"/>
                  <a:pt x="39581" y="40703"/>
                  <a:pt x="40993" y="46019"/>
                </a:cubicBezTo>
                <a:lnTo>
                  <a:pt x="43278" y="54533"/>
                </a:lnTo>
                <a:lnTo>
                  <a:pt x="20974" y="41658"/>
                </a:lnTo>
                <a:cubicBezTo>
                  <a:pt x="14620" y="38003"/>
                  <a:pt x="6479" y="40163"/>
                  <a:pt x="2824" y="46517"/>
                </a:cubicBezTo>
                <a:cubicBezTo>
                  <a:pt x="-831" y="52872"/>
                  <a:pt x="1329" y="61013"/>
                  <a:pt x="7684" y="64668"/>
                </a:cubicBezTo>
                <a:lnTo>
                  <a:pt x="29987" y="77543"/>
                </a:lnTo>
                <a:lnTo>
                  <a:pt x="21473" y="79827"/>
                </a:lnTo>
                <a:cubicBezTo>
                  <a:pt x="16157" y="81239"/>
                  <a:pt x="13000" y="86722"/>
                  <a:pt x="14412" y="92038"/>
                </a:cubicBezTo>
                <a:cubicBezTo>
                  <a:pt x="15824" y="97354"/>
                  <a:pt x="21307" y="100511"/>
                  <a:pt x="26623" y="99099"/>
                </a:cubicBezTo>
                <a:lnTo>
                  <a:pt x="54409" y="91664"/>
                </a:lnTo>
                <a:lnTo>
                  <a:pt x="79827" y="106326"/>
                </a:lnTo>
                <a:lnTo>
                  <a:pt x="54409" y="120987"/>
                </a:lnTo>
                <a:lnTo>
                  <a:pt x="26623" y="113552"/>
                </a:lnTo>
                <a:cubicBezTo>
                  <a:pt x="21307" y="112140"/>
                  <a:pt x="15824" y="115297"/>
                  <a:pt x="14412" y="120613"/>
                </a:cubicBezTo>
                <a:cubicBezTo>
                  <a:pt x="13000" y="125929"/>
                  <a:pt x="16157" y="131412"/>
                  <a:pt x="21473" y="132824"/>
                </a:cubicBezTo>
                <a:lnTo>
                  <a:pt x="29987" y="135108"/>
                </a:lnTo>
                <a:lnTo>
                  <a:pt x="7684" y="147984"/>
                </a:lnTo>
                <a:cubicBezTo>
                  <a:pt x="1329" y="151639"/>
                  <a:pt x="-831" y="159779"/>
                  <a:pt x="2824" y="166134"/>
                </a:cubicBezTo>
                <a:cubicBezTo>
                  <a:pt x="6479" y="172488"/>
                  <a:pt x="14620" y="174690"/>
                  <a:pt x="20974" y="170993"/>
                </a:cubicBezTo>
                <a:lnTo>
                  <a:pt x="43278" y="158118"/>
                </a:lnTo>
                <a:lnTo>
                  <a:pt x="40993" y="166632"/>
                </a:lnTo>
                <a:cubicBezTo>
                  <a:pt x="39581" y="171948"/>
                  <a:pt x="42738" y="177431"/>
                  <a:pt x="48054" y="178843"/>
                </a:cubicBezTo>
                <a:cubicBezTo>
                  <a:pt x="53370" y="180255"/>
                  <a:pt x="58853" y="177099"/>
                  <a:pt x="60265" y="171782"/>
                </a:cubicBezTo>
                <a:lnTo>
                  <a:pt x="67699" y="143996"/>
                </a:lnTo>
                <a:lnTo>
                  <a:pt x="93118" y="129335"/>
                </a:lnTo>
                <a:lnTo>
                  <a:pt x="93118" y="158658"/>
                </a:lnTo>
                <a:lnTo>
                  <a:pt x="72767" y="179009"/>
                </a:lnTo>
                <a:cubicBezTo>
                  <a:pt x="68862" y="182913"/>
                  <a:pt x="68862" y="189226"/>
                  <a:pt x="72767" y="193089"/>
                </a:cubicBezTo>
                <a:cubicBezTo>
                  <a:pt x="76671" y="196952"/>
                  <a:pt x="82984" y="196993"/>
                  <a:pt x="86846" y="193089"/>
                </a:cubicBezTo>
                <a:lnTo>
                  <a:pt x="93076" y="186859"/>
                </a:lnTo>
                <a:lnTo>
                  <a:pt x="93076" y="212651"/>
                </a:lnTo>
                <a:cubicBezTo>
                  <a:pt x="93076" y="220003"/>
                  <a:pt x="99016" y="225942"/>
                  <a:pt x="106367" y="225942"/>
                </a:cubicBezTo>
                <a:cubicBezTo>
                  <a:pt x="113719" y="225942"/>
                  <a:pt x="119658" y="220003"/>
                  <a:pt x="119658" y="212651"/>
                </a:cubicBezTo>
                <a:lnTo>
                  <a:pt x="119658" y="186859"/>
                </a:lnTo>
                <a:lnTo>
                  <a:pt x="125888" y="193089"/>
                </a:lnTo>
                <a:cubicBezTo>
                  <a:pt x="129792" y="196993"/>
                  <a:pt x="136105" y="196993"/>
                  <a:pt x="139968" y="193089"/>
                </a:cubicBezTo>
                <a:cubicBezTo>
                  <a:pt x="143830" y="189185"/>
                  <a:pt x="143872" y="182872"/>
                  <a:pt x="139968" y="179009"/>
                </a:cubicBezTo>
                <a:lnTo>
                  <a:pt x="119616" y="158658"/>
                </a:lnTo>
                <a:lnTo>
                  <a:pt x="119616" y="129335"/>
                </a:lnTo>
                <a:lnTo>
                  <a:pt x="145035" y="143996"/>
                </a:lnTo>
                <a:lnTo>
                  <a:pt x="152469" y="171782"/>
                </a:lnTo>
                <a:cubicBezTo>
                  <a:pt x="153881" y="177099"/>
                  <a:pt x="159364" y="180255"/>
                  <a:pt x="164680" y="178843"/>
                </a:cubicBezTo>
                <a:cubicBezTo>
                  <a:pt x="169996" y="177431"/>
                  <a:pt x="173153" y="171948"/>
                  <a:pt x="171741" y="166632"/>
                </a:cubicBezTo>
                <a:lnTo>
                  <a:pt x="169456" y="158118"/>
                </a:lnTo>
                <a:lnTo>
                  <a:pt x="191760" y="170993"/>
                </a:lnTo>
                <a:cubicBezTo>
                  <a:pt x="198114" y="174648"/>
                  <a:pt x="206255" y="172488"/>
                  <a:pt x="209910" y="166134"/>
                </a:cubicBezTo>
                <a:cubicBezTo>
                  <a:pt x="213565" y="159779"/>
                  <a:pt x="211405" y="151639"/>
                  <a:pt x="205051" y="147984"/>
                </a:cubicBezTo>
                <a:lnTo>
                  <a:pt x="182747" y="135108"/>
                </a:lnTo>
                <a:lnTo>
                  <a:pt x="191261" y="132824"/>
                </a:lnTo>
                <a:cubicBezTo>
                  <a:pt x="196578" y="131412"/>
                  <a:pt x="199734" y="125929"/>
                  <a:pt x="198322" y="120613"/>
                </a:cubicBezTo>
                <a:cubicBezTo>
                  <a:pt x="196910" y="115297"/>
                  <a:pt x="191428" y="112140"/>
                  <a:pt x="186111" y="113552"/>
                </a:cubicBezTo>
                <a:lnTo>
                  <a:pt x="158325" y="120987"/>
                </a:lnTo>
                <a:lnTo>
                  <a:pt x="132907" y="106326"/>
                </a:lnTo>
                <a:lnTo>
                  <a:pt x="158325" y="91664"/>
                </a:lnTo>
                <a:lnTo>
                  <a:pt x="186111" y="99099"/>
                </a:lnTo>
                <a:cubicBezTo>
                  <a:pt x="191428" y="100511"/>
                  <a:pt x="196910" y="97354"/>
                  <a:pt x="198322" y="92038"/>
                </a:cubicBezTo>
                <a:cubicBezTo>
                  <a:pt x="199734" y="86722"/>
                  <a:pt x="196578" y="81239"/>
                  <a:pt x="191261" y="79827"/>
                </a:cubicBezTo>
                <a:lnTo>
                  <a:pt x="182747" y="77543"/>
                </a:lnTo>
                <a:lnTo>
                  <a:pt x="205051" y="64668"/>
                </a:lnTo>
                <a:cubicBezTo>
                  <a:pt x="211405" y="61013"/>
                  <a:pt x="213606" y="52872"/>
                  <a:pt x="209910" y="46517"/>
                </a:cubicBezTo>
                <a:cubicBezTo>
                  <a:pt x="206213" y="40163"/>
                  <a:pt x="198114" y="38003"/>
                  <a:pt x="191760" y="41658"/>
                </a:cubicBezTo>
                <a:lnTo>
                  <a:pt x="169456" y="54533"/>
                </a:lnTo>
                <a:lnTo>
                  <a:pt x="171741" y="46019"/>
                </a:lnTo>
                <a:cubicBezTo>
                  <a:pt x="173153" y="40703"/>
                  <a:pt x="169996" y="35220"/>
                  <a:pt x="164680" y="33808"/>
                </a:cubicBezTo>
                <a:cubicBezTo>
                  <a:pt x="159364" y="32396"/>
                  <a:pt x="153881" y="35553"/>
                  <a:pt x="152469" y="40869"/>
                </a:cubicBezTo>
                <a:lnTo>
                  <a:pt x="145035" y="68655"/>
                </a:lnTo>
                <a:lnTo>
                  <a:pt x="119616" y="83316"/>
                </a:lnTo>
                <a:lnTo>
                  <a:pt x="119616" y="53993"/>
                </a:lnTo>
                <a:lnTo>
                  <a:pt x="139968" y="33642"/>
                </a:lnTo>
                <a:cubicBezTo>
                  <a:pt x="143872" y="29738"/>
                  <a:pt x="143872" y="23425"/>
                  <a:pt x="139968" y="19562"/>
                </a:cubicBezTo>
                <a:cubicBezTo>
                  <a:pt x="136064" y="15700"/>
                  <a:pt x="129750" y="15658"/>
                  <a:pt x="125888" y="19562"/>
                </a:cubicBezTo>
                <a:lnTo>
                  <a:pt x="119658" y="25792"/>
                </a:lnTo>
                <a:lnTo>
                  <a:pt x="119658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7026349" y="1639186"/>
            <a:ext cx="1160721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26349" y="1922721"/>
            <a:ext cx="11252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Multi-Cloud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2826" y="2281570"/>
            <a:ext cx="5254256" cy="2808767"/>
          </a:xfrm>
          <a:custGeom>
            <a:avLst/>
            <a:gdLst/>
            <a:ahLst/>
            <a:cxnLst/>
            <a:rect l="l" t="t" r="r" b="b"/>
            <a:pathLst>
              <a:path w="5254256" h="2808767">
                <a:moveTo>
                  <a:pt x="106312" y="0"/>
                </a:moveTo>
                <a:lnTo>
                  <a:pt x="5147944" y="0"/>
                </a:lnTo>
                <a:cubicBezTo>
                  <a:pt x="5206658" y="0"/>
                  <a:pt x="5254256" y="47597"/>
                  <a:pt x="5254256" y="106312"/>
                </a:cubicBezTo>
                <a:lnTo>
                  <a:pt x="5254256" y="2702456"/>
                </a:lnTo>
                <a:cubicBezTo>
                  <a:pt x="5254256" y="2761170"/>
                  <a:pt x="5206658" y="2808767"/>
                  <a:pt x="5147944" y="2808767"/>
                </a:cubicBezTo>
                <a:lnTo>
                  <a:pt x="106312" y="2808767"/>
                </a:lnTo>
                <a:cubicBezTo>
                  <a:pt x="47597" y="2808767"/>
                  <a:pt x="0" y="2761170"/>
                  <a:pt x="0" y="2702456"/>
                </a:cubicBezTo>
                <a:lnTo>
                  <a:pt x="0" y="106312"/>
                </a:lnTo>
                <a:cubicBezTo>
                  <a:pt x="0" y="47637"/>
                  <a:pt x="47637" y="0"/>
                  <a:pt x="106312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539023" y="2427767"/>
            <a:ext cx="504160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 de Prix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39023" y="2782186"/>
            <a:ext cx="4961860" cy="673395"/>
          </a:xfrm>
          <a:custGeom>
            <a:avLst/>
            <a:gdLst/>
            <a:ahLst/>
            <a:cxnLst/>
            <a:rect l="l" t="t" r="r" b="b"/>
            <a:pathLst>
              <a:path w="4961860" h="673395">
                <a:moveTo>
                  <a:pt x="70882" y="0"/>
                </a:moveTo>
                <a:lnTo>
                  <a:pt x="4890979" y="0"/>
                </a:lnTo>
                <a:cubicBezTo>
                  <a:pt x="4930126" y="0"/>
                  <a:pt x="4961860" y="31735"/>
                  <a:pt x="4961860" y="70882"/>
                </a:cubicBezTo>
                <a:lnTo>
                  <a:pt x="4961860" y="602514"/>
                </a:lnTo>
                <a:cubicBezTo>
                  <a:pt x="4961860" y="641661"/>
                  <a:pt x="4930126" y="673395"/>
                  <a:pt x="4890979" y="673395"/>
                </a:cubicBezTo>
                <a:lnTo>
                  <a:pt x="70882" y="673395"/>
                </a:lnTo>
                <a:cubicBezTo>
                  <a:pt x="31761" y="673395"/>
                  <a:pt x="0" y="641634"/>
                  <a:pt x="0" y="602514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645349" y="2906233"/>
            <a:ext cx="46074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065073" y="2888512"/>
            <a:ext cx="140881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Crédits / seconde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45349" y="3172047"/>
            <a:ext cx="481123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Warehouses de différentes tailles (XS à 4XL)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539023" y="3526465"/>
            <a:ext cx="4961860" cy="673395"/>
          </a:xfrm>
          <a:custGeom>
            <a:avLst/>
            <a:gdLst/>
            <a:ahLst/>
            <a:cxnLst/>
            <a:rect l="l" t="t" r="r" b="b"/>
            <a:pathLst>
              <a:path w="4961860" h="673395">
                <a:moveTo>
                  <a:pt x="70882" y="0"/>
                </a:moveTo>
                <a:lnTo>
                  <a:pt x="4890979" y="0"/>
                </a:lnTo>
                <a:cubicBezTo>
                  <a:pt x="4930126" y="0"/>
                  <a:pt x="4961860" y="31735"/>
                  <a:pt x="4961860" y="70882"/>
                </a:cubicBezTo>
                <a:lnTo>
                  <a:pt x="4961860" y="602514"/>
                </a:lnTo>
                <a:cubicBezTo>
                  <a:pt x="4961860" y="641661"/>
                  <a:pt x="4930126" y="673395"/>
                  <a:pt x="4890979" y="673395"/>
                </a:cubicBezTo>
                <a:lnTo>
                  <a:pt x="70882" y="673395"/>
                </a:lnTo>
                <a:cubicBezTo>
                  <a:pt x="31761" y="673395"/>
                  <a:pt x="0" y="641634"/>
                  <a:pt x="0" y="602514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645349" y="3650512"/>
            <a:ext cx="664535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77724" y="3632791"/>
            <a:ext cx="119616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23$ / TB / mois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45349" y="3916326"/>
            <a:ext cx="481123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 compressé et chiffré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39023" y="4270744"/>
            <a:ext cx="4961860" cy="673395"/>
          </a:xfrm>
          <a:custGeom>
            <a:avLst/>
            <a:gdLst/>
            <a:ahLst/>
            <a:cxnLst/>
            <a:rect l="l" t="t" r="r" b="b"/>
            <a:pathLst>
              <a:path w="4961860" h="673395">
                <a:moveTo>
                  <a:pt x="70882" y="0"/>
                </a:moveTo>
                <a:lnTo>
                  <a:pt x="4890979" y="0"/>
                </a:lnTo>
                <a:cubicBezTo>
                  <a:pt x="4930126" y="0"/>
                  <a:pt x="4961860" y="31735"/>
                  <a:pt x="4961860" y="70882"/>
                </a:cubicBezTo>
                <a:lnTo>
                  <a:pt x="4961860" y="602514"/>
                </a:lnTo>
                <a:cubicBezTo>
                  <a:pt x="4961860" y="641661"/>
                  <a:pt x="4930126" y="673395"/>
                  <a:pt x="4890979" y="673395"/>
                </a:cubicBezTo>
                <a:lnTo>
                  <a:pt x="70882" y="673395"/>
                </a:lnTo>
                <a:cubicBezTo>
                  <a:pt x="31761" y="673395"/>
                  <a:pt x="0" y="641634"/>
                  <a:pt x="0" y="602514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645349" y="4394791"/>
            <a:ext cx="646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Efficacité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322442" y="4377070"/>
            <a:ext cx="115186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Auto-suspend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45349" y="4660605"/>
            <a:ext cx="481123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Suspension automatique après inactivité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2826" y="5205523"/>
            <a:ext cx="2569535" cy="1107558"/>
          </a:xfrm>
          <a:custGeom>
            <a:avLst/>
            <a:gdLst/>
            <a:ahLst/>
            <a:cxnLst/>
            <a:rect l="l" t="t" r="r" b="b"/>
            <a:pathLst>
              <a:path w="2569535" h="1107558">
                <a:moveTo>
                  <a:pt x="106326" y="0"/>
                </a:moveTo>
                <a:lnTo>
                  <a:pt x="2463209" y="0"/>
                </a:lnTo>
                <a:cubicBezTo>
                  <a:pt x="2521931" y="0"/>
                  <a:pt x="2569535" y="47604"/>
                  <a:pt x="2569535" y="106326"/>
                </a:cubicBezTo>
                <a:lnTo>
                  <a:pt x="2569535" y="1001233"/>
                </a:lnTo>
                <a:cubicBezTo>
                  <a:pt x="2569535" y="1059955"/>
                  <a:pt x="2521931" y="1107558"/>
                  <a:pt x="2463209" y="1107558"/>
                </a:cubicBezTo>
                <a:lnTo>
                  <a:pt x="106326" y="1107558"/>
                </a:lnTo>
                <a:cubicBezTo>
                  <a:pt x="47604" y="1107558"/>
                  <a:pt x="0" y="1059955"/>
                  <a:pt x="0" y="1001233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6521302" y="5351721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64238" y="95250"/>
                </a:moveTo>
                <a:lnTo>
                  <a:pt x="64238" y="77529"/>
                </a:lnTo>
                <a:lnTo>
                  <a:pt x="46517" y="77529"/>
                </a:lnTo>
                <a:cubicBezTo>
                  <a:pt x="42835" y="77529"/>
                  <a:pt x="39872" y="74566"/>
                  <a:pt x="39872" y="70884"/>
                </a:cubicBezTo>
                <a:cubicBezTo>
                  <a:pt x="39872" y="67201"/>
                  <a:pt x="42835" y="64238"/>
                  <a:pt x="46517" y="64238"/>
                </a:cubicBezTo>
                <a:lnTo>
                  <a:pt x="64238" y="64238"/>
                </a:lnTo>
                <a:lnTo>
                  <a:pt x="64238" y="46517"/>
                </a:lnTo>
                <a:cubicBezTo>
                  <a:pt x="64238" y="42835"/>
                  <a:pt x="67201" y="39872"/>
                  <a:pt x="70884" y="39872"/>
                </a:cubicBezTo>
                <a:cubicBezTo>
                  <a:pt x="74566" y="39872"/>
                  <a:pt x="77529" y="42835"/>
                  <a:pt x="77529" y="46517"/>
                </a:cubicBezTo>
                <a:lnTo>
                  <a:pt x="77529" y="64238"/>
                </a:lnTo>
                <a:lnTo>
                  <a:pt x="95250" y="64238"/>
                </a:lnTo>
                <a:cubicBezTo>
                  <a:pt x="98933" y="64238"/>
                  <a:pt x="101895" y="67201"/>
                  <a:pt x="101895" y="70884"/>
                </a:cubicBezTo>
                <a:cubicBezTo>
                  <a:pt x="101895" y="74566"/>
                  <a:pt x="98933" y="77529"/>
                  <a:pt x="95250" y="77529"/>
                </a:cubicBezTo>
                <a:lnTo>
                  <a:pt x="77529" y="77529"/>
                </a:lnTo>
                <a:lnTo>
                  <a:pt x="77529" y="95250"/>
                </a:lnTo>
                <a:cubicBezTo>
                  <a:pt x="77529" y="98933"/>
                  <a:pt x="74566" y="101895"/>
                  <a:pt x="70884" y="101895"/>
                </a:cubicBezTo>
                <a:cubicBezTo>
                  <a:pt x="67201" y="101895"/>
                  <a:pt x="64238" y="98933"/>
                  <a:pt x="64238" y="9525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680791" y="5316279"/>
            <a:ext cx="224169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523517" y="5635256"/>
            <a:ext cx="93035" cy="106326"/>
          </a:xfrm>
          <a:custGeom>
            <a:avLst/>
            <a:gdLst/>
            <a:ahLst/>
            <a:cxnLst/>
            <a:rect l="l" t="t" r="r" b="b"/>
            <a:pathLst>
              <a:path w="93035" h="106326">
                <a:moveTo>
                  <a:pt x="90294" y="14557"/>
                </a:moveTo>
                <a:cubicBezTo>
                  <a:pt x="93263" y="16717"/>
                  <a:pt x="93928" y="20871"/>
                  <a:pt x="91768" y="23840"/>
                </a:cubicBezTo>
                <a:lnTo>
                  <a:pt x="38605" y="96939"/>
                </a:lnTo>
                <a:cubicBezTo>
                  <a:pt x="37463" y="98517"/>
                  <a:pt x="35698" y="99493"/>
                  <a:pt x="33746" y="99659"/>
                </a:cubicBezTo>
                <a:cubicBezTo>
                  <a:pt x="31794" y="99826"/>
                  <a:pt x="29904" y="99099"/>
                  <a:pt x="28533" y="97728"/>
                </a:cubicBezTo>
                <a:lnTo>
                  <a:pt x="1952" y="71147"/>
                </a:lnTo>
                <a:cubicBezTo>
                  <a:pt x="-644" y="68551"/>
                  <a:pt x="-644" y="64335"/>
                  <a:pt x="1952" y="61739"/>
                </a:cubicBezTo>
                <a:cubicBezTo>
                  <a:pt x="4548" y="59144"/>
                  <a:pt x="8764" y="59144"/>
                  <a:pt x="11359" y="61739"/>
                </a:cubicBezTo>
                <a:lnTo>
                  <a:pt x="32438" y="82818"/>
                </a:lnTo>
                <a:lnTo>
                  <a:pt x="81032" y="16011"/>
                </a:lnTo>
                <a:cubicBezTo>
                  <a:pt x="83191" y="13041"/>
                  <a:pt x="87345" y="12377"/>
                  <a:pt x="90314" y="14537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707372" y="5599814"/>
            <a:ext cx="123160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 des charges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523517" y="5847907"/>
            <a:ext cx="93035" cy="106326"/>
          </a:xfrm>
          <a:custGeom>
            <a:avLst/>
            <a:gdLst/>
            <a:ahLst/>
            <a:cxnLst/>
            <a:rect l="l" t="t" r="r" b="b"/>
            <a:pathLst>
              <a:path w="93035" h="106326">
                <a:moveTo>
                  <a:pt x="90294" y="14557"/>
                </a:moveTo>
                <a:cubicBezTo>
                  <a:pt x="93263" y="16717"/>
                  <a:pt x="93928" y="20871"/>
                  <a:pt x="91768" y="23840"/>
                </a:cubicBezTo>
                <a:lnTo>
                  <a:pt x="38605" y="96939"/>
                </a:lnTo>
                <a:cubicBezTo>
                  <a:pt x="37463" y="98517"/>
                  <a:pt x="35698" y="99493"/>
                  <a:pt x="33746" y="99659"/>
                </a:cubicBezTo>
                <a:cubicBezTo>
                  <a:pt x="31794" y="99826"/>
                  <a:pt x="29904" y="99099"/>
                  <a:pt x="28533" y="97728"/>
                </a:cubicBezTo>
                <a:lnTo>
                  <a:pt x="1952" y="71147"/>
                </a:lnTo>
                <a:cubicBezTo>
                  <a:pt x="-644" y="68551"/>
                  <a:pt x="-644" y="64335"/>
                  <a:pt x="1952" y="61739"/>
                </a:cubicBezTo>
                <a:cubicBezTo>
                  <a:pt x="4548" y="59144"/>
                  <a:pt x="8764" y="59144"/>
                  <a:pt x="11359" y="61739"/>
                </a:cubicBezTo>
                <a:lnTo>
                  <a:pt x="32438" y="82818"/>
                </a:lnTo>
                <a:lnTo>
                  <a:pt x="81032" y="16011"/>
                </a:lnTo>
                <a:cubicBezTo>
                  <a:pt x="83191" y="13041"/>
                  <a:pt x="87345" y="12377"/>
                  <a:pt x="90314" y="14537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707372" y="5812465"/>
            <a:ext cx="201132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Séparation Calcul/Stockage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523517" y="6060558"/>
            <a:ext cx="93035" cy="106326"/>
          </a:xfrm>
          <a:custGeom>
            <a:avLst/>
            <a:gdLst/>
            <a:ahLst/>
            <a:cxnLst/>
            <a:rect l="l" t="t" r="r" b="b"/>
            <a:pathLst>
              <a:path w="93035" h="106326">
                <a:moveTo>
                  <a:pt x="90294" y="14557"/>
                </a:moveTo>
                <a:cubicBezTo>
                  <a:pt x="93263" y="16717"/>
                  <a:pt x="93928" y="20871"/>
                  <a:pt x="91768" y="23840"/>
                </a:cubicBezTo>
                <a:lnTo>
                  <a:pt x="38605" y="96939"/>
                </a:lnTo>
                <a:cubicBezTo>
                  <a:pt x="37463" y="98517"/>
                  <a:pt x="35698" y="99493"/>
                  <a:pt x="33746" y="99659"/>
                </a:cubicBezTo>
                <a:cubicBezTo>
                  <a:pt x="31794" y="99826"/>
                  <a:pt x="29904" y="99099"/>
                  <a:pt x="28533" y="97728"/>
                </a:cubicBezTo>
                <a:lnTo>
                  <a:pt x="1952" y="71147"/>
                </a:lnTo>
                <a:cubicBezTo>
                  <a:pt x="-644" y="68551"/>
                  <a:pt x="-644" y="64335"/>
                  <a:pt x="1952" y="61739"/>
                </a:cubicBezTo>
                <a:cubicBezTo>
                  <a:pt x="4548" y="59144"/>
                  <a:pt x="8764" y="59144"/>
                  <a:pt x="11359" y="61739"/>
                </a:cubicBezTo>
                <a:lnTo>
                  <a:pt x="32438" y="82818"/>
                </a:lnTo>
                <a:lnTo>
                  <a:pt x="81032" y="16011"/>
                </a:lnTo>
                <a:cubicBezTo>
                  <a:pt x="83191" y="13041"/>
                  <a:pt x="87345" y="12377"/>
                  <a:pt x="90314" y="14537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707372" y="6025116"/>
            <a:ext cx="167462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Multi-cloud natif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77547" y="5205523"/>
            <a:ext cx="2569535" cy="1107558"/>
          </a:xfrm>
          <a:custGeom>
            <a:avLst/>
            <a:gdLst/>
            <a:ahLst/>
            <a:cxnLst/>
            <a:rect l="l" t="t" r="r" b="b"/>
            <a:pathLst>
              <a:path w="2569535" h="1107558">
                <a:moveTo>
                  <a:pt x="106326" y="0"/>
                </a:moveTo>
                <a:lnTo>
                  <a:pt x="2463209" y="0"/>
                </a:lnTo>
                <a:cubicBezTo>
                  <a:pt x="2521931" y="0"/>
                  <a:pt x="2569535" y="47604"/>
                  <a:pt x="2569535" y="106326"/>
                </a:cubicBezTo>
                <a:lnTo>
                  <a:pt x="2569535" y="1001233"/>
                </a:lnTo>
                <a:cubicBezTo>
                  <a:pt x="2569535" y="1059955"/>
                  <a:pt x="2521931" y="1107558"/>
                  <a:pt x="2463209" y="1107558"/>
                </a:cubicBezTo>
                <a:lnTo>
                  <a:pt x="106326" y="1107558"/>
                </a:lnTo>
                <a:cubicBezTo>
                  <a:pt x="47604" y="1107558"/>
                  <a:pt x="0" y="1059955"/>
                  <a:pt x="0" y="1001233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206023" y="5351721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0"/>
                </a:moveTo>
                <a:cubicBezTo>
                  <a:pt x="74954" y="0"/>
                  <a:pt x="78692" y="2243"/>
                  <a:pt x="80630" y="5815"/>
                </a:cubicBezTo>
                <a:lnTo>
                  <a:pt x="140438" y="116570"/>
                </a:lnTo>
                <a:cubicBezTo>
                  <a:pt x="142294" y="120004"/>
                  <a:pt x="142210" y="124157"/>
                  <a:pt x="140217" y="127508"/>
                </a:cubicBezTo>
                <a:cubicBezTo>
                  <a:pt x="138223" y="130858"/>
                  <a:pt x="134596" y="132907"/>
                  <a:pt x="130692" y="132907"/>
                </a:cubicBezTo>
                <a:lnTo>
                  <a:pt x="11076" y="132907"/>
                </a:lnTo>
                <a:cubicBezTo>
                  <a:pt x="7171" y="132907"/>
                  <a:pt x="3572" y="130858"/>
                  <a:pt x="1551" y="127508"/>
                </a:cubicBezTo>
                <a:cubicBezTo>
                  <a:pt x="-471" y="124157"/>
                  <a:pt x="-526" y="120004"/>
                  <a:pt x="1329" y="116570"/>
                </a:cubicBezTo>
                <a:lnTo>
                  <a:pt x="61137" y="5815"/>
                </a:lnTo>
                <a:cubicBezTo>
                  <a:pt x="63075" y="2243"/>
                  <a:pt x="66813" y="0"/>
                  <a:pt x="70884" y="0"/>
                </a:cubicBezTo>
                <a:close/>
                <a:moveTo>
                  <a:pt x="70884" y="46517"/>
                </a:moveTo>
                <a:cubicBezTo>
                  <a:pt x="67201" y="46517"/>
                  <a:pt x="64238" y="49480"/>
                  <a:pt x="64238" y="53163"/>
                </a:cubicBezTo>
                <a:lnTo>
                  <a:pt x="64238" y="84174"/>
                </a:lnTo>
                <a:cubicBezTo>
                  <a:pt x="64238" y="87857"/>
                  <a:pt x="67201" y="90820"/>
                  <a:pt x="70884" y="90820"/>
                </a:cubicBezTo>
                <a:cubicBezTo>
                  <a:pt x="74566" y="90820"/>
                  <a:pt x="77529" y="87857"/>
                  <a:pt x="77529" y="84174"/>
                </a:cubicBezTo>
                <a:lnTo>
                  <a:pt x="77529" y="53163"/>
                </a:lnTo>
                <a:cubicBezTo>
                  <a:pt x="77529" y="49480"/>
                  <a:pt x="74566" y="46517"/>
                  <a:pt x="70884" y="46517"/>
                </a:cubicBezTo>
                <a:close/>
                <a:moveTo>
                  <a:pt x="78277" y="106326"/>
                </a:moveTo>
                <a:cubicBezTo>
                  <a:pt x="78445" y="103581"/>
                  <a:pt x="77076" y="100971"/>
                  <a:pt x="74724" y="99548"/>
                </a:cubicBezTo>
                <a:cubicBezTo>
                  <a:pt x="72371" y="98125"/>
                  <a:pt x="69424" y="98125"/>
                  <a:pt x="67071" y="99548"/>
                </a:cubicBezTo>
                <a:cubicBezTo>
                  <a:pt x="64719" y="100971"/>
                  <a:pt x="63350" y="103581"/>
                  <a:pt x="63518" y="106326"/>
                </a:cubicBezTo>
                <a:cubicBezTo>
                  <a:pt x="63350" y="109070"/>
                  <a:pt x="64719" y="111681"/>
                  <a:pt x="67071" y="113104"/>
                </a:cubicBezTo>
                <a:cubicBezTo>
                  <a:pt x="69424" y="114526"/>
                  <a:pt x="72371" y="114526"/>
                  <a:pt x="74724" y="113104"/>
                </a:cubicBezTo>
                <a:cubicBezTo>
                  <a:pt x="77076" y="111681"/>
                  <a:pt x="78445" y="109070"/>
                  <a:pt x="78277" y="106326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9365512" y="5316279"/>
            <a:ext cx="224169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214884" y="5635256"/>
            <a:ext cx="79744" cy="106326"/>
          </a:xfrm>
          <a:custGeom>
            <a:avLst/>
            <a:gdLst/>
            <a:ahLst/>
            <a:cxnLst/>
            <a:rect l="l" t="t" r="r" b="b"/>
            <a:pathLst>
              <a:path w="79744" h="106326">
                <a:moveTo>
                  <a:pt x="11442" y="15243"/>
                </a:moveTo>
                <a:cubicBezTo>
                  <a:pt x="8847" y="12647"/>
                  <a:pt x="4631" y="12647"/>
                  <a:pt x="2035" y="15243"/>
                </a:cubicBezTo>
                <a:cubicBezTo>
                  <a:pt x="-561" y="17839"/>
                  <a:pt x="-561" y="22054"/>
                  <a:pt x="2035" y="24650"/>
                </a:cubicBezTo>
                <a:lnTo>
                  <a:pt x="30569" y="53163"/>
                </a:lnTo>
                <a:lnTo>
                  <a:pt x="2056" y="81696"/>
                </a:lnTo>
                <a:cubicBezTo>
                  <a:pt x="-540" y="84292"/>
                  <a:pt x="-540" y="88508"/>
                  <a:pt x="2056" y="91104"/>
                </a:cubicBezTo>
                <a:cubicBezTo>
                  <a:pt x="4652" y="93699"/>
                  <a:pt x="8867" y="93699"/>
                  <a:pt x="11463" y="91104"/>
                </a:cubicBezTo>
                <a:lnTo>
                  <a:pt x="39976" y="62570"/>
                </a:lnTo>
                <a:lnTo>
                  <a:pt x="68509" y="91083"/>
                </a:lnTo>
                <a:cubicBezTo>
                  <a:pt x="71105" y="93679"/>
                  <a:pt x="75321" y="93679"/>
                  <a:pt x="77917" y="91083"/>
                </a:cubicBezTo>
                <a:cubicBezTo>
                  <a:pt x="80513" y="88487"/>
                  <a:pt x="80513" y="84271"/>
                  <a:pt x="77917" y="81675"/>
                </a:cubicBezTo>
                <a:lnTo>
                  <a:pt x="49383" y="53163"/>
                </a:lnTo>
                <a:lnTo>
                  <a:pt x="77896" y="24629"/>
                </a:lnTo>
                <a:cubicBezTo>
                  <a:pt x="80492" y="22033"/>
                  <a:pt x="80492" y="17818"/>
                  <a:pt x="77896" y="15222"/>
                </a:cubicBezTo>
                <a:cubicBezTo>
                  <a:pt x="75300" y="12626"/>
                  <a:pt x="71084" y="12626"/>
                  <a:pt x="68489" y="15222"/>
                </a:cubicBezTo>
                <a:lnTo>
                  <a:pt x="39976" y="43755"/>
                </a:lnTo>
                <a:lnTo>
                  <a:pt x="11442" y="152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9392093" y="5599814"/>
            <a:ext cx="1506279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Gestion taille Warehouses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4884" y="5847907"/>
            <a:ext cx="79744" cy="106326"/>
          </a:xfrm>
          <a:custGeom>
            <a:avLst/>
            <a:gdLst/>
            <a:ahLst/>
            <a:cxnLst/>
            <a:rect l="l" t="t" r="r" b="b"/>
            <a:pathLst>
              <a:path w="79744" h="106326">
                <a:moveTo>
                  <a:pt x="11442" y="15243"/>
                </a:moveTo>
                <a:cubicBezTo>
                  <a:pt x="8847" y="12647"/>
                  <a:pt x="4631" y="12647"/>
                  <a:pt x="2035" y="15243"/>
                </a:cubicBezTo>
                <a:cubicBezTo>
                  <a:pt x="-561" y="17839"/>
                  <a:pt x="-561" y="22054"/>
                  <a:pt x="2035" y="24650"/>
                </a:cubicBezTo>
                <a:lnTo>
                  <a:pt x="30569" y="53163"/>
                </a:lnTo>
                <a:lnTo>
                  <a:pt x="2056" y="81696"/>
                </a:lnTo>
                <a:cubicBezTo>
                  <a:pt x="-540" y="84292"/>
                  <a:pt x="-540" y="88508"/>
                  <a:pt x="2056" y="91104"/>
                </a:cubicBezTo>
                <a:cubicBezTo>
                  <a:pt x="4652" y="93699"/>
                  <a:pt x="8867" y="93699"/>
                  <a:pt x="11463" y="91104"/>
                </a:cubicBezTo>
                <a:lnTo>
                  <a:pt x="39976" y="62570"/>
                </a:lnTo>
                <a:lnTo>
                  <a:pt x="68509" y="91083"/>
                </a:lnTo>
                <a:cubicBezTo>
                  <a:pt x="71105" y="93679"/>
                  <a:pt x="75321" y="93679"/>
                  <a:pt x="77917" y="91083"/>
                </a:cubicBezTo>
                <a:cubicBezTo>
                  <a:pt x="80513" y="88487"/>
                  <a:pt x="80513" y="84271"/>
                  <a:pt x="77917" y="81675"/>
                </a:cubicBezTo>
                <a:lnTo>
                  <a:pt x="49383" y="53163"/>
                </a:lnTo>
                <a:lnTo>
                  <a:pt x="77896" y="24629"/>
                </a:lnTo>
                <a:cubicBezTo>
                  <a:pt x="80492" y="22033"/>
                  <a:pt x="80492" y="17818"/>
                  <a:pt x="77896" y="15222"/>
                </a:cubicBezTo>
                <a:cubicBezTo>
                  <a:pt x="75300" y="12626"/>
                  <a:pt x="71084" y="12626"/>
                  <a:pt x="68489" y="15222"/>
                </a:cubicBezTo>
                <a:lnTo>
                  <a:pt x="39976" y="43755"/>
                </a:lnTo>
                <a:lnTo>
                  <a:pt x="11442" y="152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9392093" y="5812465"/>
            <a:ext cx="1940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Coûts auto-suspend mal réglé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>
            <a:extLst>
              <a:ext uri="{FF2B5EF4-FFF2-40B4-BE49-F238E27FC236}">
                <a16:creationId xmlns:a16="http://schemas.microsoft.com/office/drawing/2014/main" id="{F9AC214D-1429-9015-F20B-25440B136B67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kern="0" spc="57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&amp; COÛTS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3413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Modèles de Tarification — Partie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079734"/>
            <a:ext cx="1155315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Comparaison des structures de coûts pour AWS Redshift et Azure Synapse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410" y="1480136"/>
            <a:ext cx="5614618" cy="5011767"/>
          </a:xfrm>
          <a:custGeom>
            <a:avLst/>
            <a:gdLst/>
            <a:ahLst/>
            <a:cxnLst/>
            <a:rect l="l" t="t" r="r" b="b"/>
            <a:pathLst>
              <a:path w="5614618" h="5011767">
                <a:moveTo>
                  <a:pt x="143988" y="0"/>
                </a:moveTo>
                <a:lnTo>
                  <a:pt x="5470630" y="0"/>
                </a:lnTo>
                <a:cubicBezTo>
                  <a:pt x="5550153" y="0"/>
                  <a:pt x="5614618" y="64466"/>
                  <a:pt x="5614618" y="143988"/>
                </a:cubicBezTo>
                <a:lnTo>
                  <a:pt x="5614618" y="4867779"/>
                </a:lnTo>
                <a:cubicBezTo>
                  <a:pt x="5614618" y="4947301"/>
                  <a:pt x="5550153" y="5011767"/>
                  <a:pt x="5470630" y="5011767"/>
                </a:cubicBezTo>
                <a:lnTo>
                  <a:pt x="143988" y="5011767"/>
                </a:lnTo>
                <a:cubicBezTo>
                  <a:pt x="64466" y="5011767"/>
                  <a:pt x="0" y="4947301"/>
                  <a:pt x="0" y="4867779"/>
                </a:cubicBezTo>
                <a:lnTo>
                  <a:pt x="0" y="143988"/>
                </a:lnTo>
                <a:cubicBezTo>
                  <a:pt x="0" y="64519"/>
                  <a:pt x="64519" y="0"/>
                  <a:pt x="143988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2D00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865" y="1664590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5836" y="1808555"/>
            <a:ext cx="269934" cy="215947"/>
          </a:xfrm>
          <a:custGeom>
            <a:avLst/>
            <a:gdLst/>
            <a:ahLst/>
            <a:cxnLst/>
            <a:rect l="l" t="t" r="r" b="b"/>
            <a:pathLst>
              <a:path w="269934" h="215947">
                <a:moveTo>
                  <a:pt x="76088" y="85620"/>
                </a:moveTo>
                <a:cubicBezTo>
                  <a:pt x="75792" y="95152"/>
                  <a:pt x="80558" y="99411"/>
                  <a:pt x="80685" y="102069"/>
                </a:cubicBezTo>
                <a:cubicBezTo>
                  <a:pt x="80643" y="102617"/>
                  <a:pt x="80432" y="103123"/>
                  <a:pt x="80137" y="103587"/>
                </a:cubicBezTo>
                <a:cubicBezTo>
                  <a:pt x="79841" y="104051"/>
                  <a:pt x="79420" y="104431"/>
                  <a:pt x="78956" y="104684"/>
                </a:cubicBezTo>
                <a:lnTo>
                  <a:pt x="73557" y="108480"/>
                </a:lnTo>
                <a:cubicBezTo>
                  <a:pt x="72840" y="108986"/>
                  <a:pt x="72039" y="109239"/>
                  <a:pt x="71195" y="109281"/>
                </a:cubicBezTo>
                <a:cubicBezTo>
                  <a:pt x="71026" y="109281"/>
                  <a:pt x="67736" y="110040"/>
                  <a:pt x="62549" y="98484"/>
                </a:cubicBezTo>
                <a:cubicBezTo>
                  <a:pt x="59385" y="102448"/>
                  <a:pt x="55379" y="105612"/>
                  <a:pt x="50781" y="107763"/>
                </a:cubicBezTo>
                <a:cubicBezTo>
                  <a:pt x="46184" y="109914"/>
                  <a:pt x="41207" y="111010"/>
                  <a:pt x="36146" y="110926"/>
                </a:cubicBezTo>
                <a:cubicBezTo>
                  <a:pt x="29271" y="111305"/>
                  <a:pt x="10671" y="107046"/>
                  <a:pt x="11641" y="87222"/>
                </a:cubicBezTo>
                <a:cubicBezTo>
                  <a:pt x="10966" y="71068"/>
                  <a:pt x="26023" y="61030"/>
                  <a:pt x="41544" y="61916"/>
                </a:cubicBezTo>
                <a:cubicBezTo>
                  <a:pt x="44539" y="61916"/>
                  <a:pt x="50655" y="62085"/>
                  <a:pt x="61368" y="64573"/>
                </a:cubicBezTo>
                <a:lnTo>
                  <a:pt x="61368" y="57994"/>
                </a:lnTo>
                <a:cubicBezTo>
                  <a:pt x="62506" y="46817"/>
                  <a:pt x="55168" y="38170"/>
                  <a:pt x="42472" y="39478"/>
                </a:cubicBezTo>
                <a:cubicBezTo>
                  <a:pt x="41460" y="39478"/>
                  <a:pt x="34290" y="39267"/>
                  <a:pt x="23155" y="43738"/>
                </a:cubicBezTo>
                <a:cubicBezTo>
                  <a:pt x="20034" y="45172"/>
                  <a:pt x="19655" y="44919"/>
                  <a:pt x="18600" y="44919"/>
                </a:cubicBezTo>
                <a:cubicBezTo>
                  <a:pt x="15479" y="44919"/>
                  <a:pt x="16744" y="35851"/>
                  <a:pt x="17377" y="34712"/>
                </a:cubicBezTo>
                <a:cubicBezTo>
                  <a:pt x="19570" y="32012"/>
                  <a:pt x="32519" y="26951"/>
                  <a:pt x="45172" y="27036"/>
                </a:cubicBezTo>
                <a:cubicBezTo>
                  <a:pt x="53649" y="26276"/>
                  <a:pt x="62085" y="28891"/>
                  <a:pt x="68664" y="34332"/>
                </a:cubicBezTo>
                <a:cubicBezTo>
                  <a:pt x="71322" y="37327"/>
                  <a:pt x="73388" y="40827"/>
                  <a:pt x="74654" y="44623"/>
                </a:cubicBezTo>
                <a:cubicBezTo>
                  <a:pt x="75919" y="48419"/>
                  <a:pt x="76425" y="52426"/>
                  <a:pt x="76130" y="56433"/>
                </a:cubicBezTo>
                <a:lnTo>
                  <a:pt x="76130" y="85662"/>
                </a:lnTo>
                <a:close/>
                <a:moveTo>
                  <a:pt x="39646" y="99285"/>
                </a:moveTo>
                <a:cubicBezTo>
                  <a:pt x="53312" y="99074"/>
                  <a:pt x="59132" y="90850"/>
                  <a:pt x="60440" y="86421"/>
                </a:cubicBezTo>
                <a:cubicBezTo>
                  <a:pt x="61494" y="82161"/>
                  <a:pt x="61326" y="79504"/>
                  <a:pt x="61326" y="74864"/>
                </a:cubicBezTo>
                <a:cubicBezTo>
                  <a:pt x="57234" y="73894"/>
                  <a:pt x="51372" y="72798"/>
                  <a:pt x="44623" y="72798"/>
                </a:cubicBezTo>
                <a:cubicBezTo>
                  <a:pt x="38212" y="72334"/>
                  <a:pt x="26572" y="75160"/>
                  <a:pt x="27036" y="86421"/>
                </a:cubicBezTo>
                <a:cubicBezTo>
                  <a:pt x="26529" y="93507"/>
                  <a:pt x="31717" y="99665"/>
                  <a:pt x="39689" y="99285"/>
                </a:cubicBezTo>
                <a:close/>
                <a:moveTo>
                  <a:pt x="111727" y="109028"/>
                </a:moveTo>
                <a:cubicBezTo>
                  <a:pt x="108395" y="109323"/>
                  <a:pt x="106877" y="106961"/>
                  <a:pt x="106371" y="104641"/>
                </a:cubicBezTo>
                <a:lnTo>
                  <a:pt x="85366" y="35176"/>
                </a:lnTo>
                <a:cubicBezTo>
                  <a:pt x="84945" y="33995"/>
                  <a:pt x="84692" y="32814"/>
                  <a:pt x="84565" y="31548"/>
                </a:cubicBezTo>
                <a:cubicBezTo>
                  <a:pt x="84481" y="31042"/>
                  <a:pt x="84607" y="30536"/>
                  <a:pt x="84903" y="30114"/>
                </a:cubicBezTo>
                <a:cubicBezTo>
                  <a:pt x="85198" y="29693"/>
                  <a:pt x="85662" y="29440"/>
                  <a:pt x="86168" y="29355"/>
                </a:cubicBezTo>
                <a:cubicBezTo>
                  <a:pt x="86252" y="29355"/>
                  <a:pt x="85282" y="29355"/>
                  <a:pt x="95531" y="29355"/>
                </a:cubicBezTo>
                <a:cubicBezTo>
                  <a:pt x="99243" y="28976"/>
                  <a:pt x="100424" y="31886"/>
                  <a:pt x="100845" y="33742"/>
                </a:cubicBezTo>
                <a:lnTo>
                  <a:pt x="115945" y="93127"/>
                </a:lnTo>
                <a:lnTo>
                  <a:pt x="129948" y="33742"/>
                </a:lnTo>
                <a:cubicBezTo>
                  <a:pt x="130159" y="32392"/>
                  <a:pt x="131171" y="29060"/>
                  <a:pt x="135346" y="29440"/>
                </a:cubicBezTo>
                <a:lnTo>
                  <a:pt x="142601" y="29440"/>
                </a:lnTo>
                <a:cubicBezTo>
                  <a:pt x="143529" y="29355"/>
                  <a:pt x="147283" y="29229"/>
                  <a:pt x="147957" y="33826"/>
                </a:cubicBezTo>
                <a:lnTo>
                  <a:pt x="162002" y="93928"/>
                </a:lnTo>
                <a:lnTo>
                  <a:pt x="177566" y="33784"/>
                </a:lnTo>
                <a:cubicBezTo>
                  <a:pt x="177777" y="32856"/>
                  <a:pt x="178704" y="28976"/>
                  <a:pt x="182922" y="29397"/>
                </a:cubicBezTo>
                <a:lnTo>
                  <a:pt x="191231" y="29397"/>
                </a:lnTo>
                <a:cubicBezTo>
                  <a:pt x="191611" y="29355"/>
                  <a:pt x="193846" y="29060"/>
                  <a:pt x="193466" y="33025"/>
                </a:cubicBezTo>
                <a:cubicBezTo>
                  <a:pt x="193298" y="33784"/>
                  <a:pt x="194900" y="28512"/>
                  <a:pt x="171197" y="104684"/>
                </a:cubicBezTo>
                <a:cubicBezTo>
                  <a:pt x="170733" y="107003"/>
                  <a:pt x="169172" y="109365"/>
                  <a:pt x="165840" y="109070"/>
                </a:cubicBezTo>
                <a:lnTo>
                  <a:pt x="157953" y="109070"/>
                </a:lnTo>
                <a:cubicBezTo>
                  <a:pt x="153356" y="109576"/>
                  <a:pt x="152681" y="104979"/>
                  <a:pt x="152597" y="104557"/>
                </a:cubicBezTo>
                <a:lnTo>
                  <a:pt x="138594" y="46732"/>
                </a:lnTo>
                <a:lnTo>
                  <a:pt x="124760" y="104515"/>
                </a:lnTo>
                <a:cubicBezTo>
                  <a:pt x="124676" y="104979"/>
                  <a:pt x="124043" y="109534"/>
                  <a:pt x="119403" y="109028"/>
                </a:cubicBezTo>
                <a:lnTo>
                  <a:pt x="111685" y="109028"/>
                </a:lnTo>
                <a:lnTo>
                  <a:pt x="111685" y="109028"/>
                </a:lnTo>
                <a:close/>
                <a:moveTo>
                  <a:pt x="227082" y="111390"/>
                </a:moveTo>
                <a:cubicBezTo>
                  <a:pt x="224593" y="111390"/>
                  <a:pt x="212784" y="111263"/>
                  <a:pt x="202872" y="106202"/>
                </a:cubicBezTo>
                <a:cubicBezTo>
                  <a:pt x="201902" y="105780"/>
                  <a:pt x="201058" y="105105"/>
                  <a:pt x="200468" y="104177"/>
                </a:cubicBezTo>
                <a:cubicBezTo>
                  <a:pt x="199877" y="103250"/>
                  <a:pt x="199582" y="102237"/>
                  <a:pt x="199582" y="101183"/>
                </a:cubicBezTo>
                <a:lnTo>
                  <a:pt x="199582" y="96670"/>
                </a:lnTo>
                <a:cubicBezTo>
                  <a:pt x="199582" y="93085"/>
                  <a:pt x="202197" y="93760"/>
                  <a:pt x="203294" y="94182"/>
                </a:cubicBezTo>
                <a:cubicBezTo>
                  <a:pt x="207511" y="95911"/>
                  <a:pt x="210253" y="97176"/>
                  <a:pt x="215441" y="98231"/>
                </a:cubicBezTo>
                <a:cubicBezTo>
                  <a:pt x="230920" y="101394"/>
                  <a:pt x="237710" y="97260"/>
                  <a:pt x="239355" y="96333"/>
                </a:cubicBezTo>
                <a:cubicBezTo>
                  <a:pt x="244923" y="93043"/>
                  <a:pt x="245344" y="85493"/>
                  <a:pt x="241591" y="81613"/>
                </a:cubicBezTo>
                <a:cubicBezTo>
                  <a:pt x="237162" y="77901"/>
                  <a:pt x="235053" y="77775"/>
                  <a:pt x="219195" y="72756"/>
                </a:cubicBezTo>
                <a:cubicBezTo>
                  <a:pt x="217254" y="72207"/>
                  <a:pt x="200763" y="67019"/>
                  <a:pt x="200721" y="50655"/>
                </a:cubicBezTo>
                <a:cubicBezTo>
                  <a:pt x="200468" y="38761"/>
                  <a:pt x="211265" y="26951"/>
                  <a:pt x="230034" y="27036"/>
                </a:cubicBezTo>
                <a:cubicBezTo>
                  <a:pt x="235391" y="27036"/>
                  <a:pt x="249604" y="28765"/>
                  <a:pt x="253485" y="33615"/>
                </a:cubicBezTo>
                <a:cubicBezTo>
                  <a:pt x="254075" y="34501"/>
                  <a:pt x="254328" y="35555"/>
                  <a:pt x="254286" y="36568"/>
                </a:cubicBezTo>
                <a:lnTo>
                  <a:pt x="254286" y="40827"/>
                </a:lnTo>
                <a:cubicBezTo>
                  <a:pt x="254286" y="42683"/>
                  <a:pt x="253611" y="43653"/>
                  <a:pt x="252219" y="43653"/>
                </a:cubicBezTo>
                <a:cubicBezTo>
                  <a:pt x="248972" y="43274"/>
                  <a:pt x="243193" y="38929"/>
                  <a:pt x="231468" y="39098"/>
                </a:cubicBezTo>
                <a:cubicBezTo>
                  <a:pt x="228558" y="38929"/>
                  <a:pt x="214639" y="39478"/>
                  <a:pt x="215272" y="49642"/>
                </a:cubicBezTo>
                <a:cubicBezTo>
                  <a:pt x="215103" y="57656"/>
                  <a:pt x="226491" y="60651"/>
                  <a:pt x="227799" y="60988"/>
                </a:cubicBezTo>
                <a:cubicBezTo>
                  <a:pt x="243193" y="65628"/>
                  <a:pt x="248297" y="66387"/>
                  <a:pt x="254412" y="73473"/>
                </a:cubicBezTo>
                <a:cubicBezTo>
                  <a:pt x="261625" y="82836"/>
                  <a:pt x="257744" y="93844"/>
                  <a:pt x="256226" y="96839"/>
                </a:cubicBezTo>
                <a:cubicBezTo>
                  <a:pt x="248170" y="112655"/>
                  <a:pt x="227377" y="111348"/>
                  <a:pt x="226997" y="111348"/>
                </a:cubicBezTo>
                <a:close/>
                <a:moveTo>
                  <a:pt x="244037" y="155634"/>
                </a:moveTo>
                <a:cubicBezTo>
                  <a:pt x="214513" y="177439"/>
                  <a:pt x="171619" y="189038"/>
                  <a:pt x="135009" y="189038"/>
                </a:cubicBezTo>
                <a:cubicBezTo>
                  <a:pt x="85620" y="189375"/>
                  <a:pt x="37875" y="171197"/>
                  <a:pt x="1181" y="138130"/>
                </a:cubicBezTo>
                <a:cubicBezTo>
                  <a:pt x="-1561" y="135642"/>
                  <a:pt x="844" y="132225"/>
                  <a:pt x="4218" y="134123"/>
                </a:cubicBezTo>
                <a:cubicBezTo>
                  <a:pt x="44919" y="157405"/>
                  <a:pt x="90976" y="169636"/>
                  <a:pt x="137877" y="169594"/>
                </a:cubicBezTo>
                <a:cubicBezTo>
                  <a:pt x="172884" y="169425"/>
                  <a:pt x="207511" y="162298"/>
                  <a:pt x="239777" y="148717"/>
                </a:cubicBezTo>
                <a:cubicBezTo>
                  <a:pt x="244754" y="146608"/>
                  <a:pt x="248972" y="152006"/>
                  <a:pt x="244037" y="155634"/>
                </a:cubicBezTo>
                <a:close/>
                <a:moveTo>
                  <a:pt x="256353" y="141589"/>
                </a:moveTo>
                <a:cubicBezTo>
                  <a:pt x="252557" y="136738"/>
                  <a:pt x="231342" y="139311"/>
                  <a:pt x="221852" y="140450"/>
                </a:cubicBezTo>
                <a:cubicBezTo>
                  <a:pt x="218984" y="140787"/>
                  <a:pt x="218520" y="138299"/>
                  <a:pt x="221092" y="136443"/>
                </a:cubicBezTo>
                <a:cubicBezTo>
                  <a:pt x="238005" y="124549"/>
                  <a:pt x="265758" y="127965"/>
                  <a:pt x="268921" y="131972"/>
                </a:cubicBezTo>
                <a:cubicBezTo>
                  <a:pt x="272085" y="135979"/>
                  <a:pt x="268036" y="163774"/>
                  <a:pt x="252219" y="177060"/>
                </a:cubicBezTo>
                <a:cubicBezTo>
                  <a:pt x="249773" y="179126"/>
                  <a:pt x="247453" y="178030"/>
                  <a:pt x="248550" y="175330"/>
                </a:cubicBezTo>
                <a:cubicBezTo>
                  <a:pt x="252093" y="166347"/>
                  <a:pt x="260106" y="146439"/>
                  <a:pt x="256310" y="1415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96706" y="1664590"/>
            <a:ext cx="1538621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AWS Redshift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6706" y="1952520"/>
            <a:ext cx="150263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Managed Storage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3364" y="2316930"/>
            <a:ext cx="5236711" cy="2744325"/>
          </a:xfrm>
          <a:custGeom>
            <a:avLst/>
            <a:gdLst/>
            <a:ahLst/>
            <a:cxnLst/>
            <a:rect l="l" t="t" r="r" b="b"/>
            <a:pathLst>
              <a:path w="5236711" h="2744325">
                <a:moveTo>
                  <a:pt x="107962" y="0"/>
                </a:moveTo>
                <a:lnTo>
                  <a:pt x="5128750" y="0"/>
                </a:lnTo>
                <a:cubicBezTo>
                  <a:pt x="5188375" y="0"/>
                  <a:pt x="5236711" y="48336"/>
                  <a:pt x="5236711" y="107962"/>
                </a:cubicBezTo>
                <a:lnTo>
                  <a:pt x="5236711" y="2636363"/>
                </a:lnTo>
                <a:cubicBezTo>
                  <a:pt x="5236711" y="2695989"/>
                  <a:pt x="5188375" y="2744325"/>
                  <a:pt x="5128750" y="2744325"/>
                </a:cubicBezTo>
                <a:lnTo>
                  <a:pt x="107962" y="2744325"/>
                </a:lnTo>
                <a:cubicBezTo>
                  <a:pt x="48336" y="2744325"/>
                  <a:pt x="0" y="2695989"/>
                  <a:pt x="0" y="2636363"/>
                </a:cubicBezTo>
                <a:lnTo>
                  <a:pt x="0" y="107962"/>
                </a:lnTo>
                <a:cubicBezTo>
                  <a:pt x="0" y="48336"/>
                  <a:pt x="48336" y="0"/>
                  <a:pt x="107962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1827" y="2465393"/>
            <a:ext cx="502076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 de Prix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1827" y="2825305"/>
            <a:ext cx="4939785" cy="647841"/>
          </a:xfrm>
          <a:custGeom>
            <a:avLst/>
            <a:gdLst/>
            <a:ahLst/>
            <a:cxnLst/>
            <a:rect l="l" t="t" r="r" b="b"/>
            <a:pathLst>
              <a:path w="4939785" h="647841">
                <a:moveTo>
                  <a:pt x="71982" y="0"/>
                </a:moveTo>
                <a:lnTo>
                  <a:pt x="4867803" y="0"/>
                </a:lnTo>
                <a:cubicBezTo>
                  <a:pt x="4907557" y="0"/>
                  <a:pt x="4939785" y="32227"/>
                  <a:pt x="4939785" y="71982"/>
                </a:cubicBezTo>
                <a:lnTo>
                  <a:pt x="4939785" y="575859"/>
                </a:lnTo>
                <a:cubicBezTo>
                  <a:pt x="4939785" y="615613"/>
                  <a:pt x="4907557" y="647841"/>
                  <a:pt x="4867803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9801" y="2933278"/>
            <a:ext cx="86378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Nœuds RA3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08614" y="2933278"/>
            <a:ext cx="150263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 + Stockage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801" y="3185216"/>
            <a:ext cx="478682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 géré indépendamment du calcul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1827" y="3545128"/>
            <a:ext cx="4939785" cy="647841"/>
          </a:xfrm>
          <a:custGeom>
            <a:avLst/>
            <a:gdLst/>
            <a:ahLst/>
            <a:cxnLst/>
            <a:rect l="l" t="t" r="r" b="b"/>
            <a:pathLst>
              <a:path w="4939785" h="647841">
                <a:moveTo>
                  <a:pt x="71982" y="0"/>
                </a:moveTo>
                <a:lnTo>
                  <a:pt x="4867803" y="0"/>
                </a:lnTo>
                <a:cubicBezTo>
                  <a:pt x="4907557" y="0"/>
                  <a:pt x="4939785" y="32227"/>
                  <a:pt x="4939785" y="71982"/>
                </a:cubicBezTo>
                <a:lnTo>
                  <a:pt x="4939785" y="575859"/>
                </a:lnTo>
                <a:cubicBezTo>
                  <a:pt x="4939785" y="615613"/>
                  <a:pt x="4907557" y="647841"/>
                  <a:pt x="4867803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09801" y="3653101"/>
            <a:ext cx="87278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Nœuds DC2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0689" y="3653101"/>
            <a:ext cx="116971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Dense Compute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801" y="3905039"/>
            <a:ext cx="478682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 local SSD haute performance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1827" y="4264951"/>
            <a:ext cx="4939785" cy="647841"/>
          </a:xfrm>
          <a:custGeom>
            <a:avLst/>
            <a:gdLst/>
            <a:ahLst/>
            <a:cxnLst/>
            <a:rect l="l" t="t" r="r" b="b"/>
            <a:pathLst>
              <a:path w="4939785" h="647841">
                <a:moveTo>
                  <a:pt x="71982" y="0"/>
                </a:moveTo>
                <a:lnTo>
                  <a:pt x="4867803" y="0"/>
                </a:lnTo>
                <a:cubicBezTo>
                  <a:pt x="4907557" y="0"/>
                  <a:pt x="4939785" y="32227"/>
                  <a:pt x="4939785" y="71982"/>
                </a:cubicBezTo>
                <a:lnTo>
                  <a:pt x="4939785" y="575859"/>
                </a:lnTo>
                <a:cubicBezTo>
                  <a:pt x="4939785" y="615613"/>
                  <a:pt x="4907557" y="647841"/>
                  <a:pt x="4867803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09801" y="4372924"/>
            <a:ext cx="68383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 RI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1988" y="4372924"/>
            <a:ext cx="149363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Instances Réservées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9801" y="4624862"/>
            <a:ext cx="478682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Réduction jusqu'à 75% sur 1-3 ans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3364" y="5178226"/>
            <a:ext cx="2564369" cy="1124723"/>
          </a:xfrm>
          <a:custGeom>
            <a:avLst/>
            <a:gdLst/>
            <a:ahLst/>
            <a:cxnLst/>
            <a:rect l="l" t="t" r="r" b="b"/>
            <a:pathLst>
              <a:path w="2564369" h="1124723">
                <a:moveTo>
                  <a:pt x="107973" y="0"/>
                </a:moveTo>
                <a:lnTo>
                  <a:pt x="2456396" y="0"/>
                </a:lnTo>
                <a:cubicBezTo>
                  <a:pt x="2515988" y="0"/>
                  <a:pt x="2564369" y="48381"/>
                  <a:pt x="2564369" y="107973"/>
                </a:cubicBezTo>
                <a:lnTo>
                  <a:pt x="2564369" y="1016750"/>
                </a:lnTo>
                <a:cubicBezTo>
                  <a:pt x="2564369" y="1076342"/>
                  <a:pt x="2515988" y="1124723"/>
                  <a:pt x="2456396" y="1124723"/>
                </a:cubicBezTo>
                <a:lnTo>
                  <a:pt x="107973" y="1124723"/>
                </a:lnTo>
                <a:cubicBezTo>
                  <a:pt x="48381" y="1124723"/>
                  <a:pt x="0" y="1076342"/>
                  <a:pt x="0" y="101675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83832" y="532668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65234" y="96726"/>
                </a:moveTo>
                <a:lnTo>
                  <a:pt x="65234" y="78731"/>
                </a:lnTo>
                <a:lnTo>
                  <a:pt x="47238" y="78731"/>
                </a:lnTo>
                <a:cubicBezTo>
                  <a:pt x="43499" y="78731"/>
                  <a:pt x="40490" y="75722"/>
                  <a:pt x="40490" y="71982"/>
                </a:cubicBezTo>
                <a:cubicBezTo>
                  <a:pt x="40490" y="68243"/>
                  <a:pt x="43499" y="65234"/>
                  <a:pt x="47238" y="65234"/>
                </a:cubicBezTo>
                <a:lnTo>
                  <a:pt x="65234" y="65234"/>
                </a:lnTo>
                <a:lnTo>
                  <a:pt x="65234" y="47238"/>
                </a:lnTo>
                <a:cubicBezTo>
                  <a:pt x="65234" y="43499"/>
                  <a:pt x="68243" y="40490"/>
                  <a:pt x="71982" y="40490"/>
                </a:cubicBezTo>
                <a:cubicBezTo>
                  <a:pt x="75722" y="40490"/>
                  <a:pt x="78731" y="43499"/>
                  <a:pt x="78731" y="47238"/>
                </a:cubicBezTo>
                <a:lnTo>
                  <a:pt x="78731" y="65234"/>
                </a:lnTo>
                <a:lnTo>
                  <a:pt x="96726" y="65234"/>
                </a:lnTo>
                <a:cubicBezTo>
                  <a:pt x="100466" y="65234"/>
                  <a:pt x="103475" y="68243"/>
                  <a:pt x="103475" y="71982"/>
                </a:cubicBezTo>
                <a:cubicBezTo>
                  <a:pt x="103475" y="75722"/>
                  <a:pt x="100466" y="78731"/>
                  <a:pt x="96726" y="78731"/>
                </a:cubicBezTo>
                <a:lnTo>
                  <a:pt x="78731" y="78731"/>
                </a:lnTo>
                <a:lnTo>
                  <a:pt x="78731" y="96726"/>
                </a:lnTo>
                <a:cubicBezTo>
                  <a:pt x="78731" y="100466"/>
                  <a:pt x="75722" y="103475"/>
                  <a:pt x="71982" y="103475"/>
                </a:cubicBezTo>
                <a:cubicBezTo>
                  <a:pt x="68243" y="103475"/>
                  <a:pt x="65234" y="100466"/>
                  <a:pt x="65234" y="9672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5792" y="5290698"/>
            <a:ext cx="223145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6081" y="5614618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72785" y="5578627"/>
            <a:ext cx="169158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Intégration écosystème AWS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6081" y="5830565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72785" y="5794574"/>
            <a:ext cx="134966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prévisible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6081" y="6046512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72785" y="6010521"/>
            <a:ext cx="122369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Concurrency Scaling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31611" y="5178226"/>
            <a:ext cx="2564369" cy="1124723"/>
          </a:xfrm>
          <a:custGeom>
            <a:avLst/>
            <a:gdLst/>
            <a:ahLst/>
            <a:cxnLst/>
            <a:rect l="l" t="t" r="r" b="b"/>
            <a:pathLst>
              <a:path w="2564369" h="1124723">
                <a:moveTo>
                  <a:pt x="107973" y="0"/>
                </a:moveTo>
                <a:lnTo>
                  <a:pt x="2456396" y="0"/>
                </a:lnTo>
                <a:cubicBezTo>
                  <a:pt x="2515988" y="0"/>
                  <a:pt x="2564369" y="48381"/>
                  <a:pt x="2564369" y="107973"/>
                </a:cubicBezTo>
                <a:lnTo>
                  <a:pt x="2564369" y="1016750"/>
                </a:lnTo>
                <a:cubicBezTo>
                  <a:pt x="2564369" y="1076342"/>
                  <a:pt x="2515988" y="1124723"/>
                  <a:pt x="2456396" y="1124723"/>
                </a:cubicBezTo>
                <a:lnTo>
                  <a:pt x="107973" y="1124723"/>
                </a:lnTo>
                <a:cubicBezTo>
                  <a:pt x="48381" y="1124723"/>
                  <a:pt x="0" y="1076342"/>
                  <a:pt x="0" y="101675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3362079" y="532668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cubicBezTo>
                  <a:pt x="76116" y="0"/>
                  <a:pt x="79912" y="2278"/>
                  <a:pt x="81880" y="5905"/>
                </a:cubicBezTo>
                <a:lnTo>
                  <a:pt x="142615" y="118377"/>
                </a:lnTo>
                <a:cubicBezTo>
                  <a:pt x="144499" y="121864"/>
                  <a:pt x="144414" y="126081"/>
                  <a:pt x="142390" y="129484"/>
                </a:cubicBezTo>
                <a:cubicBezTo>
                  <a:pt x="140365" y="132886"/>
                  <a:pt x="136682" y="134967"/>
                  <a:pt x="132717" y="134967"/>
                </a:cubicBezTo>
                <a:lnTo>
                  <a:pt x="11247" y="134967"/>
                </a:lnTo>
                <a:cubicBezTo>
                  <a:pt x="7283" y="134967"/>
                  <a:pt x="3627" y="132886"/>
                  <a:pt x="1575" y="129484"/>
                </a:cubicBezTo>
                <a:cubicBezTo>
                  <a:pt x="-478" y="126081"/>
                  <a:pt x="-534" y="121864"/>
                  <a:pt x="1350" y="118377"/>
                </a:cubicBezTo>
                <a:lnTo>
                  <a:pt x="62085" y="5905"/>
                </a:lnTo>
                <a:cubicBezTo>
                  <a:pt x="64053" y="2278"/>
                  <a:pt x="67849" y="0"/>
                  <a:pt x="71982" y="0"/>
                </a:cubicBezTo>
                <a:close/>
                <a:moveTo>
                  <a:pt x="71982" y="47238"/>
                </a:moveTo>
                <a:cubicBezTo>
                  <a:pt x="68243" y="47238"/>
                  <a:pt x="65234" y="50247"/>
                  <a:pt x="65234" y="53987"/>
                </a:cubicBezTo>
                <a:lnTo>
                  <a:pt x="65234" y="85479"/>
                </a:lnTo>
                <a:cubicBezTo>
                  <a:pt x="65234" y="89219"/>
                  <a:pt x="68243" y="92227"/>
                  <a:pt x="71982" y="92227"/>
                </a:cubicBezTo>
                <a:cubicBezTo>
                  <a:pt x="75722" y="92227"/>
                  <a:pt x="78731" y="89219"/>
                  <a:pt x="78731" y="85479"/>
                </a:cubicBezTo>
                <a:lnTo>
                  <a:pt x="78731" y="53987"/>
                </a:lnTo>
                <a:cubicBezTo>
                  <a:pt x="78731" y="50247"/>
                  <a:pt x="75722" y="47238"/>
                  <a:pt x="71982" y="47238"/>
                </a:cubicBezTo>
                <a:close/>
                <a:moveTo>
                  <a:pt x="79490" y="107973"/>
                </a:moveTo>
                <a:cubicBezTo>
                  <a:pt x="79661" y="105187"/>
                  <a:pt x="78271" y="102535"/>
                  <a:pt x="75882" y="101090"/>
                </a:cubicBezTo>
                <a:cubicBezTo>
                  <a:pt x="73493" y="99645"/>
                  <a:pt x="70500" y="99645"/>
                  <a:pt x="68111" y="101090"/>
                </a:cubicBezTo>
                <a:cubicBezTo>
                  <a:pt x="65722" y="102535"/>
                  <a:pt x="64332" y="105187"/>
                  <a:pt x="64503" y="107973"/>
                </a:cubicBezTo>
                <a:cubicBezTo>
                  <a:pt x="64332" y="110760"/>
                  <a:pt x="65722" y="113411"/>
                  <a:pt x="68111" y="114856"/>
                </a:cubicBezTo>
                <a:cubicBezTo>
                  <a:pt x="70500" y="116301"/>
                  <a:pt x="73493" y="116301"/>
                  <a:pt x="75882" y="114856"/>
                </a:cubicBezTo>
                <a:cubicBezTo>
                  <a:pt x="78271" y="113411"/>
                  <a:pt x="79661" y="110760"/>
                  <a:pt x="79490" y="107973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524039" y="5290698"/>
            <a:ext cx="223145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71077" y="5614618"/>
            <a:ext cx="80980" cy="107973"/>
          </a:xfrm>
          <a:custGeom>
            <a:avLst/>
            <a:gdLst/>
            <a:ahLst/>
            <a:cxnLst/>
            <a:rect l="l" t="t" r="r" b="b"/>
            <a:pathLst>
              <a:path w="80980" h="107973">
                <a:moveTo>
                  <a:pt x="11620" y="15479"/>
                </a:moveTo>
                <a:cubicBezTo>
                  <a:pt x="8984" y="12843"/>
                  <a:pt x="4703" y="12843"/>
                  <a:pt x="2067" y="15479"/>
                </a:cubicBezTo>
                <a:cubicBezTo>
                  <a:pt x="-569" y="18115"/>
                  <a:pt x="-569" y="22396"/>
                  <a:pt x="2067" y="25032"/>
                </a:cubicBezTo>
                <a:lnTo>
                  <a:pt x="31042" y="53987"/>
                </a:lnTo>
                <a:lnTo>
                  <a:pt x="2088" y="82962"/>
                </a:lnTo>
                <a:cubicBezTo>
                  <a:pt x="-548" y="85598"/>
                  <a:pt x="-548" y="89879"/>
                  <a:pt x="2088" y="92516"/>
                </a:cubicBezTo>
                <a:cubicBezTo>
                  <a:pt x="4724" y="95152"/>
                  <a:pt x="9005" y="95152"/>
                  <a:pt x="11641" y="92516"/>
                </a:cubicBezTo>
                <a:lnTo>
                  <a:pt x="40595" y="63540"/>
                </a:lnTo>
                <a:lnTo>
                  <a:pt x="69571" y="92494"/>
                </a:lnTo>
                <a:cubicBezTo>
                  <a:pt x="72207" y="95130"/>
                  <a:pt x="76488" y="95130"/>
                  <a:pt x="79124" y="92494"/>
                </a:cubicBezTo>
                <a:cubicBezTo>
                  <a:pt x="81760" y="89858"/>
                  <a:pt x="81760" y="85577"/>
                  <a:pt x="79124" y="82941"/>
                </a:cubicBezTo>
                <a:lnTo>
                  <a:pt x="50149" y="53987"/>
                </a:lnTo>
                <a:lnTo>
                  <a:pt x="79103" y="25011"/>
                </a:lnTo>
                <a:cubicBezTo>
                  <a:pt x="81739" y="22375"/>
                  <a:pt x="81739" y="18094"/>
                  <a:pt x="79103" y="15458"/>
                </a:cubicBezTo>
                <a:cubicBezTo>
                  <a:pt x="76467" y="12822"/>
                  <a:pt x="72186" y="12822"/>
                  <a:pt x="69550" y="15458"/>
                </a:cubicBezTo>
                <a:lnTo>
                  <a:pt x="40595" y="44434"/>
                </a:lnTo>
                <a:lnTo>
                  <a:pt x="11620" y="15479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551032" y="5578627"/>
            <a:ext cx="165559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Dimensionnement complexe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71077" y="5830565"/>
            <a:ext cx="80980" cy="107973"/>
          </a:xfrm>
          <a:custGeom>
            <a:avLst/>
            <a:gdLst/>
            <a:ahLst/>
            <a:cxnLst/>
            <a:rect l="l" t="t" r="r" b="b"/>
            <a:pathLst>
              <a:path w="80980" h="107973">
                <a:moveTo>
                  <a:pt x="11620" y="15479"/>
                </a:moveTo>
                <a:cubicBezTo>
                  <a:pt x="8984" y="12843"/>
                  <a:pt x="4703" y="12843"/>
                  <a:pt x="2067" y="15479"/>
                </a:cubicBezTo>
                <a:cubicBezTo>
                  <a:pt x="-569" y="18115"/>
                  <a:pt x="-569" y="22396"/>
                  <a:pt x="2067" y="25032"/>
                </a:cubicBezTo>
                <a:lnTo>
                  <a:pt x="31042" y="53987"/>
                </a:lnTo>
                <a:lnTo>
                  <a:pt x="2088" y="82962"/>
                </a:lnTo>
                <a:cubicBezTo>
                  <a:pt x="-548" y="85598"/>
                  <a:pt x="-548" y="89879"/>
                  <a:pt x="2088" y="92516"/>
                </a:cubicBezTo>
                <a:cubicBezTo>
                  <a:pt x="4724" y="95152"/>
                  <a:pt x="9005" y="95152"/>
                  <a:pt x="11641" y="92516"/>
                </a:cubicBezTo>
                <a:lnTo>
                  <a:pt x="40595" y="63540"/>
                </a:lnTo>
                <a:lnTo>
                  <a:pt x="69571" y="92494"/>
                </a:lnTo>
                <a:cubicBezTo>
                  <a:pt x="72207" y="95130"/>
                  <a:pt x="76488" y="95130"/>
                  <a:pt x="79124" y="92494"/>
                </a:cubicBezTo>
                <a:cubicBezTo>
                  <a:pt x="81760" y="89858"/>
                  <a:pt x="81760" y="85577"/>
                  <a:pt x="79124" y="82941"/>
                </a:cubicBezTo>
                <a:lnTo>
                  <a:pt x="50149" y="53987"/>
                </a:lnTo>
                <a:lnTo>
                  <a:pt x="79103" y="25011"/>
                </a:lnTo>
                <a:cubicBezTo>
                  <a:pt x="81739" y="22375"/>
                  <a:pt x="81739" y="18094"/>
                  <a:pt x="79103" y="15458"/>
                </a:cubicBezTo>
                <a:cubicBezTo>
                  <a:pt x="76467" y="12822"/>
                  <a:pt x="72186" y="12822"/>
                  <a:pt x="69550" y="15458"/>
                </a:cubicBezTo>
                <a:lnTo>
                  <a:pt x="40595" y="44434"/>
                </a:lnTo>
                <a:lnTo>
                  <a:pt x="11620" y="15479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551032" y="5794574"/>
            <a:ext cx="153862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Gestion distribution (Keys)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06926" y="1480136"/>
            <a:ext cx="5614618" cy="5011767"/>
          </a:xfrm>
          <a:custGeom>
            <a:avLst/>
            <a:gdLst/>
            <a:ahLst/>
            <a:cxnLst/>
            <a:rect l="l" t="t" r="r" b="b"/>
            <a:pathLst>
              <a:path w="5614618" h="5011767">
                <a:moveTo>
                  <a:pt x="143988" y="0"/>
                </a:moveTo>
                <a:lnTo>
                  <a:pt x="5470630" y="0"/>
                </a:lnTo>
                <a:cubicBezTo>
                  <a:pt x="5550153" y="0"/>
                  <a:pt x="5614618" y="64466"/>
                  <a:pt x="5614618" y="143988"/>
                </a:cubicBezTo>
                <a:lnTo>
                  <a:pt x="5614618" y="4867779"/>
                </a:lnTo>
                <a:cubicBezTo>
                  <a:pt x="5614618" y="4947301"/>
                  <a:pt x="5550153" y="5011767"/>
                  <a:pt x="5470630" y="5011767"/>
                </a:cubicBezTo>
                <a:lnTo>
                  <a:pt x="143988" y="5011767"/>
                </a:lnTo>
                <a:cubicBezTo>
                  <a:pt x="64466" y="5011767"/>
                  <a:pt x="0" y="4947301"/>
                  <a:pt x="0" y="4867779"/>
                </a:cubicBezTo>
                <a:lnTo>
                  <a:pt x="0" y="143988"/>
                </a:lnTo>
                <a:cubicBezTo>
                  <a:pt x="0" y="64519"/>
                  <a:pt x="64519" y="0"/>
                  <a:pt x="143988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372AAC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391380" y="1664590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1A2FF"/>
              </a:gs>
              <a:gs pos="100000">
                <a:srgbClr val="615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548842" y="1808555"/>
            <a:ext cx="188954" cy="215947"/>
          </a:xfrm>
          <a:custGeom>
            <a:avLst/>
            <a:gdLst/>
            <a:ahLst/>
            <a:cxnLst/>
            <a:rect l="l" t="t" r="r" b="b"/>
            <a:pathLst>
              <a:path w="188954" h="215947">
                <a:moveTo>
                  <a:pt x="0" y="13497"/>
                </a:moveTo>
                <a:lnTo>
                  <a:pt x="90512" y="13497"/>
                </a:lnTo>
                <a:lnTo>
                  <a:pt x="90512" y="104009"/>
                </a:lnTo>
                <a:lnTo>
                  <a:pt x="0" y="104009"/>
                </a:lnTo>
                <a:lnTo>
                  <a:pt x="0" y="13497"/>
                </a:lnTo>
                <a:close/>
                <a:moveTo>
                  <a:pt x="98441" y="13497"/>
                </a:moveTo>
                <a:lnTo>
                  <a:pt x="188954" y="13497"/>
                </a:lnTo>
                <a:lnTo>
                  <a:pt x="188954" y="104009"/>
                </a:lnTo>
                <a:lnTo>
                  <a:pt x="98441" y="104009"/>
                </a:lnTo>
                <a:lnTo>
                  <a:pt x="98441" y="13497"/>
                </a:lnTo>
                <a:close/>
                <a:moveTo>
                  <a:pt x="0" y="111938"/>
                </a:moveTo>
                <a:lnTo>
                  <a:pt x="90512" y="111938"/>
                </a:lnTo>
                <a:lnTo>
                  <a:pt x="90512" y="202450"/>
                </a:lnTo>
                <a:lnTo>
                  <a:pt x="0" y="202450"/>
                </a:lnTo>
                <a:lnTo>
                  <a:pt x="0" y="111938"/>
                </a:lnTo>
                <a:close/>
                <a:moveTo>
                  <a:pt x="98441" y="111938"/>
                </a:moveTo>
                <a:lnTo>
                  <a:pt x="188954" y="111938"/>
                </a:lnTo>
                <a:lnTo>
                  <a:pt x="188954" y="202450"/>
                </a:lnTo>
                <a:lnTo>
                  <a:pt x="98441" y="202450"/>
                </a:lnTo>
                <a:lnTo>
                  <a:pt x="98441" y="11193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7039221" y="1664590"/>
            <a:ext cx="165559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Azure Synapse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39221" y="1952520"/>
            <a:ext cx="161960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Unifié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5879" y="2316930"/>
            <a:ext cx="5236711" cy="2744325"/>
          </a:xfrm>
          <a:custGeom>
            <a:avLst/>
            <a:gdLst/>
            <a:ahLst/>
            <a:cxnLst/>
            <a:rect l="l" t="t" r="r" b="b"/>
            <a:pathLst>
              <a:path w="5236711" h="2744325">
                <a:moveTo>
                  <a:pt x="107962" y="0"/>
                </a:moveTo>
                <a:lnTo>
                  <a:pt x="5128750" y="0"/>
                </a:lnTo>
                <a:cubicBezTo>
                  <a:pt x="5188375" y="0"/>
                  <a:pt x="5236711" y="48336"/>
                  <a:pt x="5236711" y="107962"/>
                </a:cubicBezTo>
                <a:lnTo>
                  <a:pt x="5236711" y="2636363"/>
                </a:lnTo>
                <a:cubicBezTo>
                  <a:pt x="5236711" y="2695989"/>
                  <a:pt x="5188375" y="2744325"/>
                  <a:pt x="5128750" y="2744325"/>
                </a:cubicBezTo>
                <a:lnTo>
                  <a:pt x="107962" y="2744325"/>
                </a:lnTo>
                <a:cubicBezTo>
                  <a:pt x="48336" y="2744325"/>
                  <a:pt x="0" y="2695989"/>
                  <a:pt x="0" y="2636363"/>
                </a:cubicBezTo>
                <a:lnTo>
                  <a:pt x="0" y="107962"/>
                </a:lnTo>
                <a:cubicBezTo>
                  <a:pt x="0" y="48336"/>
                  <a:pt x="48336" y="0"/>
                  <a:pt x="10796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544343" y="2465393"/>
            <a:ext cx="502076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 de Prix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44343" y="2825305"/>
            <a:ext cx="4939785" cy="647841"/>
          </a:xfrm>
          <a:custGeom>
            <a:avLst/>
            <a:gdLst/>
            <a:ahLst/>
            <a:cxnLst/>
            <a:rect l="l" t="t" r="r" b="b"/>
            <a:pathLst>
              <a:path w="4939785" h="647841">
                <a:moveTo>
                  <a:pt x="71982" y="0"/>
                </a:moveTo>
                <a:lnTo>
                  <a:pt x="4867803" y="0"/>
                </a:lnTo>
                <a:cubicBezTo>
                  <a:pt x="4907557" y="0"/>
                  <a:pt x="4939785" y="32227"/>
                  <a:pt x="4939785" y="71982"/>
                </a:cubicBezTo>
                <a:lnTo>
                  <a:pt x="4939785" y="575859"/>
                </a:lnTo>
                <a:cubicBezTo>
                  <a:pt x="4939785" y="615613"/>
                  <a:pt x="4907557" y="647841"/>
                  <a:pt x="4867803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C398E">
              <a:alpha val="40000"/>
            </a:srgbClr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48" name="Text 46"/>
          <p:cNvSpPr/>
          <p:nvPr/>
        </p:nvSpPr>
        <p:spPr>
          <a:xfrm>
            <a:off x="6652316" y="2933278"/>
            <a:ext cx="7198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Dedicated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090876" y="2933278"/>
            <a:ext cx="135866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DWU (100 - 30 000)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52316" y="3185216"/>
            <a:ext cx="478682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 Units provisionnées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544343" y="3545128"/>
            <a:ext cx="4939785" cy="647841"/>
          </a:xfrm>
          <a:custGeom>
            <a:avLst/>
            <a:gdLst/>
            <a:ahLst/>
            <a:cxnLst/>
            <a:rect l="l" t="t" r="r" b="b"/>
            <a:pathLst>
              <a:path w="4939785" h="647841">
                <a:moveTo>
                  <a:pt x="71982" y="0"/>
                </a:moveTo>
                <a:lnTo>
                  <a:pt x="4867803" y="0"/>
                </a:lnTo>
                <a:cubicBezTo>
                  <a:pt x="4907557" y="0"/>
                  <a:pt x="4939785" y="32227"/>
                  <a:pt x="4939785" y="71982"/>
                </a:cubicBezTo>
                <a:lnTo>
                  <a:pt x="4939785" y="575859"/>
                </a:lnTo>
                <a:cubicBezTo>
                  <a:pt x="4939785" y="615613"/>
                  <a:pt x="4907557" y="647841"/>
                  <a:pt x="4867803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C398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652316" y="3653101"/>
            <a:ext cx="75581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42995" y="3653101"/>
            <a:ext cx="120570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 à la requête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52316" y="3905039"/>
            <a:ext cx="478682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Paiement par TB de données traitées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44343" y="4264951"/>
            <a:ext cx="4939785" cy="647841"/>
          </a:xfrm>
          <a:custGeom>
            <a:avLst/>
            <a:gdLst/>
            <a:ahLst/>
            <a:cxnLst/>
            <a:rect l="l" t="t" r="r" b="b"/>
            <a:pathLst>
              <a:path w="4939785" h="647841">
                <a:moveTo>
                  <a:pt x="71982" y="0"/>
                </a:moveTo>
                <a:lnTo>
                  <a:pt x="4867803" y="0"/>
                </a:lnTo>
                <a:cubicBezTo>
                  <a:pt x="4907557" y="0"/>
                  <a:pt x="4939785" y="32227"/>
                  <a:pt x="4939785" y="71982"/>
                </a:cubicBezTo>
                <a:lnTo>
                  <a:pt x="4939785" y="575859"/>
                </a:lnTo>
                <a:cubicBezTo>
                  <a:pt x="4939785" y="615613"/>
                  <a:pt x="4907557" y="647841"/>
                  <a:pt x="4867803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C398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652316" y="4372924"/>
            <a:ext cx="64784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Élasticité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242855" y="4372924"/>
            <a:ext cx="120570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Pause &amp; Reprise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52316" y="4624862"/>
            <a:ext cx="478682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Arrêt complet hors production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5879" y="5178226"/>
            <a:ext cx="2564369" cy="1124723"/>
          </a:xfrm>
          <a:custGeom>
            <a:avLst/>
            <a:gdLst/>
            <a:ahLst/>
            <a:cxnLst/>
            <a:rect l="l" t="t" r="r" b="b"/>
            <a:pathLst>
              <a:path w="2564369" h="1124723">
                <a:moveTo>
                  <a:pt x="107973" y="0"/>
                </a:moveTo>
                <a:lnTo>
                  <a:pt x="2456396" y="0"/>
                </a:lnTo>
                <a:cubicBezTo>
                  <a:pt x="2515988" y="0"/>
                  <a:pt x="2564369" y="48381"/>
                  <a:pt x="2564369" y="107973"/>
                </a:cubicBezTo>
                <a:lnTo>
                  <a:pt x="2564369" y="1016750"/>
                </a:lnTo>
                <a:cubicBezTo>
                  <a:pt x="2564369" y="1076342"/>
                  <a:pt x="2515988" y="1124723"/>
                  <a:pt x="2456396" y="1124723"/>
                </a:cubicBezTo>
                <a:lnTo>
                  <a:pt x="107973" y="1124723"/>
                </a:lnTo>
                <a:cubicBezTo>
                  <a:pt x="48381" y="1124723"/>
                  <a:pt x="0" y="1076342"/>
                  <a:pt x="0" y="101675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6526347" y="532668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65234" y="96726"/>
                </a:moveTo>
                <a:lnTo>
                  <a:pt x="65234" y="78731"/>
                </a:lnTo>
                <a:lnTo>
                  <a:pt x="47238" y="78731"/>
                </a:lnTo>
                <a:cubicBezTo>
                  <a:pt x="43499" y="78731"/>
                  <a:pt x="40490" y="75722"/>
                  <a:pt x="40490" y="71982"/>
                </a:cubicBezTo>
                <a:cubicBezTo>
                  <a:pt x="40490" y="68243"/>
                  <a:pt x="43499" y="65234"/>
                  <a:pt x="47238" y="65234"/>
                </a:cubicBezTo>
                <a:lnTo>
                  <a:pt x="65234" y="65234"/>
                </a:lnTo>
                <a:lnTo>
                  <a:pt x="65234" y="47238"/>
                </a:lnTo>
                <a:cubicBezTo>
                  <a:pt x="65234" y="43499"/>
                  <a:pt x="68243" y="40490"/>
                  <a:pt x="71982" y="40490"/>
                </a:cubicBezTo>
                <a:cubicBezTo>
                  <a:pt x="75722" y="40490"/>
                  <a:pt x="78731" y="43499"/>
                  <a:pt x="78731" y="47238"/>
                </a:cubicBezTo>
                <a:lnTo>
                  <a:pt x="78731" y="65234"/>
                </a:lnTo>
                <a:lnTo>
                  <a:pt x="96726" y="65234"/>
                </a:lnTo>
                <a:cubicBezTo>
                  <a:pt x="100466" y="65234"/>
                  <a:pt x="103475" y="68243"/>
                  <a:pt x="103475" y="71982"/>
                </a:cubicBezTo>
                <a:cubicBezTo>
                  <a:pt x="103475" y="75722"/>
                  <a:pt x="100466" y="78731"/>
                  <a:pt x="96726" y="78731"/>
                </a:cubicBezTo>
                <a:lnTo>
                  <a:pt x="78731" y="78731"/>
                </a:lnTo>
                <a:lnTo>
                  <a:pt x="78731" y="96726"/>
                </a:lnTo>
                <a:cubicBezTo>
                  <a:pt x="78731" y="100466"/>
                  <a:pt x="75722" y="103475"/>
                  <a:pt x="71982" y="103475"/>
                </a:cubicBezTo>
                <a:cubicBezTo>
                  <a:pt x="68243" y="103475"/>
                  <a:pt x="65234" y="100466"/>
                  <a:pt x="65234" y="9672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688307" y="5290698"/>
            <a:ext cx="223145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528597" y="5614618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715300" y="5470654"/>
            <a:ext cx="220445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Intégration Azure/PowerBI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528597" y="5830565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715301" y="5794574"/>
            <a:ext cx="121470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Flexibilité Serverless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528597" y="6046512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1693" y="14783"/>
                </a:moveTo>
                <a:cubicBezTo>
                  <a:pt x="94709" y="16976"/>
                  <a:pt x="95384" y="21194"/>
                  <a:pt x="93190" y="24210"/>
                </a:cubicBezTo>
                <a:lnTo>
                  <a:pt x="39204" y="98441"/>
                </a:lnTo>
                <a:cubicBezTo>
                  <a:pt x="38044" y="100044"/>
                  <a:pt x="36251" y="101035"/>
                  <a:pt x="34269" y="101204"/>
                </a:cubicBezTo>
                <a:cubicBezTo>
                  <a:pt x="32287" y="101373"/>
                  <a:pt x="30368" y="100635"/>
                  <a:pt x="28976" y="99243"/>
                </a:cubicBezTo>
                <a:lnTo>
                  <a:pt x="1982" y="72249"/>
                </a:lnTo>
                <a:cubicBezTo>
                  <a:pt x="-654" y="69613"/>
                  <a:pt x="-654" y="65332"/>
                  <a:pt x="1982" y="62696"/>
                </a:cubicBezTo>
                <a:cubicBezTo>
                  <a:pt x="4618" y="60060"/>
                  <a:pt x="8899" y="60060"/>
                  <a:pt x="11535" y="62696"/>
                </a:cubicBezTo>
                <a:lnTo>
                  <a:pt x="32940" y="84101"/>
                </a:lnTo>
                <a:lnTo>
                  <a:pt x="82288" y="16259"/>
                </a:lnTo>
                <a:cubicBezTo>
                  <a:pt x="84481" y="13244"/>
                  <a:pt x="88698" y="12569"/>
                  <a:pt x="91714" y="14762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715301" y="6010521"/>
            <a:ext cx="146663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Pause complète possible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74127" y="5178226"/>
            <a:ext cx="2564369" cy="1124723"/>
          </a:xfrm>
          <a:custGeom>
            <a:avLst/>
            <a:gdLst/>
            <a:ahLst/>
            <a:cxnLst/>
            <a:rect l="l" t="t" r="r" b="b"/>
            <a:pathLst>
              <a:path w="2564369" h="1124723">
                <a:moveTo>
                  <a:pt x="107973" y="0"/>
                </a:moveTo>
                <a:lnTo>
                  <a:pt x="2456396" y="0"/>
                </a:lnTo>
                <a:cubicBezTo>
                  <a:pt x="2515988" y="0"/>
                  <a:pt x="2564369" y="48381"/>
                  <a:pt x="2564369" y="107973"/>
                </a:cubicBezTo>
                <a:lnTo>
                  <a:pt x="2564369" y="1016750"/>
                </a:lnTo>
                <a:cubicBezTo>
                  <a:pt x="2564369" y="1076342"/>
                  <a:pt x="2515988" y="1124723"/>
                  <a:pt x="2456396" y="1124723"/>
                </a:cubicBezTo>
                <a:lnTo>
                  <a:pt x="107973" y="1124723"/>
                </a:lnTo>
                <a:cubicBezTo>
                  <a:pt x="48381" y="1124723"/>
                  <a:pt x="0" y="1076342"/>
                  <a:pt x="0" y="101675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204594" y="532668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cubicBezTo>
                  <a:pt x="76116" y="0"/>
                  <a:pt x="79912" y="2278"/>
                  <a:pt x="81880" y="5905"/>
                </a:cubicBezTo>
                <a:lnTo>
                  <a:pt x="142615" y="118377"/>
                </a:lnTo>
                <a:cubicBezTo>
                  <a:pt x="144499" y="121864"/>
                  <a:pt x="144414" y="126081"/>
                  <a:pt x="142390" y="129484"/>
                </a:cubicBezTo>
                <a:cubicBezTo>
                  <a:pt x="140365" y="132886"/>
                  <a:pt x="136682" y="134967"/>
                  <a:pt x="132717" y="134967"/>
                </a:cubicBezTo>
                <a:lnTo>
                  <a:pt x="11247" y="134967"/>
                </a:lnTo>
                <a:cubicBezTo>
                  <a:pt x="7283" y="134967"/>
                  <a:pt x="3627" y="132886"/>
                  <a:pt x="1575" y="129484"/>
                </a:cubicBezTo>
                <a:cubicBezTo>
                  <a:pt x="-478" y="126081"/>
                  <a:pt x="-534" y="121864"/>
                  <a:pt x="1350" y="118377"/>
                </a:cubicBezTo>
                <a:lnTo>
                  <a:pt x="62085" y="5905"/>
                </a:lnTo>
                <a:cubicBezTo>
                  <a:pt x="64053" y="2278"/>
                  <a:pt x="67849" y="0"/>
                  <a:pt x="71982" y="0"/>
                </a:cubicBezTo>
                <a:close/>
                <a:moveTo>
                  <a:pt x="71982" y="47238"/>
                </a:moveTo>
                <a:cubicBezTo>
                  <a:pt x="68243" y="47238"/>
                  <a:pt x="65234" y="50247"/>
                  <a:pt x="65234" y="53987"/>
                </a:cubicBezTo>
                <a:lnTo>
                  <a:pt x="65234" y="85479"/>
                </a:lnTo>
                <a:cubicBezTo>
                  <a:pt x="65234" y="89219"/>
                  <a:pt x="68243" y="92227"/>
                  <a:pt x="71982" y="92227"/>
                </a:cubicBezTo>
                <a:cubicBezTo>
                  <a:pt x="75722" y="92227"/>
                  <a:pt x="78731" y="89219"/>
                  <a:pt x="78731" y="85479"/>
                </a:cubicBezTo>
                <a:lnTo>
                  <a:pt x="78731" y="53987"/>
                </a:lnTo>
                <a:cubicBezTo>
                  <a:pt x="78731" y="50247"/>
                  <a:pt x="75722" y="47238"/>
                  <a:pt x="71982" y="47238"/>
                </a:cubicBezTo>
                <a:close/>
                <a:moveTo>
                  <a:pt x="79490" y="107973"/>
                </a:moveTo>
                <a:cubicBezTo>
                  <a:pt x="79661" y="105187"/>
                  <a:pt x="78271" y="102535"/>
                  <a:pt x="75882" y="101090"/>
                </a:cubicBezTo>
                <a:cubicBezTo>
                  <a:pt x="73493" y="99645"/>
                  <a:pt x="70500" y="99645"/>
                  <a:pt x="68111" y="101090"/>
                </a:cubicBezTo>
                <a:cubicBezTo>
                  <a:pt x="65722" y="102535"/>
                  <a:pt x="64332" y="105187"/>
                  <a:pt x="64503" y="107973"/>
                </a:cubicBezTo>
                <a:cubicBezTo>
                  <a:pt x="64332" y="110760"/>
                  <a:pt x="65722" y="113411"/>
                  <a:pt x="68111" y="114856"/>
                </a:cubicBezTo>
                <a:cubicBezTo>
                  <a:pt x="70500" y="116301"/>
                  <a:pt x="73493" y="116301"/>
                  <a:pt x="75882" y="114856"/>
                </a:cubicBezTo>
                <a:cubicBezTo>
                  <a:pt x="78271" y="113411"/>
                  <a:pt x="79661" y="110760"/>
                  <a:pt x="79490" y="107973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9366555" y="5290698"/>
            <a:ext cx="223145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213592" y="5614618"/>
            <a:ext cx="80980" cy="107973"/>
          </a:xfrm>
          <a:custGeom>
            <a:avLst/>
            <a:gdLst/>
            <a:ahLst/>
            <a:cxnLst/>
            <a:rect l="l" t="t" r="r" b="b"/>
            <a:pathLst>
              <a:path w="80980" h="107973">
                <a:moveTo>
                  <a:pt x="11620" y="15479"/>
                </a:moveTo>
                <a:cubicBezTo>
                  <a:pt x="8984" y="12843"/>
                  <a:pt x="4703" y="12843"/>
                  <a:pt x="2067" y="15479"/>
                </a:cubicBezTo>
                <a:cubicBezTo>
                  <a:pt x="-569" y="18115"/>
                  <a:pt x="-569" y="22396"/>
                  <a:pt x="2067" y="25032"/>
                </a:cubicBezTo>
                <a:lnTo>
                  <a:pt x="31042" y="53987"/>
                </a:lnTo>
                <a:lnTo>
                  <a:pt x="2088" y="82962"/>
                </a:lnTo>
                <a:cubicBezTo>
                  <a:pt x="-548" y="85598"/>
                  <a:pt x="-548" y="89879"/>
                  <a:pt x="2088" y="92516"/>
                </a:cubicBezTo>
                <a:cubicBezTo>
                  <a:pt x="4724" y="95152"/>
                  <a:pt x="9005" y="95152"/>
                  <a:pt x="11641" y="92516"/>
                </a:cubicBezTo>
                <a:lnTo>
                  <a:pt x="40595" y="63540"/>
                </a:lnTo>
                <a:lnTo>
                  <a:pt x="69571" y="92494"/>
                </a:lnTo>
                <a:cubicBezTo>
                  <a:pt x="72207" y="95130"/>
                  <a:pt x="76488" y="95130"/>
                  <a:pt x="79124" y="92494"/>
                </a:cubicBezTo>
                <a:cubicBezTo>
                  <a:pt x="81760" y="89858"/>
                  <a:pt x="81760" y="85577"/>
                  <a:pt x="79124" y="82941"/>
                </a:cubicBezTo>
                <a:lnTo>
                  <a:pt x="50149" y="53987"/>
                </a:lnTo>
                <a:lnTo>
                  <a:pt x="79103" y="25011"/>
                </a:lnTo>
                <a:cubicBezTo>
                  <a:pt x="81739" y="22375"/>
                  <a:pt x="81739" y="18094"/>
                  <a:pt x="79103" y="15458"/>
                </a:cubicBezTo>
                <a:cubicBezTo>
                  <a:pt x="76467" y="12822"/>
                  <a:pt x="72186" y="12822"/>
                  <a:pt x="69550" y="15458"/>
                </a:cubicBezTo>
                <a:lnTo>
                  <a:pt x="40595" y="44434"/>
                </a:lnTo>
                <a:lnTo>
                  <a:pt x="11620" y="15479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9393548" y="5578627"/>
            <a:ext cx="151162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Coûts DWU vs usage réel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3592" y="5830565"/>
            <a:ext cx="80980" cy="107973"/>
          </a:xfrm>
          <a:custGeom>
            <a:avLst/>
            <a:gdLst/>
            <a:ahLst/>
            <a:cxnLst/>
            <a:rect l="l" t="t" r="r" b="b"/>
            <a:pathLst>
              <a:path w="80980" h="107973">
                <a:moveTo>
                  <a:pt x="11620" y="15479"/>
                </a:moveTo>
                <a:cubicBezTo>
                  <a:pt x="8984" y="12843"/>
                  <a:pt x="4703" y="12843"/>
                  <a:pt x="2067" y="15479"/>
                </a:cubicBezTo>
                <a:cubicBezTo>
                  <a:pt x="-569" y="18115"/>
                  <a:pt x="-569" y="22396"/>
                  <a:pt x="2067" y="25032"/>
                </a:cubicBezTo>
                <a:lnTo>
                  <a:pt x="31042" y="53987"/>
                </a:lnTo>
                <a:lnTo>
                  <a:pt x="2088" y="82962"/>
                </a:lnTo>
                <a:cubicBezTo>
                  <a:pt x="-548" y="85598"/>
                  <a:pt x="-548" y="89879"/>
                  <a:pt x="2088" y="92516"/>
                </a:cubicBezTo>
                <a:cubicBezTo>
                  <a:pt x="4724" y="95152"/>
                  <a:pt x="9005" y="95152"/>
                  <a:pt x="11641" y="92516"/>
                </a:cubicBezTo>
                <a:lnTo>
                  <a:pt x="40595" y="63540"/>
                </a:lnTo>
                <a:lnTo>
                  <a:pt x="69571" y="92494"/>
                </a:lnTo>
                <a:cubicBezTo>
                  <a:pt x="72207" y="95130"/>
                  <a:pt x="76488" y="95130"/>
                  <a:pt x="79124" y="92494"/>
                </a:cubicBezTo>
                <a:cubicBezTo>
                  <a:pt x="81760" y="89858"/>
                  <a:pt x="81760" y="85577"/>
                  <a:pt x="79124" y="82941"/>
                </a:cubicBezTo>
                <a:lnTo>
                  <a:pt x="50149" y="53987"/>
                </a:lnTo>
                <a:lnTo>
                  <a:pt x="79103" y="25011"/>
                </a:lnTo>
                <a:cubicBezTo>
                  <a:pt x="81739" y="22375"/>
                  <a:pt x="81739" y="18094"/>
                  <a:pt x="79103" y="15458"/>
                </a:cubicBezTo>
                <a:cubicBezTo>
                  <a:pt x="76467" y="12822"/>
                  <a:pt x="72186" y="12822"/>
                  <a:pt x="69550" y="15458"/>
                </a:cubicBezTo>
                <a:lnTo>
                  <a:pt x="40595" y="44434"/>
                </a:lnTo>
                <a:lnTo>
                  <a:pt x="11620" y="15479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9393548" y="5794574"/>
            <a:ext cx="164659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de démarrage (Cold)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kern="0" spc="53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721461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7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Facteurs de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1109127"/>
            <a:ext cx="1160382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99A1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Identifier et maîtriser les leviers techniques clés pour garantir la rapidité des requêtes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300" y="1550258"/>
            <a:ext cx="3722299" cy="2361097"/>
          </a:xfrm>
          <a:custGeom>
            <a:avLst/>
            <a:gdLst/>
            <a:ahLst/>
            <a:cxnLst/>
            <a:rect l="l" t="t" r="r" b="b"/>
            <a:pathLst>
              <a:path w="3722299" h="2361097">
                <a:moveTo>
                  <a:pt x="134441" y="0"/>
                </a:moveTo>
                <a:lnTo>
                  <a:pt x="3587858" y="0"/>
                </a:lnTo>
                <a:cubicBezTo>
                  <a:pt x="3662108" y="0"/>
                  <a:pt x="3722299" y="60191"/>
                  <a:pt x="3722299" y="134441"/>
                </a:cubicBezTo>
                <a:lnTo>
                  <a:pt x="3722299" y="2226656"/>
                </a:lnTo>
                <a:cubicBezTo>
                  <a:pt x="3722299" y="2300906"/>
                  <a:pt x="3662108" y="2361097"/>
                  <a:pt x="3587858" y="2361097"/>
                </a:cubicBezTo>
                <a:lnTo>
                  <a:pt x="134441" y="2361097"/>
                </a:lnTo>
                <a:cubicBezTo>
                  <a:pt x="60191" y="2361097"/>
                  <a:pt x="0" y="2300906"/>
                  <a:pt x="0" y="2226656"/>
                </a:cubicBezTo>
                <a:lnTo>
                  <a:pt x="0" y="134441"/>
                </a:lnTo>
                <a:cubicBezTo>
                  <a:pt x="0" y="60191"/>
                  <a:pt x="60191" y="0"/>
                  <a:pt x="134441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12551" y="1722509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100830" y="0"/>
                </a:moveTo>
                <a:lnTo>
                  <a:pt x="302489" y="0"/>
                </a:lnTo>
                <a:cubicBezTo>
                  <a:pt x="358176" y="0"/>
                  <a:pt x="403319" y="45143"/>
                  <a:pt x="403319" y="100830"/>
                </a:cubicBezTo>
                <a:lnTo>
                  <a:pt x="403319" y="302489"/>
                </a:lnTo>
                <a:cubicBezTo>
                  <a:pt x="403319" y="358176"/>
                  <a:pt x="358176" y="403319"/>
                  <a:pt x="302489" y="403319"/>
                </a:cubicBezTo>
                <a:lnTo>
                  <a:pt x="100830" y="403319"/>
                </a:lnTo>
                <a:cubicBezTo>
                  <a:pt x="45143" y="403319"/>
                  <a:pt x="0" y="358176"/>
                  <a:pt x="0" y="30248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689" y="1840143"/>
            <a:ext cx="147043" cy="168050"/>
          </a:xfrm>
          <a:custGeom>
            <a:avLst/>
            <a:gdLst/>
            <a:ahLst/>
            <a:cxnLst/>
            <a:rect l="l" t="t" r="r" b="b"/>
            <a:pathLst>
              <a:path w="147043" h="168050">
                <a:moveTo>
                  <a:pt x="147043" y="67548"/>
                </a:moveTo>
                <a:cubicBezTo>
                  <a:pt x="142186" y="70765"/>
                  <a:pt x="136606" y="73358"/>
                  <a:pt x="130796" y="75425"/>
                </a:cubicBezTo>
                <a:cubicBezTo>
                  <a:pt x="115370" y="80940"/>
                  <a:pt x="95119" y="84025"/>
                  <a:pt x="73522" y="84025"/>
                </a:cubicBezTo>
                <a:cubicBezTo>
                  <a:pt x="51925" y="84025"/>
                  <a:pt x="31641" y="80907"/>
                  <a:pt x="16247" y="75425"/>
                </a:cubicBezTo>
                <a:cubicBezTo>
                  <a:pt x="10470" y="73358"/>
                  <a:pt x="4858" y="70765"/>
                  <a:pt x="0" y="67548"/>
                </a:cubicBezTo>
                <a:lnTo>
                  <a:pt x="0" y="94528"/>
                </a:lnTo>
                <a:cubicBezTo>
                  <a:pt x="0" y="109035"/>
                  <a:pt x="32921" y="120786"/>
                  <a:pt x="73522" y="120786"/>
                </a:cubicBezTo>
                <a:cubicBezTo>
                  <a:pt x="114123" y="120786"/>
                  <a:pt x="147043" y="109035"/>
                  <a:pt x="147043" y="94528"/>
                </a:cubicBezTo>
                <a:lnTo>
                  <a:pt x="147043" y="67548"/>
                </a:lnTo>
                <a:close/>
                <a:moveTo>
                  <a:pt x="147043" y="42012"/>
                </a:moveTo>
                <a:lnTo>
                  <a:pt x="147043" y="26258"/>
                </a:lnTo>
                <a:cubicBezTo>
                  <a:pt x="147043" y="11750"/>
                  <a:pt x="114123" y="0"/>
                  <a:pt x="73522" y="0"/>
                </a:cubicBezTo>
                <a:cubicBezTo>
                  <a:pt x="32921" y="0"/>
                  <a:pt x="0" y="11750"/>
                  <a:pt x="0" y="26258"/>
                </a:cubicBezTo>
                <a:lnTo>
                  <a:pt x="0" y="42012"/>
                </a:lnTo>
                <a:cubicBezTo>
                  <a:pt x="0" y="56520"/>
                  <a:pt x="32921" y="68270"/>
                  <a:pt x="73522" y="68270"/>
                </a:cubicBezTo>
                <a:cubicBezTo>
                  <a:pt x="114123" y="68270"/>
                  <a:pt x="147043" y="56520"/>
                  <a:pt x="147043" y="42012"/>
                </a:cubicBezTo>
                <a:close/>
                <a:moveTo>
                  <a:pt x="130796" y="127941"/>
                </a:moveTo>
                <a:cubicBezTo>
                  <a:pt x="115403" y="133422"/>
                  <a:pt x="95152" y="136540"/>
                  <a:pt x="73522" y="136540"/>
                </a:cubicBezTo>
                <a:cubicBezTo>
                  <a:pt x="51892" y="136540"/>
                  <a:pt x="31641" y="133422"/>
                  <a:pt x="16247" y="127941"/>
                </a:cubicBezTo>
                <a:cubicBezTo>
                  <a:pt x="10470" y="125873"/>
                  <a:pt x="4858" y="123280"/>
                  <a:pt x="0" y="120064"/>
                </a:cubicBezTo>
                <a:lnTo>
                  <a:pt x="0" y="141792"/>
                </a:lnTo>
                <a:cubicBezTo>
                  <a:pt x="0" y="156299"/>
                  <a:pt x="32921" y="168050"/>
                  <a:pt x="73522" y="168050"/>
                </a:cubicBezTo>
                <a:cubicBezTo>
                  <a:pt x="114123" y="168050"/>
                  <a:pt x="147043" y="156299"/>
                  <a:pt x="147043" y="141792"/>
                </a:cubicBezTo>
                <a:lnTo>
                  <a:pt x="147043" y="120064"/>
                </a:lnTo>
                <a:cubicBezTo>
                  <a:pt x="142186" y="123280"/>
                  <a:pt x="136606" y="125873"/>
                  <a:pt x="130796" y="1279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16700" y="1806533"/>
            <a:ext cx="252074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Volume de Données Scannées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551" y="2226657"/>
            <a:ext cx="3445017" cy="65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quantité de données lues impacte directement les I/O, le temps de traitement et les coûts (notamment sur BigQuery).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6753" y="2987082"/>
            <a:ext cx="3369395" cy="747821"/>
          </a:xfrm>
          <a:custGeom>
            <a:avLst/>
            <a:gdLst/>
            <a:ahLst/>
            <a:cxnLst/>
            <a:rect l="l" t="t" r="r" b="b"/>
            <a:pathLst>
              <a:path w="3369395" h="747821">
                <a:moveTo>
                  <a:pt x="67222" y="0"/>
                </a:moveTo>
                <a:lnTo>
                  <a:pt x="3302173" y="0"/>
                </a:lnTo>
                <a:cubicBezTo>
                  <a:pt x="3339299" y="0"/>
                  <a:pt x="3369395" y="30096"/>
                  <a:pt x="3369395" y="67222"/>
                </a:cubicBezTo>
                <a:lnTo>
                  <a:pt x="3369395" y="680599"/>
                </a:lnTo>
                <a:cubicBezTo>
                  <a:pt x="3369395" y="717725"/>
                  <a:pt x="3339299" y="747821"/>
                  <a:pt x="3302173" y="747821"/>
                </a:cubicBezTo>
                <a:lnTo>
                  <a:pt x="67222" y="747821"/>
                </a:lnTo>
                <a:cubicBezTo>
                  <a:pt x="30096" y="747821"/>
                  <a:pt x="0" y="717725"/>
                  <a:pt x="0" y="680599"/>
                </a:cubicBezTo>
                <a:lnTo>
                  <a:pt x="0" y="67222"/>
                </a:lnTo>
                <a:cubicBezTo>
                  <a:pt x="0" y="30096"/>
                  <a:pt x="30096" y="0"/>
                  <a:pt x="6722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21784" y="3092113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84" y="3293773"/>
            <a:ext cx="3218150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Plus le volume scanné est grand, plus la requête est lente et coûteuse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5244" y="1550258"/>
            <a:ext cx="3722299" cy="2361097"/>
          </a:xfrm>
          <a:custGeom>
            <a:avLst/>
            <a:gdLst/>
            <a:ahLst/>
            <a:cxnLst/>
            <a:rect l="l" t="t" r="r" b="b"/>
            <a:pathLst>
              <a:path w="3722299" h="2361097">
                <a:moveTo>
                  <a:pt x="134441" y="0"/>
                </a:moveTo>
                <a:lnTo>
                  <a:pt x="3587858" y="0"/>
                </a:lnTo>
                <a:cubicBezTo>
                  <a:pt x="3662108" y="0"/>
                  <a:pt x="3722299" y="60191"/>
                  <a:pt x="3722299" y="134441"/>
                </a:cubicBezTo>
                <a:lnTo>
                  <a:pt x="3722299" y="2226656"/>
                </a:lnTo>
                <a:cubicBezTo>
                  <a:pt x="3722299" y="2300906"/>
                  <a:pt x="3662108" y="2361097"/>
                  <a:pt x="3587858" y="2361097"/>
                </a:cubicBezTo>
                <a:lnTo>
                  <a:pt x="134441" y="2361097"/>
                </a:lnTo>
                <a:cubicBezTo>
                  <a:pt x="60191" y="2361097"/>
                  <a:pt x="0" y="2300906"/>
                  <a:pt x="0" y="2226656"/>
                </a:cubicBezTo>
                <a:lnTo>
                  <a:pt x="0" y="134441"/>
                </a:lnTo>
                <a:cubicBezTo>
                  <a:pt x="0" y="60191"/>
                  <a:pt x="60191" y="0"/>
                  <a:pt x="13444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407495" y="1722509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100830" y="0"/>
                </a:moveTo>
                <a:lnTo>
                  <a:pt x="302489" y="0"/>
                </a:lnTo>
                <a:cubicBezTo>
                  <a:pt x="358176" y="0"/>
                  <a:pt x="403319" y="45143"/>
                  <a:pt x="403319" y="100830"/>
                </a:cubicBezTo>
                <a:lnTo>
                  <a:pt x="403319" y="302489"/>
                </a:lnTo>
                <a:cubicBezTo>
                  <a:pt x="403319" y="358176"/>
                  <a:pt x="358176" y="403319"/>
                  <a:pt x="302489" y="403319"/>
                </a:cubicBezTo>
                <a:lnTo>
                  <a:pt x="100830" y="403319"/>
                </a:lnTo>
                <a:cubicBezTo>
                  <a:pt x="45143" y="403319"/>
                  <a:pt x="0" y="358176"/>
                  <a:pt x="0" y="30248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04124" y="1840143"/>
            <a:ext cx="210062" cy="168050"/>
          </a:xfrm>
          <a:custGeom>
            <a:avLst/>
            <a:gdLst/>
            <a:ahLst/>
            <a:cxnLst/>
            <a:rect l="l" t="t" r="r" b="b"/>
            <a:pathLst>
              <a:path w="210062" h="168050">
                <a:moveTo>
                  <a:pt x="105031" y="5252"/>
                </a:moveTo>
                <a:cubicBezTo>
                  <a:pt x="123871" y="5252"/>
                  <a:pt x="139166" y="20547"/>
                  <a:pt x="139166" y="39387"/>
                </a:cubicBezTo>
                <a:cubicBezTo>
                  <a:pt x="139166" y="58226"/>
                  <a:pt x="123871" y="73522"/>
                  <a:pt x="105031" y="73522"/>
                </a:cubicBezTo>
                <a:cubicBezTo>
                  <a:pt x="86191" y="73522"/>
                  <a:pt x="70896" y="58226"/>
                  <a:pt x="70896" y="39387"/>
                </a:cubicBezTo>
                <a:cubicBezTo>
                  <a:pt x="70896" y="20547"/>
                  <a:pt x="86191" y="5252"/>
                  <a:pt x="105031" y="5252"/>
                </a:cubicBezTo>
                <a:close/>
                <a:moveTo>
                  <a:pt x="31509" y="28884"/>
                </a:moveTo>
                <a:cubicBezTo>
                  <a:pt x="44552" y="28884"/>
                  <a:pt x="55141" y="39473"/>
                  <a:pt x="55141" y="52516"/>
                </a:cubicBezTo>
                <a:cubicBezTo>
                  <a:pt x="55141" y="65558"/>
                  <a:pt x="44552" y="76147"/>
                  <a:pt x="31509" y="76147"/>
                </a:cubicBezTo>
                <a:cubicBezTo>
                  <a:pt x="18466" y="76147"/>
                  <a:pt x="7877" y="65558"/>
                  <a:pt x="7877" y="52516"/>
                </a:cubicBezTo>
                <a:cubicBezTo>
                  <a:pt x="7877" y="39473"/>
                  <a:pt x="18466" y="28884"/>
                  <a:pt x="31509" y="28884"/>
                </a:cubicBezTo>
                <a:close/>
                <a:moveTo>
                  <a:pt x="0" y="136540"/>
                </a:moveTo>
                <a:cubicBezTo>
                  <a:pt x="0" y="113335"/>
                  <a:pt x="18807" y="94528"/>
                  <a:pt x="42012" y="94528"/>
                </a:cubicBezTo>
                <a:cubicBezTo>
                  <a:pt x="46214" y="94528"/>
                  <a:pt x="50284" y="95152"/>
                  <a:pt x="54124" y="96300"/>
                </a:cubicBezTo>
                <a:cubicBezTo>
                  <a:pt x="43325" y="108379"/>
                  <a:pt x="36761" y="124330"/>
                  <a:pt x="36761" y="141792"/>
                </a:cubicBezTo>
                <a:lnTo>
                  <a:pt x="36761" y="147043"/>
                </a:lnTo>
                <a:cubicBezTo>
                  <a:pt x="36761" y="150785"/>
                  <a:pt x="37549" y="154330"/>
                  <a:pt x="38960" y="157547"/>
                </a:cubicBezTo>
                <a:lnTo>
                  <a:pt x="10503" y="157547"/>
                </a:lnTo>
                <a:cubicBezTo>
                  <a:pt x="4694" y="157547"/>
                  <a:pt x="0" y="152853"/>
                  <a:pt x="0" y="147043"/>
                </a:cubicBezTo>
                <a:lnTo>
                  <a:pt x="0" y="136540"/>
                </a:lnTo>
                <a:close/>
                <a:moveTo>
                  <a:pt x="171102" y="157547"/>
                </a:moveTo>
                <a:cubicBezTo>
                  <a:pt x="172513" y="154330"/>
                  <a:pt x="173301" y="150785"/>
                  <a:pt x="173301" y="147043"/>
                </a:cubicBezTo>
                <a:lnTo>
                  <a:pt x="173301" y="141792"/>
                </a:lnTo>
                <a:cubicBezTo>
                  <a:pt x="173301" y="124330"/>
                  <a:pt x="166737" y="108379"/>
                  <a:pt x="155938" y="96300"/>
                </a:cubicBezTo>
                <a:cubicBezTo>
                  <a:pt x="159778" y="95152"/>
                  <a:pt x="163848" y="94528"/>
                  <a:pt x="168050" y="94528"/>
                </a:cubicBezTo>
                <a:cubicBezTo>
                  <a:pt x="191255" y="94528"/>
                  <a:pt x="210062" y="113335"/>
                  <a:pt x="210062" y="136540"/>
                </a:cubicBezTo>
                <a:lnTo>
                  <a:pt x="210062" y="147043"/>
                </a:lnTo>
                <a:cubicBezTo>
                  <a:pt x="210062" y="152853"/>
                  <a:pt x="205368" y="157547"/>
                  <a:pt x="199559" y="157547"/>
                </a:cubicBezTo>
                <a:lnTo>
                  <a:pt x="171102" y="157547"/>
                </a:lnTo>
                <a:close/>
                <a:moveTo>
                  <a:pt x="154921" y="52516"/>
                </a:moveTo>
                <a:cubicBezTo>
                  <a:pt x="154921" y="39473"/>
                  <a:pt x="165510" y="28884"/>
                  <a:pt x="178553" y="28884"/>
                </a:cubicBezTo>
                <a:cubicBezTo>
                  <a:pt x="191596" y="28884"/>
                  <a:pt x="202185" y="39473"/>
                  <a:pt x="202185" y="52516"/>
                </a:cubicBezTo>
                <a:cubicBezTo>
                  <a:pt x="202185" y="65558"/>
                  <a:pt x="191596" y="76147"/>
                  <a:pt x="178553" y="76147"/>
                </a:cubicBezTo>
                <a:cubicBezTo>
                  <a:pt x="165510" y="76147"/>
                  <a:pt x="154921" y="65558"/>
                  <a:pt x="154921" y="52516"/>
                </a:cubicBezTo>
                <a:close/>
                <a:moveTo>
                  <a:pt x="52516" y="141792"/>
                </a:moveTo>
                <a:cubicBezTo>
                  <a:pt x="52516" y="112777"/>
                  <a:pt x="76016" y="89276"/>
                  <a:pt x="105031" y="89276"/>
                </a:cubicBezTo>
                <a:cubicBezTo>
                  <a:pt x="134046" y="89276"/>
                  <a:pt x="157547" y="112777"/>
                  <a:pt x="157547" y="141792"/>
                </a:cubicBezTo>
                <a:lnTo>
                  <a:pt x="157547" y="147043"/>
                </a:lnTo>
                <a:cubicBezTo>
                  <a:pt x="157547" y="152853"/>
                  <a:pt x="152853" y="157547"/>
                  <a:pt x="147043" y="157547"/>
                </a:cubicBezTo>
                <a:lnTo>
                  <a:pt x="63019" y="157547"/>
                </a:lnTo>
                <a:cubicBezTo>
                  <a:pt x="57209" y="157547"/>
                  <a:pt x="52516" y="152853"/>
                  <a:pt x="52516" y="147043"/>
                </a:cubicBezTo>
                <a:lnTo>
                  <a:pt x="52516" y="14179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11644" y="1806533"/>
            <a:ext cx="208381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Concurrence Utilisateurs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7495" y="2226657"/>
            <a:ext cx="3445017" cy="823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Gestion des files d'attente (Queuing) et allocation dynamique des ressources lors des pics d'utilisation.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11696" y="3155132"/>
            <a:ext cx="3369395" cy="579771"/>
          </a:xfrm>
          <a:custGeom>
            <a:avLst/>
            <a:gdLst/>
            <a:ahLst/>
            <a:cxnLst/>
            <a:rect l="l" t="t" r="r" b="b"/>
            <a:pathLst>
              <a:path w="3369395" h="579771">
                <a:moveTo>
                  <a:pt x="67219" y="0"/>
                </a:moveTo>
                <a:lnTo>
                  <a:pt x="3302176" y="0"/>
                </a:lnTo>
                <a:cubicBezTo>
                  <a:pt x="3339300" y="0"/>
                  <a:pt x="3369395" y="30095"/>
                  <a:pt x="3369395" y="67219"/>
                </a:cubicBezTo>
                <a:lnTo>
                  <a:pt x="3369395" y="512553"/>
                </a:lnTo>
                <a:cubicBezTo>
                  <a:pt x="3369395" y="549676"/>
                  <a:pt x="3339300" y="579771"/>
                  <a:pt x="3302176" y="579771"/>
                </a:cubicBezTo>
                <a:lnTo>
                  <a:pt x="67219" y="579771"/>
                </a:lnTo>
                <a:cubicBezTo>
                  <a:pt x="30095" y="579771"/>
                  <a:pt x="0" y="549676"/>
                  <a:pt x="0" y="512553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16727" y="3260163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16727" y="3461822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Trop d'utilisateurs simultanés = ralentissement général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0188" y="1550258"/>
            <a:ext cx="3722299" cy="2361097"/>
          </a:xfrm>
          <a:custGeom>
            <a:avLst/>
            <a:gdLst/>
            <a:ahLst/>
            <a:cxnLst/>
            <a:rect l="l" t="t" r="r" b="b"/>
            <a:pathLst>
              <a:path w="3722299" h="2361097">
                <a:moveTo>
                  <a:pt x="134441" y="0"/>
                </a:moveTo>
                <a:lnTo>
                  <a:pt x="3587858" y="0"/>
                </a:lnTo>
                <a:cubicBezTo>
                  <a:pt x="3662108" y="0"/>
                  <a:pt x="3722299" y="60191"/>
                  <a:pt x="3722299" y="134441"/>
                </a:cubicBezTo>
                <a:lnTo>
                  <a:pt x="3722299" y="2226656"/>
                </a:lnTo>
                <a:cubicBezTo>
                  <a:pt x="3722299" y="2300906"/>
                  <a:pt x="3662108" y="2361097"/>
                  <a:pt x="3587858" y="2361097"/>
                </a:cubicBezTo>
                <a:lnTo>
                  <a:pt x="134441" y="2361097"/>
                </a:lnTo>
                <a:cubicBezTo>
                  <a:pt x="60191" y="2361097"/>
                  <a:pt x="0" y="2300906"/>
                  <a:pt x="0" y="2226656"/>
                </a:cubicBezTo>
                <a:lnTo>
                  <a:pt x="0" y="134441"/>
                </a:lnTo>
                <a:cubicBezTo>
                  <a:pt x="0" y="60191"/>
                  <a:pt x="60191" y="0"/>
                  <a:pt x="13444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BC7D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302439" y="1722509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100830" y="0"/>
                </a:moveTo>
                <a:lnTo>
                  <a:pt x="302489" y="0"/>
                </a:lnTo>
                <a:cubicBezTo>
                  <a:pt x="358176" y="0"/>
                  <a:pt x="403319" y="45143"/>
                  <a:pt x="403319" y="100830"/>
                </a:cubicBezTo>
                <a:lnTo>
                  <a:pt x="403319" y="302489"/>
                </a:lnTo>
                <a:cubicBezTo>
                  <a:pt x="403319" y="358176"/>
                  <a:pt x="358176" y="403319"/>
                  <a:pt x="302489" y="403319"/>
                </a:cubicBezTo>
                <a:lnTo>
                  <a:pt x="100830" y="403319"/>
                </a:lnTo>
                <a:cubicBezTo>
                  <a:pt x="45143" y="403319"/>
                  <a:pt x="0" y="358176"/>
                  <a:pt x="0" y="30248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409571" y="1840143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118422" y="394"/>
                </a:moveTo>
                <a:cubicBezTo>
                  <a:pt x="112843" y="-1214"/>
                  <a:pt x="107033" y="2035"/>
                  <a:pt x="105425" y="7615"/>
                </a:cubicBezTo>
                <a:lnTo>
                  <a:pt x="63412" y="154658"/>
                </a:lnTo>
                <a:cubicBezTo>
                  <a:pt x="61804" y="160238"/>
                  <a:pt x="65054" y="166047"/>
                  <a:pt x="70633" y="167656"/>
                </a:cubicBezTo>
                <a:cubicBezTo>
                  <a:pt x="76213" y="169264"/>
                  <a:pt x="82023" y="166015"/>
                  <a:pt x="83631" y="160435"/>
                </a:cubicBezTo>
                <a:lnTo>
                  <a:pt x="125643" y="13391"/>
                </a:lnTo>
                <a:cubicBezTo>
                  <a:pt x="127252" y="7812"/>
                  <a:pt x="124002" y="2002"/>
                  <a:pt x="118422" y="394"/>
                </a:cubicBezTo>
                <a:close/>
                <a:moveTo>
                  <a:pt x="139626" y="45065"/>
                </a:moveTo>
                <a:cubicBezTo>
                  <a:pt x="135523" y="49168"/>
                  <a:pt x="135523" y="55831"/>
                  <a:pt x="139626" y="59933"/>
                </a:cubicBezTo>
                <a:lnTo>
                  <a:pt x="163717" y="84025"/>
                </a:lnTo>
                <a:lnTo>
                  <a:pt x="139626" y="108116"/>
                </a:lnTo>
                <a:cubicBezTo>
                  <a:pt x="135523" y="112219"/>
                  <a:pt x="135523" y="118882"/>
                  <a:pt x="139626" y="122985"/>
                </a:cubicBezTo>
                <a:cubicBezTo>
                  <a:pt x="143728" y="127088"/>
                  <a:pt x="150391" y="127088"/>
                  <a:pt x="154494" y="122985"/>
                </a:cubicBezTo>
                <a:lnTo>
                  <a:pt x="186003" y="91475"/>
                </a:lnTo>
                <a:cubicBezTo>
                  <a:pt x="190106" y="87373"/>
                  <a:pt x="190106" y="80710"/>
                  <a:pt x="186003" y="76607"/>
                </a:cubicBezTo>
                <a:lnTo>
                  <a:pt x="154494" y="45098"/>
                </a:lnTo>
                <a:cubicBezTo>
                  <a:pt x="150391" y="40995"/>
                  <a:pt x="143728" y="40995"/>
                  <a:pt x="139626" y="45098"/>
                </a:cubicBezTo>
                <a:close/>
                <a:moveTo>
                  <a:pt x="49463" y="45065"/>
                </a:moveTo>
                <a:cubicBezTo>
                  <a:pt x="45360" y="40962"/>
                  <a:pt x="38697" y="40962"/>
                  <a:pt x="34595" y="45065"/>
                </a:cubicBezTo>
                <a:lnTo>
                  <a:pt x="3085" y="76574"/>
                </a:lnTo>
                <a:cubicBezTo>
                  <a:pt x="-1017" y="80677"/>
                  <a:pt x="-1017" y="87340"/>
                  <a:pt x="3085" y="91443"/>
                </a:cubicBezTo>
                <a:lnTo>
                  <a:pt x="34595" y="122952"/>
                </a:lnTo>
                <a:cubicBezTo>
                  <a:pt x="38697" y="127055"/>
                  <a:pt x="45360" y="127055"/>
                  <a:pt x="49463" y="122952"/>
                </a:cubicBezTo>
                <a:cubicBezTo>
                  <a:pt x="53566" y="118849"/>
                  <a:pt x="53566" y="112186"/>
                  <a:pt x="49463" y="108083"/>
                </a:cubicBezTo>
                <a:lnTo>
                  <a:pt x="25372" y="84025"/>
                </a:lnTo>
                <a:lnTo>
                  <a:pt x="49430" y="59933"/>
                </a:lnTo>
                <a:cubicBezTo>
                  <a:pt x="53533" y="55831"/>
                  <a:pt x="53533" y="49168"/>
                  <a:pt x="49430" y="450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806588" y="1806533"/>
            <a:ext cx="137800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Complexité SQL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2439" y="2226657"/>
            <a:ext cx="3445017" cy="823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L'efficacité du code: jointures massives, produits cartésiens, fonctions non sargables et sous-requêtes imbriquées.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6640" y="3155132"/>
            <a:ext cx="3369395" cy="579771"/>
          </a:xfrm>
          <a:custGeom>
            <a:avLst/>
            <a:gdLst/>
            <a:ahLst/>
            <a:cxnLst/>
            <a:rect l="l" t="t" r="r" b="b"/>
            <a:pathLst>
              <a:path w="3369395" h="579771">
                <a:moveTo>
                  <a:pt x="67219" y="0"/>
                </a:moveTo>
                <a:lnTo>
                  <a:pt x="3302176" y="0"/>
                </a:lnTo>
                <a:cubicBezTo>
                  <a:pt x="3339300" y="0"/>
                  <a:pt x="3369395" y="30095"/>
                  <a:pt x="3369395" y="67219"/>
                </a:cubicBezTo>
                <a:lnTo>
                  <a:pt x="3369395" y="512553"/>
                </a:lnTo>
                <a:cubicBezTo>
                  <a:pt x="3369395" y="549676"/>
                  <a:pt x="3339300" y="579771"/>
                  <a:pt x="3302176" y="579771"/>
                </a:cubicBezTo>
                <a:lnTo>
                  <a:pt x="67219" y="579771"/>
                </a:lnTo>
                <a:cubicBezTo>
                  <a:pt x="30095" y="579771"/>
                  <a:pt x="0" y="549676"/>
                  <a:pt x="0" y="512553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411671" y="3260163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1671" y="3461822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mal écrit = consommation excessive de ressources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0300" y="4087807"/>
            <a:ext cx="3722299" cy="1974583"/>
          </a:xfrm>
          <a:custGeom>
            <a:avLst/>
            <a:gdLst/>
            <a:ahLst/>
            <a:cxnLst/>
            <a:rect l="l" t="t" r="r" b="b"/>
            <a:pathLst>
              <a:path w="3722299" h="1974583">
                <a:moveTo>
                  <a:pt x="134449" y="0"/>
                </a:moveTo>
                <a:lnTo>
                  <a:pt x="3587850" y="0"/>
                </a:lnTo>
                <a:cubicBezTo>
                  <a:pt x="3662054" y="0"/>
                  <a:pt x="3722299" y="60245"/>
                  <a:pt x="3722299" y="134449"/>
                </a:cubicBezTo>
                <a:lnTo>
                  <a:pt x="3722299" y="1840134"/>
                </a:lnTo>
                <a:cubicBezTo>
                  <a:pt x="3722299" y="1914388"/>
                  <a:pt x="3662104" y="1974583"/>
                  <a:pt x="3587850" y="1974583"/>
                </a:cubicBezTo>
                <a:lnTo>
                  <a:pt x="134449" y="1974583"/>
                </a:lnTo>
                <a:cubicBezTo>
                  <a:pt x="60195" y="1974583"/>
                  <a:pt x="0" y="1914388"/>
                  <a:pt x="0" y="1840134"/>
                </a:cubicBezTo>
                <a:lnTo>
                  <a:pt x="0" y="134449"/>
                </a:lnTo>
                <a:cubicBezTo>
                  <a:pt x="0" y="60195"/>
                  <a:pt x="60195" y="0"/>
                  <a:pt x="134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2D00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551" y="4260058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100830" y="0"/>
                </a:moveTo>
                <a:lnTo>
                  <a:pt x="302489" y="0"/>
                </a:lnTo>
                <a:cubicBezTo>
                  <a:pt x="358176" y="0"/>
                  <a:pt x="403319" y="45143"/>
                  <a:pt x="403319" y="100830"/>
                </a:cubicBezTo>
                <a:lnTo>
                  <a:pt x="403319" y="302489"/>
                </a:lnTo>
                <a:cubicBezTo>
                  <a:pt x="403319" y="358176"/>
                  <a:pt x="358176" y="403319"/>
                  <a:pt x="302489" y="403319"/>
                </a:cubicBezTo>
                <a:lnTo>
                  <a:pt x="100830" y="403319"/>
                </a:lnTo>
                <a:cubicBezTo>
                  <a:pt x="45143" y="403319"/>
                  <a:pt x="0" y="358176"/>
                  <a:pt x="0" y="30248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30186" y="4377693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63019" y="21006"/>
                </a:moveTo>
                <a:cubicBezTo>
                  <a:pt x="63019" y="15197"/>
                  <a:pt x="67712" y="10503"/>
                  <a:pt x="73522" y="10503"/>
                </a:cubicBezTo>
                <a:lnTo>
                  <a:pt x="94528" y="10503"/>
                </a:lnTo>
                <a:cubicBezTo>
                  <a:pt x="100337" y="10503"/>
                  <a:pt x="105031" y="15197"/>
                  <a:pt x="105031" y="21006"/>
                </a:cubicBezTo>
                <a:lnTo>
                  <a:pt x="105031" y="42012"/>
                </a:lnTo>
                <a:cubicBezTo>
                  <a:pt x="105031" y="47822"/>
                  <a:pt x="100337" y="52516"/>
                  <a:pt x="94528" y="52516"/>
                </a:cubicBezTo>
                <a:lnTo>
                  <a:pt x="91902" y="52516"/>
                </a:lnTo>
                <a:lnTo>
                  <a:pt x="91902" y="73522"/>
                </a:lnTo>
                <a:lnTo>
                  <a:pt x="131289" y="73522"/>
                </a:lnTo>
                <a:cubicBezTo>
                  <a:pt x="144352" y="73522"/>
                  <a:pt x="154921" y="84090"/>
                  <a:pt x="154921" y="97154"/>
                </a:cubicBezTo>
                <a:lnTo>
                  <a:pt x="154921" y="115534"/>
                </a:lnTo>
                <a:lnTo>
                  <a:pt x="157547" y="115534"/>
                </a:lnTo>
                <a:cubicBezTo>
                  <a:pt x="163356" y="115534"/>
                  <a:pt x="168050" y="120228"/>
                  <a:pt x="168050" y="126037"/>
                </a:cubicBezTo>
                <a:lnTo>
                  <a:pt x="168050" y="147043"/>
                </a:lnTo>
                <a:cubicBezTo>
                  <a:pt x="168050" y="152853"/>
                  <a:pt x="163356" y="157547"/>
                  <a:pt x="157547" y="157547"/>
                </a:cubicBezTo>
                <a:lnTo>
                  <a:pt x="136540" y="157547"/>
                </a:lnTo>
                <a:cubicBezTo>
                  <a:pt x="130731" y="157547"/>
                  <a:pt x="126037" y="152853"/>
                  <a:pt x="126037" y="147043"/>
                </a:cubicBezTo>
                <a:lnTo>
                  <a:pt x="126037" y="126037"/>
                </a:lnTo>
                <a:cubicBezTo>
                  <a:pt x="126037" y="120228"/>
                  <a:pt x="130731" y="115534"/>
                  <a:pt x="136540" y="115534"/>
                </a:cubicBezTo>
                <a:lnTo>
                  <a:pt x="139166" y="115534"/>
                </a:lnTo>
                <a:lnTo>
                  <a:pt x="139166" y="97154"/>
                </a:lnTo>
                <a:cubicBezTo>
                  <a:pt x="139166" y="92788"/>
                  <a:pt x="135654" y="89276"/>
                  <a:pt x="131289" y="89276"/>
                </a:cubicBezTo>
                <a:lnTo>
                  <a:pt x="91902" y="89276"/>
                </a:lnTo>
                <a:lnTo>
                  <a:pt x="91902" y="115534"/>
                </a:lnTo>
                <a:lnTo>
                  <a:pt x="94528" y="115534"/>
                </a:lnTo>
                <a:cubicBezTo>
                  <a:pt x="100337" y="115534"/>
                  <a:pt x="105031" y="120228"/>
                  <a:pt x="105031" y="126037"/>
                </a:cubicBezTo>
                <a:lnTo>
                  <a:pt x="105031" y="147043"/>
                </a:lnTo>
                <a:cubicBezTo>
                  <a:pt x="105031" y="152853"/>
                  <a:pt x="100337" y="157547"/>
                  <a:pt x="94528" y="157547"/>
                </a:cubicBezTo>
                <a:lnTo>
                  <a:pt x="73522" y="157547"/>
                </a:lnTo>
                <a:cubicBezTo>
                  <a:pt x="67712" y="157547"/>
                  <a:pt x="63019" y="152853"/>
                  <a:pt x="63019" y="147043"/>
                </a:cubicBezTo>
                <a:lnTo>
                  <a:pt x="63019" y="126037"/>
                </a:lnTo>
                <a:cubicBezTo>
                  <a:pt x="63019" y="120228"/>
                  <a:pt x="67712" y="115534"/>
                  <a:pt x="73522" y="115534"/>
                </a:cubicBezTo>
                <a:lnTo>
                  <a:pt x="76147" y="115534"/>
                </a:lnTo>
                <a:lnTo>
                  <a:pt x="76147" y="89276"/>
                </a:lnTo>
                <a:lnTo>
                  <a:pt x="36761" y="89276"/>
                </a:lnTo>
                <a:cubicBezTo>
                  <a:pt x="32396" y="89276"/>
                  <a:pt x="28884" y="92788"/>
                  <a:pt x="28884" y="97154"/>
                </a:cubicBezTo>
                <a:lnTo>
                  <a:pt x="28884" y="115534"/>
                </a:lnTo>
                <a:lnTo>
                  <a:pt x="31509" y="115534"/>
                </a:lnTo>
                <a:cubicBezTo>
                  <a:pt x="37319" y="115534"/>
                  <a:pt x="42012" y="120228"/>
                  <a:pt x="42012" y="126037"/>
                </a:cubicBezTo>
                <a:lnTo>
                  <a:pt x="42012" y="147043"/>
                </a:lnTo>
                <a:cubicBezTo>
                  <a:pt x="42012" y="152853"/>
                  <a:pt x="37319" y="157547"/>
                  <a:pt x="31509" y="157547"/>
                </a:cubicBezTo>
                <a:lnTo>
                  <a:pt x="10503" y="157547"/>
                </a:lnTo>
                <a:cubicBezTo>
                  <a:pt x="4694" y="157547"/>
                  <a:pt x="0" y="152853"/>
                  <a:pt x="0" y="147043"/>
                </a:cubicBezTo>
                <a:lnTo>
                  <a:pt x="0" y="126037"/>
                </a:lnTo>
                <a:cubicBezTo>
                  <a:pt x="0" y="120228"/>
                  <a:pt x="4694" y="115534"/>
                  <a:pt x="10503" y="115534"/>
                </a:cubicBezTo>
                <a:lnTo>
                  <a:pt x="13129" y="115534"/>
                </a:lnTo>
                <a:lnTo>
                  <a:pt x="13129" y="97154"/>
                </a:lnTo>
                <a:cubicBezTo>
                  <a:pt x="13129" y="84090"/>
                  <a:pt x="23698" y="73522"/>
                  <a:pt x="36761" y="73522"/>
                </a:cubicBezTo>
                <a:lnTo>
                  <a:pt x="76147" y="73522"/>
                </a:lnTo>
                <a:lnTo>
                  <a:pt x="76147" y="52516"/>
                </a:lnTo>
                <a:lnTo>
                  <a:pt x="73522" y="52516"/>
                </a:lnTo>
                <a:cubicBezTo>
                  <a:pt x="67712" y="52516"/>
                  <a:pt x="63019" y="47822"/>
                  <a:pt x="63019" y="42012"/>
                </a:cubicBezTo>
                <a:lnTo>
                  <a:pt x="63019" y="2100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16700" y="4344083"/>
            <a:ext cx="140321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Architecture DW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551" y="4764207"/>
            <a:ext cx="3445017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structure du modèle de données (Étoile vs Flocon), les stratégies de partitionnement et de clustering.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753" y="5306167"/>
            <a:ext cx="3369395" cy="579771"/>
          </a:xfrm>
          <a:custGeom>
            <a:avLst/>
            <a:gdLst/>
            <a:ahLst/>
            <a:cxnLst/>
            <a:rect l="l" t="t" r="r" b="b"/>
            <a:pathLst>
              <a:path w="3369395" h="579771">
                <a:moveTo>
                  <a:pt x="67219" y="0"/>
                </a:moveTo>
                <a:lnTo>
                  <a:pt x="3302176" y="0"/>
                </a:lnTo>
                <a:cubicBezTo>
                  <a:pt x="3339300" y="0"/>
                  <a:pt x="3369395" y="30095"/>
                  <a:pt x="3369395" y="67219"/>
                </a:cubicBezTo>
                <a:lnTo>
                  <a:pt x="3369395" y="512553"/>
                </a:lnTo>
                <a:cubicBezTo>
                  <a:pt x="3369395" y="549676"/>
                  <a:pt x="3339300" y="579771"/>
                  <a:pt x="3302176" y="579771"/>
                </a:cubicBezTo>
                <a:lnTo>
                  <a:pt x="67219" y="579771"/>
                </a:lnTo>
                <a:cubicBezTo>
                  <a:pt x="30095" y="579771"/>
                  <a:pt x="0" y="549676"/>
                  <a:pt x="0" y="512553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21784" y="5411198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84" y="5612857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Mauvaise conception = scans complets systématiques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35244" y="4087807"/>
            <a:ext cx="3722299" cy="1974583"/>
          </a:xfrm>
          <a:custGeom>
            <a:avLst/>
            <a:gdLst/>
            <a:ahLst/>
            <a:cxnLst/>
            <a:rect l="l" t="t" r="r" b="b"/>
            <a:pathLst>
              <a:path w="3722299" h="1974583">
                <a:moveTo>
                  <a:pt x="134449" y="0"/>
                </a:moveTo>
                <a:lnTo>
                  <a:pt x="3587850" y="0"/>
                </a:lnTo>
                <a:cubicBezTo>
                  <a:pt x="3662054" y="0"/>
                  <a:pt x="3722299" y="60245"/>
                  <a:pt x="3722299" y="134449"/>
                </a:cubicBezTo>
                <a:lnTo>
                  <a:pt x="3722299" y="1840134"/>
                </a:lnTo>
                <a:cubicBezTo>
                  <a:pt x="3722299" y="1914388"/>
                  <a:pt x="3662104" y="1974583"/>
                  <a:pt x="3587850" y="1974583"/>
                </a:cubicBezTo>
                <a:lnTo>
                  <a:pt x="134449" y="1974583"/>
                </a:lnTo>
                <a:cubicBezTo>
                  <a:pt x="60195" y="1974583"/>
                  <a:pt x="0" y="1914388"/>
                  <a:pt x="0" y="1840134"/>
                </a:cubicBezTo>
                <a:lnTo>
                  <a:pt x="0" y="134449"/>
                </a:lnTo>
                <a:cubicBezTo>
                  <a:pt x="0" y="60195"/>
                  <a:pt x="60195" y="0"/>
                  <a:pt x="134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60000"/>
                </a:srgbClr>
              </a:gs>
              <a:gs pos="100000">
                <a:srgbClr val="005F78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407495" y="4260058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100830" y="0"/>
                </a:moveTo>
                <a:lnTo>
                  <a:pt x="302489" y="0"/>
                </a:lnTo>
                <a:cubicBezTo>
                  <a:pt x="358176" y="0"/>
                  <a:pt x="403319" y="45143"/>
                  <a:pt x="403319" y="100830"/>
                </a:cubicBezTo>
                <a:lnTo>
                  <a:pt x="403319" y="302489"/>
                </a:lnTo>
                <a:cubicBezTo>
                  <a:pt x="403319" y="358176"/>
                  <a:pt x="358176" y="403319"/>
                  <a:pt x="302489" y="403319"/>
                </a:cubicBezTo>
                <a:lnTo>
                  <a:pt x="100830" y="403319"/>
                </a:lnTo>
                <a:cubicBezTo>
                  <a:pt x="45143" y="403319"/>
                  <a:pt x="0" y="358176"/>
                  <a:pt x="0" y="302489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535633" y="4377693"/>
            <a:ext cx="147043" cy="168050"/>
          </a:xfrm>
          <a:custGeom>
            <a:avLst/>
            <a:gdLst/>
            <a:ahLst/>
            <a:cxnLst/>
            <a:rect l="l" t="t" r="r" b="b"/>
            <a:pathLst>
              <a:path w="147043" h="168050">
                <a:moveTo>
                  <a:pt x="21006" y="10503"/>
                </a:moveTo>
                <a:cubicBezTo>
                  <a:pt x="9420" y="10503"/>
                  <a:pt x="0" y="19923"/>
                  <a:pt x="0" y="31509"/>
                </a:cubicBezTo>
                <a:lnTo>
                  <a:pt x="0" y="52516"/>
                </a:lnTo>
                <a:cubicBezTo>
                  <a:pt x="0" y="64102"/>
                  <a:pt x="9420" y="73522"/>
                  <a:pt x="21006" y="73522"/>
                </a:cubicBezTo>
                <a:lnTo>
                  <a:pt x="126037" y="73522"/>
                </a:lnTo>
                <a:cubicBezTo>
                  <a:pt x="137623" y="73522"/>
                  <a:pt x="147043" y="64102"/>
                  <a:pt x="147043" y="52516"/>
                </a:cubicBezTo>
                <a:lnTo>
                  <a:pt x="147043" y="31509"/>
                </a:lnTo>
                <a:cubicBezTo>
                  <a:pt x="147043" y="19923"/>
                  <a:pt x="137623" y="10503"/>
                  <a:pt x="126037" y="10503"/>
                </a:cubicBezTo>
                <a:lnTo>
                  <a:pt x="21006" y="10503"/>
                </a:lnTo>
                <a:close/>
                <a:moveTo>
                  <a:pt x="91902" y="34135"/>
                </a:moveTo>
                <a:cubicBezTo>
                  <a:pt x="96250" y="34135"/>
                  <a:pt x="99779" y="37665"/>
                  <a:pt x="99779" y="42012"/>
                </a:cubicBezTo>
                <a:cubicBezTo>
                  <a:pt x="99779" y="46360"/>
                  <a:pt x="96250" y="49890"/>
                  <a:pt x="91902" y="49890"/>
                </a:cubicBezTo>
                <a:cubicBezTo>
                  <a:pt x="87555" y="49890"/>
                  <a:pt x="84025" y="46360"/>
                  <a:pt x="84025" y="42012"/>
                </a:cubicBezTo>
                <a:cubicBezTo>
                  <a:pt x="84025" y="37665"/>
                  <a:pt x="87555" y="34135"/>
                  <a:pt x="91902" y="34135"/>
                </a:cubicBezTo>
                <a:close/>
                <a:moveTo>
                  <a:pt x="110283" y="42012"/>
                </a:moveTo>
                <a:cubicBezTo>
                  <a:pt x="110283" y="37665"/>
                  <a:pt x="113812" y="34135"/>
                  <a:pt x="118160" y="34135"/>
                </a:cubicBezTo>
                <a:cubicBezTo>
                  <a:pt x="122508" y="34135"/>
                  <a:pt x="126037" y="37665"/>
                  <a:pt x="126037" y="42012"/>
                </a:cubicBezTo>
                <a:cubicBezTo>
                  <a:pt x="126037" y="46360"/>
                  <a:pt x="122508" y="49890"/>
                  <a:pt x="118160" y="49890"/>
                </a:cubicBezTo>
                <a:cubicBezTo>
                  <a:pt x="113812" y="49890"/>
                  <a:pt x="110283" y="46360"/>
                  <a:pt x="110283" y="42012"/>
                </a:cubicBezTo>
                <a:close/>
                <a:moveTo>
                  <a:pt x="21006" y="94528"/>
                </a:moveTo>
                <a:cubicBezTo>
                  <a:pt x="9420" y="94528"/>
                  <a:pt x="0" y="103948"/>
                  <a:pt x="0" y="115534"/>
                </a:cubicBezTo>
                <a:lnTo>
                  <a:pt x="0" y="136540"/>
                </a:lnTo>
                <a:cubicBezTo>
                  <a:pt x="0" y="148127"/>
                  <a:pt x="9420" y="157547"/>
                  <a:pt x="21006" y="157547"/>
                </a:cubicBezTo>
                <a:lnTo>
                  <a:pt x="126037" y="157547"/>
                </a:lnTo>
                <a:cubicBezTo>
                  <a:pt x="137623" y="157547"/>
                  <a:pt x="147043" y="148127"/>
                  <a:pt x="147043" y="136540"/>
                </a:cubicBezTo>
                <a:lnTo>
                  <a:pt x="147043" y="115534"/>
                </a:lnTo>
                <a:cubicBezTo>
                  <a:pt x="147043" y="103948"/>
                  <a:pt x="137623" y="94528"/>
                  <a:pt x="126037" y="94528"/>
                </a:cubicBezTo>
                <a:lnTo>
                  <a:pt x="21006" y="94528"/>
                </a:lnTo>
                <a:close/>
                <a:moveTo>
                  <a:pt x="91902" y="118160"/>
                </a:moveTo>
                <a:cubicBezTo>
                  <a:pt x="96250" y="118160"/>
                  <a:pt x="99779" y="121690"/>
                  <a:pt x="99779" y="126037"/>
                </a:cubicBezTo>
                <a:cubicBezTo>
                  <a:pt x="99779" y="130385"/>
                  <a:pt x="96250" y="133915"/>
                  <a:pt x="91902" y="133915"/>
                </a:cubicBezTo>
                <a:cubicBezTo>
                  <a:pt x="87555" y="133915"/>
                  <a:pt x="84025" y="130385"/>
                  <a:pt x="84025" y="126037"/>
                </a:cubicBezTo>
                <a:cubicBezTo>
                  <a:pt x="84025" y="121690"/>
                  <a:pt x="87555" y="118160"/>
                  <a:pt x="91902" y="118160"/>
                </a:cubicBezTo>
                <a:close/>
                <a:moveTo>
                  <a:pt x="110283" y="126037"/>
                </a:moveTo>
                <a:cubicBezTo>
                  <a:pt x="110283" y="121690"/>
                  <a:pt x="113812" y="118160"/>
                  <a:pt x="118160" y="118160"/>
                </a:cubicBezTo>
                <a:cubicBezTo>
                  <a:pt x="122508" y="118160"/>
                  <a:pt x="126037" y="121690"/>
                  <a:pt x="126037" y="126037"/>
                </a:cubicBezTo>
                <a:cubicBezTo>
                  <a:pt x="126037" y="130385"/>
                  <a:pt x="122508" y="133915"/>
                  <a:pt x="118160" y="133915"/>
                </a:cubicBezTo>
                <a:cubicBezTo>
                  <a:pt x="113812" y="133915"/>
                  <a:pt x="110283" y="130385"/>
                  <a:pt x="110283" y="12603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1644" y="4344083"/>
            <a:ext cx="239470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Séparation Stockage / Calcul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07495" y="4764207"/>
            <a:ext cx="3445017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capacité de l'architecture à scaler les ressources de calcul indépendamment du volume de stockage.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11696" y="5306167"/>
            <a:ext cx="3369395" cy="579771"/>
          </a:xfrm>
          <a:custGeom>
            <a:avLst/>
            <a:gdLst/>
            <a:ahLst/>
            <a:cxnLst/>
            <a:rect l="l" t="t" r="r" b="b"/>
            <a:pathLst>
              <a:path w="3369395" h="579771">
                <a:moveTo>
                  <a:pt x="67219" y="0"/>
                </a:moveTo>
                <a:lnTo>
                  <a:pt x="3302176" y="0"/>
                </a:lnTo>
                <a:cubicBezTo>
                  <a:pt x="3339300" y="0"/>
                  <a:pt x="3369395" y="30095"/>
                  <a:pt x="3369395" y="67219"/>
                </a:cubicBezTo>
                <a:lnTo>
                  <a:pt x="3369395" y="512553"/>
                </a:lnTo>
                <a:cubicBezTo>
                  <a:pt x="3369395" y="549676"/>
                  <a:pt x="3339300" y="579771"/>
                  <a:pt x="3302176" y="579771"/>
                </a:cubicBezTo>
                <a:lnTo>
                  <a:pt x="67219" y="579771"/>
                </a:lnTo>
                <a:cubicBezTo>
                  <a:pt x="30095" y="579771"/>
                  <a:pt x="0" y="549676"/>
                  <a:pt x="0" y="512553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solidFill>
            <a:srgbClr val="053345">
              <a:alpha val="6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516727" y="5411198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16727" y="5612857"/>
            <a:ext cx="321815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moderne = optimisation flexible des ressources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30188" y="4087807"/>
            <a:ext cx="3722299" cy="1974583"/>
          </a:xfrm>
          <a:custGeom>
            <a:avLst/>
            <a:gdLst/>
            <a:ahLst/>
            <a:cxnLst/>
            <a:rect l="l" t="t" r="r" b="b"/>
            <a:pathLst>
              <a:path w="3722299" h="1974583">
                <a:moveTo>
                  <a:pt x="134449" y="0"/>
                </a:moveTo>
                <a:lnTo>
                  <a:pt x="3587850" y="0"/>
                </a:lnTo>
                <a:cubicBezTo>
                  <a:pt x="3662054" y="0"/>
                  <a:pt x="3722299" y="60245"/>
                  <a:pt x="3722299" y="134449"/>
                </a:cubicBezTo>
                <a:lnTo>
                  <a:pt x="3722299" y="1840134"/>
                </a:lnTo>
                <a:cubicBezTo>
                  <a:pt x="3722299" y="1914388"/>
                  <a:pt x="3662104" y="1974583"/>
                  <a:pt x="3587850" y="1974583"/>
                </a:cubicBezTo>
                <a:lnTo>
                  <a:pt x="134449" y="1974583"/>
                </a:lnTo>
                <a:cubicBezTo>
                  <a:pt x="60195" y="1974583"/>
                  <a:pt x="0" y="1914388"/>
                  <a:pt x="0" y="1840134"/>
                </a:cubicBezTo>
                <a:lnTo>
                  <a:pt x="0" y="134449"/>
                </a:lnTo>
                <a:cubicBezTo>
                  <a:pt x="0" y="60195"/>
                  <a:pt x="60195" y="0"/>
                  <a:pt x="134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60000"/>
                </a:srgbClr>
              </a:gs>
              <a:gs pos="100000">
                <a:srgbClr val="9F0712">
                  <a:alpha val="40000"/>
                </a:srgbClr>
              </a:gs>
            </a:gsLst>
            <a:lin ang="2700000" scaled="1"/>
          </a:gradFill>
          <a:ln w="12700">
            <a:solidFill>
              <a:srgbClr val="FB2C36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53400" y="4318875"/>
            <a:ext cx="672198" cy="672198"/>
          </a:xfrm>
          <a:custGeom>
            <a:avLst/>
            <a:gdLst/>
            <a:ahLst/>
            <a:cxnLst/>
            <a:rect l="l" t="t" r="r" b="b"/>
            <a:pathLst>
              <a:path w="672198" h="672198">
                <a:moveTo>
                  <a:pt x="336099" y="0"/>
                </a:moveTo>
                <a:lnTo>
                  <a:pt x="336099" y="0"/>
                </a:lnTo>
                <a:cubicBezTo>
                  <a:pt x="521597" y="0"/>
                  <a:pt x="672198" y="150601"/>
                  <a:pt x="672198" y="336099"/>
                </a:cubicBezTo>
                <a:lnTo>
                  <a:pt x="672198" y="336099"/>
                </a:lnTo>
                <a:cubicBezTo>
                  <a:pt x="672198" y="521597"/>
                  <a:pt x="521597" y="672198"/>
                  <a:pt x="336099" y="672198"/>
                </a:cubicBezTo>
                <a:lnTo>
                  <a:pt x="336099" y="672198"/>
                </a:lnTo>
                <a:cubicBezTo>
                  <a:pt x="150601" y="672198"/>
                  <a:pt x="0" y="521597"/>
                  <a:pt x="0" y="336099"/>
                </a:cubicBezTo>
                <a:lnTo>
                  <a:pt x="0" y="336099"/>
                </a:lnTo>
                <a:cubicBezTo>
                  <a:pt x="0" y="150601"/>
                  <a:pt x="150601" y="0"/>
                  <a:pt x="336099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467"/>
              </a:gs>
              <a:gs pos="100000">
                <a:srgbClr val="FF690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865563" y="4528937"/>
            <a:ext cx="252074" cy="252074"/>
          </a:xfrm>
          <a:custGeom>
            <a:avLst/>
            <a:gdLst/>
            <a:ahLst/>
            <a:cxnLst/>
            <a:rect l="l" t="t" r="r" b="b"/>
            <a:pathLst>
              <a:path w="252074" h="252074">
                <a:moveTo>
                  <a:pt x="126037" y="0"/>
                </a:moveTo>
                <a:cubicBezTo>
                  <a:pt x="133275" y="0"/>
                  <a:pt x="139921" y="3988"/>
                  <a:pt x="143367" y="10339"/>
                </a:cubicBezTo>
                <a:lnTo>
                  <a:pt x="249711" y="207272"/>
                </a:lnTo>
                <a:cubicBezTo>
                  <a:pt x="253010" y="213377"/>
                  <a:pt x="252862" y="220762"/>
                  <a:pt x="249317" y="226719"/>
                </a:cubicBezTo>
                <a:cubicBezTo>
                  <a:pt x="245773" y="232677"/>
                  <a:pt x="239323" y="236320"/>
                  <a:pt x="232381" y="236320"/>
                </a:cubicBezTo>
                <a:lnTo>
                  <a:pt x="19693" y="236320"/>
                </a:lnTo>
                <a:cubicBezTo>
                  <a:pt x="12751" y="236320"/>
                  <a:pt x="6351" y="232677"/>
                  <a:pt x="2757" y="226719"/>
                </a:cubicBezTo>
                <a:cubicBezTo>
                  <a:pt x="-837" y="220762"/>
                  <a:pt x="-935" y="213377"/>
                  <a:pt x="2363" y="207272"/>
                </a:cubicBezTo>
                <a:lnTo>
                  <a:pt x="108707" y="10339"/>
                </a:lnTo>
                <a:cubicBezTo>
                  <a:pt x="112153" y="3988"/>
                  <a:pt x="118800" y="0"/>
                  <a:pt x="126037" y="0"/>
                </a:cubicBezTo>
                <a:close/>
                <a:moveTo>
                  <a:pt x="126037" y="82712"/>
                </a:moveTo>
                <a:cubicBezTo>
                  <a:pt x="119489" y="82712"/>
                  <a:pt x="114221" y="87980"/>
                  <a:pt x="114221" y="94528"/>
                </a:cubicBezTo>
                <a:lnTo>
                  <a:pt x="114221" y="149669"/>
                </a:lnTo>
                <a:cubicBezTo>
                  <a:pt x="114221" y="156217"/>
                  <a:pt x="119489" y="161485"/>
                  <a:pt x="126037" y="161485"/>
                </a:cubicBezTo>
                <a:cubicBezTo>
                  <a:pt x="132585" y="161485"/>
                  <a:pt x="137853" y="156217"/>
                  <a:pt x="137853" y="149669"/>
                </a:cubicBezTo>
                <a:lnTo>
                  <a:pt x="137853" y="94528"/>
                </a:lnTo>
                <a:cubicBezTo>
                  <a:pt x="137853" y="87980"/>
                  <a:pt x="132585" y="82712"/>
                  <a:pt x="126037" y="82712"/>
                </a:cubicBezTo>
                <a:close/>
                <a:moveTo>
                  <a:pt x="139183" y="189056"/>
                </a:moveTo>
                <a:cubicBezTo>
                  <a:pt x="139482" y="184176"/>
                  <a:pt x="137048" y="179534"/>
                  <a:pt x="132865" y="177004"/>
                </a:cubicBezTo>
                <a:cubicBezTo>
                  <a:pt x="128683" y="174474"/>
                  <a:pt x="123441" y="174474"/>
                  <a:pt x="119258" y="177004"/>
                </a:cubicBezTo>
                <a:cubicBezTo>
                  <a:pt x="115075" y="179534"/>
                  <a:pt x="112642" y="184176"/>
                  <a:pt x="112941" y="189056"/>
                </a:cubicBezTo>
                <a:cubicBezTo>
                  <a:pt x="112642" y="193935"/>
                  <a:pt x="115075" y="198577"/>
                  <a:pt x="119258" y="201108"/>
                </a:cubicBezTo>
                <a:cubicBezTo>
                  <a:pt x="123441" y="203638"/>
                  <a:pt x="128683" y="203638"/>
                  <a:pt x="132865" y="201108"/>
                </a:cubicBezTo>
                <a:cubicBezTo>
                  <a:pt x="137048" y="198577"/>
                  <a:pt x="139482" y="193935"/>
                  <a:pt x="139183" y="1890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252024" y="5091904"/>
            <a:ext cx="3478627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Facteurs Clés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68829" y="5428003"/>
            <a:ext cx="3445017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Maîtriser ces leviers est essentiel pour optimiser l'efficacité des coûts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40" y="363940"/>
            <a:ext cx="11536907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kern="0" spc="57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STRATÉGIES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940" y="655093"/>
            <a:ext cx="11682484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Optimisation du Modèle de Données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3940" y="1201003"/>
            <a:ext cx="1155510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99A1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 modèle de données bien conçu est la fondation de la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8490" y="1678675"/>
            <a:ext cx="5613779" cy="1992573"/>
          </a:xfrm>
          <a:custGeom>
            <a:avLst/>
            <a:gdLst/>
            <a:ahLst/>
            <a:cxnLst/>
            <a:rect l="l" t="t" r="r" b="b"/>
            <a:pathLst>
              <a:path w="5613779" h="1992573">
                <a:moveTo>
                  <a:pt x="145577" y="0"/>
                </a:moveTo>
                <a:lnTo>
                  <a:pt x="5468202" y="0"/>
                </a:lnTo>
                <a:cubicBezTo>
                  <a:pt x="5548602" y="0"/>
                  <a:pt x="5613779" y="65177"/>
                  <a:pt x="5613779" y="145577"/>
                </a:cubicBezTo>
                <a:lnTo>
                  <a:pt x="5613779" y="1846996"/>
                </a:lnTo>
                <a:cubicBezTo>
                  <a:pt x="5613779" y="1927396"/>
                  <a:pt x="5548602" y="1992573"/>
                  <a:pt x="5468202" y="1992573"/>
                </a:cubicBezTo>
                <a:lnTo>
                  <a:pt x="145577" y="1992573"/>
                </a:lnTo>
                <a:cubicBezTo>
                  <a:pt x="65177" y="1992573"/>
                  <a:pt x="0" y="1927396"/>
                  <a:pt x="0" y="1846996"/>
                </a:cubicBezTo>
                <a:lnTo>
                  <a:pt x="0" y="145577"/>
                </a:lnTo>
                <a:cubicBezTo>
                  <a:pt x="0" y="65231"/>
                  <a:pt x="65231" y="0"/>
                  <a:pt x="145577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55009" y="1865194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86937" y="2010770"/>
            <a:ext cx="245660" cy="218364"/>
          </a:xfrm>
          <a:custGeom>
            <a:avLst/>
            <a:gdLst/>
            <a:ahLst/>
            <a:cxnLst/>
            <a:rect l="l" t="t" r="r" b="b"/>
            <a:pathLst>
              <a:path w="245660" h="218364">
                <a:moveTo>
                  <a:pt x="131999" y="-8061"/>
                </a:moveTo>
                <a:cubicBezTo>
                  <a:pt x="130251" y="-11473"/>
                  <a:pt x="126711" y="-13648"/>
                  <a:pt x="122873" y="-13648"/>
                </a:cubicBezTo>
                <a:cubicBezTo>
                  <a:pt x="119034" y="-13648"/>
                  <a:pt x="115494" y="-11473"/>
                  <a:pt x="113746" y="-8061"/>
                </a:cubicBezTo>
                <a:lnTo>
                  <a:pt x="82356" y="53440"/>
                </a:lnTo>
                <a:lnTo>
                  <a:pt x="14160" y="64272"/>
                </a:lnTo>
                <a:cubicBezTo>
                  <a:pt x="10364" y="64870"/>
                  <a:pt x="7208" y="67556"/>
                  <a:pt x="6014" y="71224"/>
                </a:cubicBezTo>
                <a:cubicBezTo>
                  <a:pt x="4819" y="74892"/>
                  <a:pt x="5800" y="78901"/>
                  <a:pt x="8487" y="81631"/>
                </a:cubicBezTo>
                <a:lnTo>
                  <a:pt x="57278" y="130464"/>
                </a:lnTo>
                <a:lnTo>
                  <a:pt x="46530" y="198660"/>
                </a:lnTo>
                <a:cubicBezTo>
                  <a:pt x="45933" y="202456"/>
                  <a:pt x="47511" y="206294"/>
                  <a:pt x="50625" y="208555"/>
                </a:cubicBezTo>
                <a:cubicBezTo>
                  <a:pt x="53738" y="210815"/>
                  <a:pt x="57832" y="211156"/>
                  <a:pt x="61287" y="209408"/>
                </a:cubicBezTo>
                <a:lnTo>
                  <a:pt x="122873" y="178103"/>
                </a:lnTo>
                <a:lnTo>
                  <a:pt x="184415" y="209408"/>
                </a:lnTo>
                <a:cubicBezTo>
                  <a:pt x="187827" y="211156"/>
                  <a:pt x="191964" y="210815"/>
                  <a:pt x="195078" y="208555"/>
                </a:cubicBezTo>
                <a:cubicBezTo>
                  <a:pt x="198191" y="206294"/>
                  <a:pt x="199769" y="202499"/>
                  <a:pt x="199172" y="198660"/>
                </a:cubicBezTo>
                <a:lnTo>
                  <a:pt x="188382" y="130464"/>
                </a:lnTo>
                <a:lnTo>
                  <a:pt x="237173" y="81631"/>
                </a:lnTo>
                <a:cubicBezTo>
                  <a:pt x="239902" y="78901"/>
                  <a:pt x="240840" y="74892"/>
                  <a:pt x="239646" y="71224"/>
                </a:cubicBezTo>
                <a:cubicBezTo>
                  <a:pt x="238452" y="67556"/>
                  <a:pt x="235339" y="64870"/>
                  <a:pt x="231500" y="64272"/>
                </a:cubicBezTo>
                <a:lnTo>
                  <a:pt x="163347" y="53440"/>
                </a:lnTo>
                <a:lnTo>
                  <a:pt x="131999" y="-806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10101" y="1974376"/>
            <a:ext cx="1919785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Schéma en Étoile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5009" y="2483893"/>
            <a:ext cx="5313528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Adopter une modélisation dimensionnelle (Kimball) </a:t>
            </a:r>
            <a:r>
              <a:rPr lang="en-US" sz="1146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séparant</a:t>
            </a: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4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tables de faits </a:t>
            </a: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 </a:t>
            </a:r>
            <a:r>
              <a:rPr lang="en-US" sz="1146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dimensions </a:t>
            </a: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optimiser les jointures des moteurs OLAP.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9558" y="3070746"/>
            <a:ext cx="5231642" cy="409433"/>
          </a:xfrm>
          <a:custGeom>
            <a:avLst/>
            <a:gdLst/>
            <a:ahLst/>
            <a:cxnLst/>
            <a:rect l="l" t="t" r="r" b="b"/>
            <a:pathLst>
              <a:path w="5231642" h="409433">
                <a:moveTo>
                  <a:pt x="72789" y="0"/>
                </a:moveTo>
                <a:lnTo>
                  <a:pt x="5158853" y="0"/>
                </a:lnTo>
                <a:cubicBezTo>
                  <a:pt x="5199053" y="0"/>
                  <a:pt x="5231642" y="32589"/>
                  <a:pt x="5231642" y="72789"/>
                </a:cubicBezTo>
                <a:lnTo>
                  <a:pt x="5231642" y="336644"/>
                </a:lnTo>
                <a:cubicBezTo>
                  <a:pt x="5231642" y="376844"/>
                  <a:pt x="5199053" y="409433"/>
                  <a:pt x="5158853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07409" y="3220872"/>
            <a:ext cx="95534" cy="127379"/>
          </a:xfrm>
          <a:custGeom>
            <a:avLst/>
            <a:gdLst/>
            <a:ahLst/>
            <a:cxnLst/>
            <a:rect l="l" t="t" r="r" b="b"/>
            <a:pathLst>
              <a:path w="95534" h="127379">
                <a:moveTo>
                  <a:pt x="72870" y="95534"/>
                </a:moveTo>
                <a:cubicBezTo>
                  <a:pt x="74686" y="89986"/>
                  <a:pt x="78318" y="84961"/>
                  <a:pt x="82423" y="80632"/>
                </a:cubicBezTo>
                <a:cubicBezTo>
                  <a:pt x="90559" y="72074"/>
                  <a:pt x="95534" y="60505"/>
                  <a:pt x="95534" y="47767"/>
                </a:cubicBezTo>
                <a:cubicBezTo>
                  <a:pt x="95534" y="21396"/>
                  <a:pt x="74139" y="0"/>
                  <a:pt x="47767" y="0"/>
                </a:cubicBezTo>
                <a:cubicBezTo>
                  <a:pt x="21396" y="0"/>
                  <a:pt x="0" y="21396"/>
                  <a:pt x="0" y="47767"/>
                </a:cubicBezTo>
                <a:cubicBezTo>
                  <a:pt x="0" y="60505"/>
                  <a:pt x="4976" y="72074"/>
                  <a:pt x="13111" y="80632"/>
                </a:cubicBezTo>
                <a:cubicBezTo>
                  <a:pt x="17216" y="84961"/>
                  <a:pt x="20873" y="89986"/>
                  <a:pt x="22665" y="95534"/>
                </a:cubicBezTo>
                <a:lnTo>
                  <a:pt x="72845" y="95534"/>
                </a:lnTo>
                <a:close/>
                <a:moveTo>
                  <a:pt x="71651" y="107476"/>
                </a:moveTo>
                <a:lnTo>
                  <a:pt x="23884" y="107476"/>
                </a:lnTo>
                <a:lnTo>
                  <a:pt x="23884" y="111457"/>
                </a:lnTo>
                <a:cubicBezTo>
                  <a:pt x="23884" y="122453"/>
                  <a:pt x="32790" y="131360"/>
                  <a:pt x="43787" y="131360"/>
                </a:cubicBezTo>
                <a:lnTo>
                  <a:pt x="51748" y="131360"/>
                </a:lnTo>
                <a:cubicBezTo>
                  <a:pt x="62744" y="131360"/>
                  <a:pt x="71651" y="122453"/>
                  <a:pt x="71651" y="111457"/>
                </a:cubicBezTo>
                <a:lnTo>
                  <a:pt x="71651" y="107476"/>
                </a:lnTo>
                <a:close/>
                <a:moveTo>
                  <a:pt x="45777" y="27864"/>
                </a:moveTo>
                <a:cubicBezTo>
                  <a:pt x="35875" y="27864"/>
                  <a:pt x="27864" y="35875"/>
                  <a:pt x="27864" y="45777"/>
                </a:cubicBezTo>
                <a:cubicBezTo>
                  <a:pt x="27864" y="49086"/>
                  <a:pt x="25202" y="51748"/>
                  <a:pt x="21893" y="51748"/>
                </a:cubicBezTo>
                <a:cubicBezTo>
                  <a:pt x="18584" y="51748"/>
                  <a:pt x="15922" y="49086"/>
                  <a:pt x="15922" y="45777"/>
                </a:cubicBezTo>
                <a:cubicBezTo>
                  <a:pt x="15922" y="29282"/>
                  <a:pt x="29282" y="15922"/>
                  <a:pt x="45777" y="15922"/>
                </a:cubicBezTo>
                <a:cubicBezTo>
                  <a:pt x="49086" y="15922"/>
                  <a:pt x="51748" y="18584"/>
                  <a:pt x="51748" y="21893"/>
                </a:cubicBezTo>
                <a:cubicBezTo>
                  <a:pt x="51748" y="25202"/>
                  <a:pt x="49086" y="27864"/>
                  <a:pt x="45777" y="27864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89209" y="3184478"/>
            <a:ext cx="48519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Avantage: </a:t>
            </a:r>
            <a:r>
              <a:rPr lang="en-US" sz="1003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Jointures simplifiées et performances optimales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8490" y="3825922"/>
            <a:ext cx="5613779" cy="1992573"/>
          </a:xfrm>
          <a:custGeom>
            <a:avLst/>
            <a:gdLst/>
            <a:ahLst/>
            <a:cxnLst/>
            <a:rect l="l" t="t" r="r" b="b"/>
            <a:pathLst>
              <a:path w="5613779" h="1992573">
                <a:moveTo>
                  <a:pt x="145577" y="0"/>
                </a:moveTo>
                <a:lnTo>
                  <a:pt x="5468202" y="0"/>
                </a:lnTo>
                <a:cubicBezTo>
                  <a:pt x="5548602" y="0"/>
                  <a:pt x="5613779" y="65177"/>
                  <a:pt x="5613779" y="145577"/>
                </a:cubicBezTo>
                <a:lnTo>
                  <a:pt x="5613779" y="1846996"/>
                </a:lnTo>
                <a:cubicBezTo>
                  <a:pt x="5613779" y="1927396"/>
                  <a:pt x="5548602" y="1992573"/>
                  <a:pt x="5468202" y="1992573"/>
                </a:cubicBezTo>
                <a:lnTo>
                  <a:pt x="145577" y="1992573"/>
                </a:lnTo>
                <a:cubicBezTo>
                  <a:pt x="65177" y="1992573"/>
                  <a:pt x="0" y="1927396"/>
                  <a:pt x="0" y="1846996"/>
                </a:cubicBezTo>
                <a:lnTo>
                  <a:pt x="0" y="145577"/>
                </a:lnTo>
                <a:cubicBezTo>
                  <a:pt x="0" y="65231"/>
                  <a:pt x="65231" y="0"/>
                  <a:pt x="145577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55009" y="4012442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00585" y="4158018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187443" y="2985"/>
                </a:moveTo>
                <a:cubicBezTo>
                  <a:pt x="191452" y="-1024"/>
                  <a:pt x="197935" y="-1024"/>
                  <a:pt x="201902" y="2985"/>
                </a:cubicBezTo>
                <a:lnTo>
                  <a:pt x="215549" y="16633"/>
                </a:lnTo>
                <a:cubicBezTo>
                  <a:pt x="219558" y="20642"/>
                  <a:pt x="219558" y="27125"/>
                  <a:pt x="215549" y="31091"/>
                </a:cubicBezTo>
                <a:lnTo>
                  <a:pt x="178444" y="68196"/>
                </a:lnTo>
                <a:lnTo>
                  <a:pt x="195078" y="84829"/>
                </a:lnTo>
                <a:cubicBezTo>
                  <a:pt x="198020" y="87772"/>
                  <a:pt x="198873" y="92165"/>
                  <a:pt x="197295" y="96003"/>
                </a:cubicBezTo>
                <a:cubicBezTo>
                  <a:pt x="195717" y="99842"/>
                  <a:pt x="192007" y="102358"/>
                  <a:pt x="187870" y="102358"/>
                </a:cubicBezTo>
                <a:lnTo>
                  <a:pt x="126455" y="102358"/>
                </a:lnTo>
                <a:cubicBezTo>
                  <a:pt x="120783" y="102358"/>
                  <a:pt x="116219" y="97795"/>
                  <a:pt x="116219" y="92122"/>
                </a:cubicBezTo>
                <a:lnTo>
                  <a:pt x="116219" y="30707"/>
                </a:lnTo>
                <a:cubicBezTo>
                  <a:pt x="116219" y="26570"/>
                  <a:pt x="118693" y="22817"/>
                  <a:pt x="122531" y="21239"/>
                </a:cubicBezTo>
                <a:cubicBezTo>
                  <a:pt x="126370" y="19661"/>
                  <a:pt x="130763" y="20514"/>
                  <a:pt x="133705" y="23457"/>
                </a:cubicBezTo>
                <a:lnTo>
                  <a:pt x="150339" y="40090"/>
                </a:lnTo>
                <a:lnTo>
                  <a:pt x="187443" y="2985"/>
                </a:lnTo>
                <a:close/>
                <a:moveTo>
                  <a:pt x="30921" y="116006"/>
                </a:moveTo>
                <a:lnTo>
                  <a:pt x="92336" y="116006"/>
                </a:lnTo>
                <a:cubicBezTo>
                  <a:pt x="98008" y="116006"/>
                  <a:pt x="102571" y="120569"/>
                  <a:pt x="102571" y="126242"/>
                </a:cubicBezTo>
                <a:lnTo>
                  <a:pt x="102571" y="187657"/>
                </a:lnTo>
                <a:cubicBezTo>
                  <a:pt x="102571" y="191794"/>
                  <a:pt x="100098" y="195547"/>
                  <a:pt x="96259" y="197125"/>
                </a:cubicBezTo>
                <a:cubicBezTo>
                  <a:pt x="92421" y="198703"/>
                  <a:pt x="88028" y="197850"/>
                  <a:pt x="85085" y="194907"/>
                </a:cubicBezTo>
                <a:lnTo>
                  <a:pt x="68452" y="178274"/>
                </a:lnTo>
                <a:lnTo>
                  <a:pt x="31347" y="215379"/>
                </a:lnTo>
                <a:cubicBezTo>
                  <a:pt x="27338" y="219388"/>
                  <a:pt x="20855" y="219388"/>
                  <a:pt x="16889" y="215379"/>
                </a:cubicBezTo>
                <a:lnTo>
                  <a:pt x="3241" y="201731"/>
                </a:lnTo>
                <a:cubicBezTo>
                  <a:pt x="-768" y="197722"/>
                  <a:pt x="-768" y="191239"/>
                  <a:pt x="3241" y="187273"/>
                </a:cubicBezTo>
                <a:lnTo>
                  <a:pt x="40346" y="150168"/>
                </a:lnTo>
                <a:lnTo>
                  <a:pt x="23713" y="133535"/>
                </a:lnTo>
                <a:cubicBezTo>
                  <a:pt x="20770" y="130592"/>
                  <a:pt x="19917" y="126199"/>
                  <a:pt x="21495" y="122361"/>
                </a:cubicBezTo>
                <a:cubicBezTo>
                  <a:pt x="23073" y="118522"/>
                  <a:pt x="26784" y="116006"/>
                  <a:pt x="30921" y="1160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10101" y="4121624"/>
            <a:ext cx="2656764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Réduction des Jointures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5009" y="4631140"/>
            <a:ext cx="5313528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Utiliser la</a:t>
            </a:r>
            <a:r>
              <a:rPr lang="en-US" sz="1146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dénormalisation ciblée</a:t>
            </a: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 des tables larges (OBT) pour minimiser les jointures coûteuses lors de l'exécution des requêtes.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9558" y="5217994"/>
            <a:ext cx="5231642" cy="409433"/>
          </a:xfrm>
          <a:custGeom>
            <a:avLst/>
            <a:gdLst/>
            <a:ahLst/>
            <a:cxnLst/>
            <a:rect l="l" t="t" r="r" b="b"/>
            <a:pathLst>
              <a:path w="5231642" h="409433">
                <a:moveTo>
                  <a:pt x="72789" y="0"/>
                </a:moveTo>
                <a:lnTo>
                  <a:pt x="5158853" y="0"/>
                </a:lnTo>
                <a:cubicBezTo>
                  <a:pt x="5199053" y="0"/>
                  <a:pt x="5231642" y="32589"/>
                  <a:pt x="5231642" y="72789"/>
                </a:cubicBezTo>
                <a:lnTo>
                  <a:pt x="5231642" y="336644"/>
                </a:lnTo>
                <a:cubicBezTo>
                  <a:pt x="5231642" y="376844"/>
                  <a:pt x="5199053" y="409433"/>
                  <a:pt x="5158853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07409" y="5368119"/>
            <a:ext cx="95534" cy="127379"/>
          </a:xfrm>
          <a:custGeom>
            <a:avLst/>
            <a:gdLst/>
            <a:ahLst/>
            <a:cxnLst/>
            <a:rect l="l" t="t" r="r" b="b"/>
            <a:pathLst>
              <a:path w="95534" h="127379">
                <a:moveTo>
                  <a:pt x="72870" y="95534"/>
                </a:moveTo>
                <a:cubicBezTo>
                  <a:pt x="74686" y="89986"/>
                  <a:pt x="78318" y="84961"/>
                  <a:pt x="82423" y="80632"/>
                </a:cubicBezTo>
                <a:cubicBezTo>
                  <a:pt x="90559" y="72074"/>
                  <a:pt x="95534" y="60505"/>
                  <a:pt x="95534" y="47767"/>
                </a:cubicBezTo>
                <a:cubicBezTo>
                  <a:pt x="95534" y="21396"/>
                  <a:pt x="74139" y="0"/>
                  <a:pt x="47767" y="0"/>
                </a:cubicBezTo>
                <a:cubicBezTo>
                  <a:pt x="21396" y="0"/>
                  <a:pt x="0" y="21396"/>
                  <a:pt x="0" y="47767"/>
                </a:cubicBezTo>
                <a:cubicBezTo>
                  <a:pt x="0" y="60505"/>
                  <a:pt x="4976" y="72074"/>
                  <a:pt x="13111" y="80632"/>
                </a:cubicBezTo>
                <a:cubicBezTo>
                  <a:pt x="17216" y="84961"/>
                  <a:pt x="20873" y="89986"/>
                  <a:pt x="22665" y="95534"/>
                </a:cubicBezTo>
                <a:lnTo>
                  <a:pt x="72845" y="95534"/>
                </a:lnTo>
                <a:close/>
                <a:moveTo>
                  <a:pt x="71651" y="107476"/>
                </a:moveTo>
                <a:lnTo>
                  <a:pt x="23884" y="107476"/>
                </a:lnTo>
                <a:lnTo>
                  <a:pt x="23884" y="111457"/>
                </a:lnTo>
                <a:cubicBezTo>
                  <a:pt x="23884" y="122453"/>
                  <a:pt x="32790" y="131360"/>
                  <a:pt x="43787" y="131360"/>
                </a:cubicBezTo>
                <a:lnTo>
                  <a:pt x="51748" y="131360"/>
                </a:lnTo>
                <a:cubicBezTo>
                  <a:pt x="62744" y="131360"/>
                  <a:pt x="71651" y="122453"/>
                  <a:pt x="71651" y="111457"/>
                </a:cubicBezTo>
                <a:lnTo>
                  <a:pt x="71651" y="107476"/>
                </a:lnTo>
                <a:close/>
                <a:moveTo>
                  <a:pt x="45777" y="27864"/>
                </a:moveTo>
                <a:cubicBezTo>
                  <a:pt x="35875" y="27864"/>
                  <a:pt x="27864" y="35875"/>
                  <a:pt x="27864" y="45777"/>
                </a:cubicBezTo>
                <a:cubicBezTo>
                  <a:pt x="27864" y="49086"/>
                  <a:pt x="25202" y="51748"/>
                  <a:pt x="21893" y="51748"/>
                </a:cubicBezTo>
                <a:cubicBezTo>
                  <a:pt x="18584" y="51748"/>
                  <a:pt x="15922" y="49086"/>
                  <a:pt x="15922" y="45777"/>
                </a:cubicBezTo>
                <a:cubicBezTo>
                  <a:pt x="15922" y="29282"/>
                  <a:pt x="29282" y="15922"/>
                  <a:pt x="45777" y="15922"/>
                </a:cubicBezTo>
                <a:cubicBezTo>
                  <a:pt x="49086" y="15922"/>
                  <a:pt x="51748" y="18584"/>
                  <a:pt x="51748" y="21893"/>
                </a:cubicBezTo>
                <a:cubicBezTo>
                  <a:pt x="51748" y="25202"/>
                  <a:pt x="49086" y="27864"/>
                  <a:pt x="45777" y="27864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89209" y="5331725"/>
            <a:ext cx="48519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Avantage: </a:t>
            </a:r>
            <a:r>
              <a:rPr lang="en-US" sz="1003" dirty="0" err="1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Moins</a:t>
            </a:r>
            <a:r>
              <a:rPr lang="en-US" sz="1003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jointures = requêtes plus rapides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1722" y="1678675"/>
            <a:ext cx="5613779" cy="1992573"/>
          </a:xfrm>
          <a:custGeom>
            <a:avLst/>
            <a:gdLst/>
            <a:ahLst/>
            <a:cxnLst/>
            <a:rect l="l" t="t" r="r" b="b"/>
            <a:pathLst>
              <a:path w="5613779" h="1992573">
                <a:moveTo>
                  <a:pt x="145577" y="0"/>
                </a:moveTo>
                <a:lnTo>
                  <a:pt x="5468202" y="0"/>
                </a:lnTo>
                <a:cubicBezTo>
                  <a:pt x="5548602" y="0"/>
                  <a:pt x="5613779" y="65177"/>
                  <a:pt x="5613779" y="145577"/>
                </a:cubicBezTo>
                <a:lnTo>
                  <a:pt x="5613779" y="1846996"/>
                </a:lnTo>
                <a:cubicBezTo>
                  <a:pt x="5613779" y="1927396"/>
                  <a:pt x="5548602" y="1992573"/>
                  <a:pt x="5468202" y="1992573"/>
                </a:cubicBezTo>
                <a:lnTo>
                  <a:pt x="145577" y="1992573"/>
                </a:lnTo>
                <a:cubicBezTo>
                  <a:pt x="65177" y="1992573"/>
                  <a:pt x="0" y="1927396"/>
                  <a:pt x="0" y="1846996"/>
                </a:cubicBezTo>
                <a:lnTo>
                  <a:pt x="0" y="145577"/>
                </a:lnTo>
                <a:cubicBezTo>
                  <a:pt x="0" y="65231"/>
                  <a:pt x="65231" y="0"/>
                  <a:pt x="1455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BC7D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398241" y="1865194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543817" y="2010770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99160" y="2218"/>
                </a:moveTo>
                <a:cubicBezTo>
                  <a:pt x="105514" y="-725"/>
                  <a:pt x="112850" y="-725"/>
                  <a:pt x="119205" y="2218"/>
                </a:cubicBezTo>
                <a:lnTo>
                  <a:pt x="212436" y="45294"/>
                </a:lnTo>
                <a:cubicBezTo>
                  <a:pt x="216061" y="46957"/>
                  <a:pt x="218364" y="50582"/>
                  <a:pt x="218364" y="54591"/>
                </a:cubicBezTo>
                <a:cubicBezTo>
                  <a:pt x="218364" y="58600"/>
                  <a:pt x="216061" y="62225"/>
                  <a:pt x="212436" y="63889"/>
                </a:cubicBezTo>
                <a:lnTo>
                  <a:pt x="119205" y="106964"/>
                </a:lnTo>
                <a:cubicBezTo>
                  <a:pt x="112850" y="109907"/>
                  <a:pt x="105514" y="109907"/>
                  <a:pt x="99160" y="106964"/>
                </a:cubicBezTo>
                <a:lnTo>
                  <a:pt x="5928" y="63889"/>
                </a:lnTo>
                <a:cubicBezTo>
                  <a:pt x="2303" y="62183"/>
                  <a:pt x="0" y="58557"/>
                  <a:pt x="0" y="54591"/>
                </a:cubicBezTo>
                <a:cubicBezTo>
                  <a:pt x="0" y="50625"/>
                  <a:pt x="2303" y="46957"/>
                  <a:pt x="5928" y="45294"/>
                </a:cubicBezTo>
                <a:lnTo>
                  <a:pt x="99160" y="2218"/>
                </a:lnTo>
                <a:close/>
                <a:moveTo>
                  <a:pt x="20514" y="93146"/>
                </a:moveTo>
                <a:lnTo>
                  <a:pt x="90587" y="125517"/>
                </a:lnTo>
                <a:cubicBezTo>
                  <a:pt x="102401" y="130976"/>
                  <a:pt x="116006" y="130976"/>
                  <a:pt x="127820" y="125517"/>
                </a:cubicBezTo>
                <a:lnTo>
                  <a:pt x="197893" y="93146"/>
                </a:lnTo>
                <a:lnTo>
                  <a:pt x="212436" y="99885"/>
                </a:lnTo>
                <a:cubicBezTo>
                  <a:pt x="216061" y="101548"/>
                  <a:pt x="218364" y="105173"/>
                  <a:pt x="218364" y="109182"/>
                </a:cubicBezTo>
                <a:cubicBezTo>
                  <a:pt x="218364" y="113191"/>
                  <a:pt x="216061" y="116816"/>
                  <a:pt x="212436" y="118480"/>
                </a:cubicBezTo>
                <a:lnTo>
                  <a:pt x="119205" y="161555"/>
                </a:lnTo>
                <a:cubicBezTo>
                  <a:pt x="112850" y="164498"/>
                  <a:pt x="105514" y="164498"/>
                  <a:pt x="99160" y="161555"/>
                </a:cubicBezTo>
                <a:lnTo>
                  <a:pt x="5928" y="118480"/>
                </a:lnTo>
                <a:cubicBezTo>
                  <a:pt x="2303" y="116774"/>
                  <a:pt x="0" y="113148"/>
                  <a:pt x="0" y="109182"/>
                </a:cubicBezTo>
                <a:cubicBezTo>
                  <a:pt x="0" y="105216"/>
                  <a:pt x="2303" y="101548"/>
                  <a:pt x="5928" y="99885"/>
                </a:cubicBezTo>
                <a:lnTo>
                  <a:pt x="20472" y="93146"/>
                </a:lnTo>
                <a:close/>
                <a:moveTo>
                  <a:pt x="5928" y="154476"/>
                </a:moveTo>
                <a:lnTo>
                  <a:pt x="20472" y="147737"/>
                </a:lnTo>
                <a:lnTo>
                  <a:pt x="90544" y="180108"/>
                </a:lnTo>
                <a:cubicBezTo>
                  <a:pt x="102358" y="185567"/>
                  <a:pt x="115963" y="185567"/>
                  <a:pt x="127777" y="180108"/>
                </a:cubicBezTo>
                <a:lnTo>
                  <a:pt x="197850" y="147737"/>
                </a:lnTo>
                <a:lnTo>
                  <a:pt x="212393" y="154476"/>
                </a:lnTo>
                <a:cubicBezTo>
                  <a:pt x="216018" y="156139"/>
                  <a:pt x="218322" y="159764"/>
                  <a:pt x="218322" y="163773"/>
                </a:cubicBezTo>
                <a:cubicBezTo>
                  <a:pt x="218322" y="167782"/>
                  <a:pt x="216018" y="171407"/>
                  <a:pt x="212393" y="173071"/>
                </a:cubicBezTo>
                <a:lnTo>
                  <a:pt x="119162" y="216146"/>
                </a:lnTo>
                <a:cubicBezTo>
                  <a:pt x="112807" y="219089"/>
                  <a:pt x="105472" y="219089"/>
                  <a:pt x="99117" y="216146"/>
                </a:cubicBezTo>
                <a:lnTo>
                  <a:pt x="5928" y="173071"/>
                </a:lnTo>
                <a:cubicBezTo>
                  <a:pt x="2303" y="171365"/>
                  <a:pt x="0" y="167740"/>
                  <a:pt x="0" y="163773"/>
                </a:cubicBezTo>
                <a:cubicBezTo>
                  <a:pt x="0" y="159807"/>
                  <a:pt x="2303" y="156139"/>
                  <a:pt x="5928" y="15447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053334" y="1974376"/>
            <a:ext cx="181060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Pré-Agrégations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8241" y="2483893"/>
            <a:ext cx="5313528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Matérialiser les indicateurs clés et résultats intermédiaires dans des </a:t>
            </a:r>
            <a:r>
              <a:rPr lang="en-US" sz="1146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tables résumés </a:t>
            </a: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accélérer les tableaux de bord récurrents.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2790" y="3070746"/>
            <a:ext cx="5231642" cy="409433"/>
          </a:xfrm>
          <a:custGeom>
            <a:avLst/>
            <a:gdLst/>
            <a:ahLst/>
            <a:cxnLst/>
            <a:rect l="l" t="t" r="r" b="b"/>
            <a:pathLst>
              <a:path w="5231642" h="409433">
                <a:moveTo>
                  <a:pt x="72789" y="0"/>
                </a:moveTo>
                <a:lnTo>
                  <a:pt x="5158853" y="0"/>
                </a:lnTo>
                <a:cubicBezTo>
                  <a:pt x="5199053" y="0"/>
                  <a:pt x="5231642" y="32589"/>
                  <a:pt x="5231642" y="72789"/>
                </a:cubicBezTo>
                <a:lnTo>
                  <a:pt x="5231642" y="336644"/>
                </a:lnTo>
                <a:cubicBezTo>
                  <a:pt x="5231642" y="376844"/>
                  <a:pt x="5199053" y="409433"/>
                  <a:pt x="5158853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550641" y="3220872"/>
            <a:ext cx="95534" cy="127379"/>
          </a:xfrm>
          <a:custGeom>
            <a:avLst/>
            <a:gdLst/>
            <a:ahLst/>
            <a:cxnLst/>
            <a:rect l="l" t="t" r="r" b="b"/>
            <a:pathLst>
              <a:path w="95534" h="127379">
                <a:moveTo>
                  <a:pt x="72870" y="95534"/>
                </a:moveTo>
                <a:cubicBezTo>
                  <a:pt x="74686" y="89986"/>
                  <a:pt x="78318" y="84961"/>
                  <a:pt x="82423" y="80632"/>
                </a:cubicBezTo>
                <a:cubicBezTo>
                  <a:pt x="90559" y="72074"/>
                  <a:pt x="95534" y="60505"/>
                  <a:pt x="95534" y="47767"/>
                </a:cubicBezTo>
                <a:cubicBezTo>
                  <a:pt x="95534" y="21396"/>
                  <a:pt x="74139" y="0"/>
                  <a:pt x="47767" y="0"/>
                </a:cubicBezTo>
                <a:cubicBezTo>
                  <a:pt x="21396" y="0"/>
                  <a:pt x="0" y="21396"/>
                  <a:pt x="0" y="47767"/>
                </a:cubicBezTo>
                <a:cubicBezTo>
                  <a:pt x="0" y="60505"/>
                  <a:pt x="4976" y="72074"/>
                  <a:pt x="13111" y="80632"/>
                </a:cubicBezTo>
                <a:cubicBezTo>
                  <a:pt x="17216" y="84961"/>
                  <a:pt x="20873" y="89986"/>
                  <a:pt x="22665" y="95534"/>
                </a:cubicBezTo>
                <a:lnTo>
                  <a:pt x="72845" y="95534"/>
                </a:lnTo>
                <a:close/>
                <a:moveTo>
                  <a:pt x="71651" y="107476"/>
                </a:moveTo>
                <a:lnTo>
                  <a:pt x="23884" y="107476"/>
                </a:lnTo>
                <a:lnTo>
                  <a:pt x="23884" y="111457"/>
                </a:lnTo>
                <a:cubicBezTo>
                  <a:pt x="23884" y="122453"/>
                  <a:pt x="32790" y="131360"/>
                  <a:pt x="43787" y="131360"/>
                </a:cubicBezTo>
                <a:lnTo>
                  <a:pt x="51748" y="131360"/>
                </a:lnTo>
                <a:cubicBezTo>
                  <a:pt x="62744" y="131360"/>
                  <a:pt x="71651" y="122453"/>
                  <a:pt x="71651" y="111457"/>
                </a:cubicBezTo>
                <a:lnTo>
                  <a:pt x="71651" y="107476"/>
                </a:lnTo>
                <a:close/>
                <a:moveTo>
                  <a:pt x="45777" y="27864"/>
                </a:moveTo>
                <a:cubicBezTo>
                  <a:pt x="35875" y="27864"/>
                  <a:pt x="27864" y="35875"/>
                  <a:pt x="27864" y="45777"/>
                </a:cubicBezTo>
                <a:cubicBezTo>
                  <a:pt x="27864" y="49086"/>
                  <a:pt x="25202" y="51748"/>
                  <a:pt x="21893" y="51748"/>
                </a:cubicBezTo>
                <a:cubicBezTo>
                  <a:pt x="18584" y="51748"/>
                  <a:pt x="15922" y="49086"/>
                  <a:pt x="15922" y="45777"/>
                </a:cubicBezTo>
                <a:cubicBezTo>
                  <a:pt x="15922" y="29282"/>
                  <a:pt x="29282" y="15922"/>
                  <a:pt x="45777" y="15922"/>
                </a:cubicBezTo>
                <a:cubicBezTo>
                  <a:pt x="49086" y="15922"/>
                  <a:pt x="51748" y="18584"/>
                  <a:pt x="51748" y="21893"/>
                </a:cubicBezTo>
                <a:cubicBezTo>
                  <a:pt x="51748" y="25202"/>
                  <a:pt x="49086" y="27864"/>
                  <a:pt x="45777" y="27864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732441" y="3184478"/>
            <a:ext cx="48519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Avantage: </a:t>
            </a:r>
            <a:r>
              <a:rPr lang="en-US" sz="1003" dirty="0" err="1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Résultats</a:t>
            </a:r>
            <a:r>
              <a:rPr lang="en-US" sz="1003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instantanés pour les requêtes fréquentes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1722" y="3825922"/>
            <a:ext cx="5613779" cy="1992573"/>
          </a:xfrm>
          <a:custGeom>
            <a:avLst/>
            <a:gdLst/>
            <a:ahLst/>
            <a:cxnLst/>
            <a:rect l="l" t="t" r="r" b="b"/>
            <a:pathLst>
              <a:path w="5613779" h="1992573">
                <a:moveTo>
                  <a:pt x="145577" y="0"/>
                </a:moveTo>
                <a:lnTo>
                  <a:pt x="5468202" y="0"/>
                </a:lnTo>
                <a:cubicBezTo>
                  <a:pt x="5548602" y="0"/>
                  <a:pt x="5613779" y="65177"/>
                  <a:pt x="5613779" y="145577"/>
                </a:cubicBezTo>
                <a:lnTo>
                  <a:pt x="5613779" y="1846996"/>
                </a:lnTo>
                <a:cubicBezTo>
                  <a:pt x="5613779" y="1927396"/>
                  <a:pt x="5548602" y="1992573"/>
                  <a:pt x="5468202" y="1992573"/>
                </a:cubicBezTo>
                <a:lnTo>
                  <a:pt x="145577" y="1992573"/>
                </a:lnTo>
                <a:cubicBezTo>
                  <a:pt x="65177" y="1992573"/>
                  <a:pt x="0" y="1927396"/>
                  <a:pt x="0" y="1846996"/>
                </a:cubicBezTo>
                <a:lnTo>
                  <a:pt x="0" y="145577"/>
                </a:lnTo>
                <a:cubicBezTo>
                  <a:pt x="0" y="65231"/>
                  <a:pt x="65231" y="0"/>
                  <a:pt x="145577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2D00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398241" y="4012442"/>
            <a:ext cx="509516" cy="509516"/>
          </a:xfrm>
          <a:custGeom>
            <a:avLst/>
            <a:gdLst/>
            <a:ahLst/>
            <a:cxnLst/>
            <a:rect l="l" t="t" r="r" b="b"/>
            <a:pathLst>
              <a:path w="509516" h="509516">
                <a:moveTo>
                  <a:pt x="109184" y="0"/>
                </a:moveTo>
                <a:lnTo>
                  <a:pt x="400332" y="0"/>
                </a:lnTo>
                <a:cubicBezTo>
                  <a:pt x="460633" y="0"/>
                  <a:pt x="509516" y="48883"/>
                  <a:pt x="509516" y="109184"/>
                </a:cubicBezTo>
                <a:lnTo>
                  <a:pt x="509516" y="400332"/>
                </a:lnTo>
                <a:cubicBezTo>
                  <a:pt x="509516" y="460633"/>
                  <a:pt x="460633" y="509516"/>
                  <a:pt x="400332" y="509516"/>
                </a:cubicBezTo>
                <a:lnTo>
                  <a:pt x="109184" y="509516"/>
                </a:lnTo>
                <a:cubicBezTo>
                  <a:pt x="48883" y="509516"/>
                  <a:pt x="0" y="460633"/>
                  <a:pt x="0" y="400332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557465" y="4158018"/>
            <a:ext cx="191069" cy="218364"/>
          </a:xfrm>
          <a:custGeom>
            <a:avLst/>
            <a:gdLst/>
            <a:ahLst/>
            <a:cxnLst/>
            <a:rect l="l" t="t" r="r" b="b"/>
            <a:pathLst>
              <a:path w="191069" h="218364">
                <a:moveTo>
                  <a:pt x="163773" y="40943"/>
                </a:moveTo>
                <a:lnTo>
                  <a:pt x="109182" y="40943"/>
                </a:lnTo>
                <a:lnTo>
                  <a:pt x="109182" y="95534"/>
                </a:lnTo>
                <a:lnTo>
                  <a:pt x="163773" y="95534"/>
                </a:lnTo>
                <a:lnTo>
                  <a:pt x="163773" y="40943"/>
                </a:lnTo>
                <a:close/>
                <a:moveTo>
                  <a:pt x="191069" y="95534"/>
                </a:moveTo>
                <a:lnTo>
                  <a:pt x="191069" y="177421"/>
                </a:lnTo>
                <a:cubicBezTo>
                  <a:pt x="191069" y="192476"/>
                  <a:pt x="178828" y="204716"/>
                  <a:pt x="163773" y="204716"/>
                </a:cubicBezTo>
                <a:lnTo>
                  <a:pt x="27296" y="204716"/>
                </a:lnTo>
                <a:cubicBezTo>
                  <a:pt x="12240" y="204716"/>
                  <a:pt x="0" y="192476"/>
                  <a:pt x="0" y="177421"/>
                </a:cubicBezTo>
                <a:lnTo>
                  <a:pt x="0" y="40943"/>
                </a:lnTo>
                <a:cubicBezTo>
                  <a:pt x="0" y="25888"/>
                  <a:pt x="12240" y="13648"/>
                  <a:pt x="27296" y="13648"/>
                </a:cubicBezTo>
                <a:lnTo>
                  <a:pt x="163773" y="13648"/>
                </a:lnTo>
                <a:cubicBezTo>
                  <a:pt x="178828" y="13648"/>
                  <a:pt x="191069" y="25888"/>
                  <a:pt x="191069" y="40943"/>
                </a:cubicBezTo>
                <a:lnTo>
                  <a:pt x="191069" y="95534"/>
                </a:lnTo>
                <a:close/>
                <a:moveTo>
                  <a:pt x="27296" y="122830"/>
                </a:moveTo>
                <a:lnTo>
                  <a:pt x="27296" y="177421"/>
                </a:lnTo>
                <a:lnTo>
                  <a:pt x="81887" y="177421"/>
                </a:lnTo>
                <a:lnTo>
                  <a:pt x="81887" y="122830"/>
                </a:lnTo>
                <a:lnTo>
                  <a:pt x="27296" y="122830"/>
                </a:lnTo>
                <a:close/>
                <a:moveTo>
                  <a:pt x="81887" y="95534"/>
                </a:moveTo>
                <a:lnTo>
                  <a:pt x="81887" y="40943"/>
                </a:lnTo>
                <a:lnTo>
                  <a:pt x="27296" y="40943"/>
                </a:lnTo>
                <a:lnTo>
                  <a:pt x="27296" y="95534"/>
                </a:lnTo>
                <a:lnTo>
                  <a:pt x="81887" y="95534"/>
                </a:lnTo>
                <a:close/>
                <a:moveTo>
                  <a:pt x="109182" y="122830"/>
                </a:moveTo>
                <a:lnTo>
                  <a:pt x="109182" y="177421"/>
                </a:lnTo>
                <a:lnTo>
                  <a:pt x="163773" y="177421"/>
                </a:lnTo>
                <a:lnTo>
                  <a:pt x="163773" y="122830"/>
                </a:lnTo>
                <a:lnTo>
                  <a:pt x="109182" y="12283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053334" y="4121624"/>
            <a:ext cx="312988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Partitionnement &amp; Clustering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98241" y="4631140"/>
            <a:ext cx="5313528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Segmenter physiquement les données par</a:t>
            </a:r>
            <a:r>
              <a:rPr lang="en-US" sz="1146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date</a:t>
            </a: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</a:t>
            </a:r>
            <a:r>
              <a:rPr lang="en-US" sz="1146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clé métier</a:t>
            </a:r>
            <a:r>
              <a:rPr lang="en-US" sz="114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permettre au moteur d'ignorer les blocs inutiles (partition pruning).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2790" y="5217994"/>
            <a:ext cx="5231642" cy="409433"/>
          </a:xfrm>
          <a:custGeom>
            <a:avLst/>
            <a:gdLst/>
            <a:ahLst/>
            <a:cxnLst/>
            <a:rect l="l" t="t" r="r" b="b"/>
            <a:pathLst>
              <a:path w="5231642" h="409433">
                <a:moveTo>
                  <a:pt x="72789" y="0"/>
                </a:moveTo>
                <a:lnTo>
                  <a:pt x="5158853" y="0"/>
                </a:lnTo>
                <a:cubicBezTo>
                  <a:pt x="5199053" y="0"/>
                  <a:pt x="5231642" y="32589"/>
                  <a:pt x="5231642" y="72789"/>
                </a:cubicBezTo>
                <a:lnTo>
                  <a:pt x="5231642" y="336644"/>
                </a:lnTo>
                <a:cubicBezTo>
                  <a:pt x="5231642" y="376844"/>
                  <a:pt x="5199053" y="409433"/>
                  <a:pt x="5158853" y="409433"/>
                </a:cubicBezTo>
                <a:lnTo>
                  <a:pt x="72789" y="409433"/>
                </a:lnTo>
                <a:cubicBezTo>
                  <a:pt x="32589" y="409433"/>
                  <a:pt x="0" y="376844"/>
                  <a:pt x="0" y="336644"/>
                </a:cubicBezTo>
                <a:lnTo>
                  <a:pt x="0" y="72789"/>
                </a:lnTo>
                <a:cubicBezTo>
                  <a:pt x="0" y="32589"/>
                  <a:pt x="32589" y="0"/>
                  <a:pt x="72789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550641" y="5368119"/>
            <a:ext cx="95534" cy="127379"/>
          </a:xfrm>
          <a:custGeom>
            <a:avLst/>
            <a:gdLst/>
            <a:ahLst/>
            <a:cxnLst/>
            <a:rect l="l" t="t" r="r" b="b"/>
            <a:pathLst>
              <a:path w="95534" h="127379">
                <a:moveTo>
                  <a:pt x="72870" y="95534"/>
                </a:moveTo>
                <a:cubicBezTo>
                  <a:pt x="74686" y="89986"/>
                  <a:pt x="78318" y="84961"/>
                  <a:pt x="82423" y="80632"/>
                </a:cubicBezTo>
                <a:cubicBezTo>
                  <a:pt x="90559" y="72074"/>
                  <a:pt x="95534" y="60505"/>
                  <a:pt x="95534" y="47767"/>
                </a:cubicBezTo>
                <a:cubicBezTo>
                  <a:pt x="95534" y="21396"/>
                  <a:pt x="74139" y="0"/>
                  <a:pt x="47767" y="0"/>
                </a:cubicBezTo>
                <a:cubicBezTo>
                  <a:pt x="21396" y="0"/>
                  <a:pt x="0" y="21396"/>
                  <a:pt x="0" y="47767"/>
                </a:cubicBezTo>
                <a:cubicBezTo>
                  <a:pt x="0" y="60505"/>
                  <a:pt x="4976" y="72074"/>
                  <a:pt x="13111" y="80632"/>
                </a:cubicBezTo>
                <a:cubicBezTo>
                  <a:pt x="17216" y="84961"/>
                  <a:pt x="20873" y="89986"/>
                  <a:pt x="22665" y="95534"/>
                </a:cubicBezTo>
                <a:lnTo>
                  <a:pt x="72845" y="95534"/>
                </a:lnTo>
                <a:close/>
                <a:moveTo>
                  <a:pt x="71651" y="107476"/>
                </a:moveTo>
                <a:lnTo>
                  <a:pt x="23884" y="107476"/>
                </a:lnTo>
                <a:lnTo>
                  <a:pt x="23884" y="111457"/>
                </a:lnTo>
                <a:cubicBezTo>
                  <a:pt x="23884" y="122453"/>
                  <a:pt x="32790" y="131360"/>
                  <a:pt x="43787" y="131360"/>
                </a:cubicBezTo>
                <a:lnTo>
                  <a:pt x="51748" y="131360"/>
                </a:lnTo>
                <a:cubicBezTo>
                  <a:pt x="62744" y="131360"/>
                  <a:pt x="71651" y="122453"/>
                  <a:pt x="71651" y="111457"/>
                </a:cubicBezTo>
                <a:lnTo>
                  <a:pt x="71651" y="107476"/>
                </a:lnTo>
                <a:close/>
                <a:moveTo>
                  <a:pt x="45777" y="27864"/>
                </a:moveTo>
                <a:cubicBezTo>
                  <a:pt x="35875" y="27864"/>
                  <a:pt x="27864" y="35875"/>
                  <a:pt x="27864" y="45777"/>
                </a:cubicBezTo>
                <a:cubicBezTo>
                  <a:pt x="27864" y="49086"/>
                  <a:pt x="25202" y="51748"/>
                  <a:pt x="21893" y="51748"/>
                </a:cubicBezTo>
                <a:cubicBezTo>
                  <a:pt x="18584" y="51748"/>
                  <a:pt x="15922" y="49086"/>
                  <a:pt x="15922" y="45777"/>
                </a:cubicBezTo>
                <a:cubicBezTo>
                  <a:pt x="15922" y="29282"/>
                  <a:pt x="29282" y="15922"/>
                  <a:pt x="45777" y="15922"/>
                </a:cubicBezTo>
                <a:cubicBezTo>
                  <a:pt x="49086" y="15922"/>
                  <a:pt x="51748" y="18584"/>
                  <a:pt x="51748" y="21893"/>
                </a:cubicBezTo>
                <a:cubicBezTo>
                  <a:pt x="51748" y="25202"/>
                  <a:pt x="49086" y="27864"/>
                  <a:pt x="45777" y="27864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732441" y="5331725"/>
            <a:ext cx="48519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Avantage: </a:t>
            </a:r>
            <a:r>
              <a:rPr lang="en-US" sz="1003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uniquement des données pertinentes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8490" y="5973170"/>
            <a:ext cx="11455021" cy="518615"/>
          </a:xfrm>
          <a:custGeom>
            <a:avLst/>
            <a:gdLst/>
            <a:ahLst/>
            <a:cxnLst/>
            <a:rect l="l" t="t" r="r" b="b"/>
            <a:pathLst>
              <a:path w="11455021" h="518615">
                <a:moveTo>
                  <a:pt x="109184" y="0"/>
                </a:moveTo>
                <a:lnTo>
                  <a:pt x="11345837" y="0"/>
                </a:lnTo>
                <a:cubicBezTo>
                  <a:pt x="11406138" y="0"/>
                  <a:pt x="11455021" y="48883"/>
                  <a:pt x="11455021" y="109184"/>
                </a:cubicBezTo>
                <a:lnTo>
                  <a:pt x="11455021" y="409431"/>
                </a:lnTo>
                <a:cubicBezTo>
                  <a:pt x="11455021" y="469732"/>
                  <a:pt x="11406138" y="518615"/>
                  <a:pt x="11345837" y="518615"/>
                </a:cubicBezTo>
                <a:lnTo>
                  <a:pt x="109184" y="518615"/>
                </a:lnTo>
                <a:cubicBezTo>
                  <a:pt x="48883" y="518615"/>
                  <a:pt x="0" y="469732"/>
                  <a:pt x="0" y="409431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>
                  <a:alpha val="20000"/>
                </a:srgbClr>
              </a:gs>
              <a:gs pos="100000">
                <a:srgbClr val="2B7FFF">
                  <a:alpha val="2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235799" y="6159690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72788" y="145576"/>
                </a:moveTo>
                <a:cubicBezTo>
                  <a:pt x="112961" y="145576"/>
                  <a:pt x="145576" y="112961"/>
                  <a:pt x="145576" y="72788"/>
                </a:cubicBezTo>
                <a:cubicBezTo>
                  <a:pt x="145576" y="32615"/>
                  <a:pt x="112961" y="0"/>
                  <a:pt x="72788" y="0"/>
                </a:cubicBezTo>
                <a:cubicBezTo>
                  <a:pt x="32615" y="0"/>
                  <a:pt x="0" y="32615"/>
                  <a:pt x="0" y="72788"/>
                </a:cubicBezTo>
                <a:cubicBezTo>
                  <a:pt x="0" y="112961"/>
                  <a:pt x="32615" y="145576"/>
                  <a:pt x="72788" y="145576"/>
                </a:cubicBezTo>
                <a:close/>
                <a:moveTo>
                  <a:pt x="63690" y="45493"/>
                </a:moveTo>
                <a:cubicBezTo>
                  <a:pt x="63690" y="40471"/>
                  <a:pt x="67766" y="36394"/>
                  <a:pt x="72788" y="36394"/>
                </a:cubicBezTo>
                <a:cubicBezTo>
                  <a:pt x="77810" y="36394"/>
                  <a:pt x="81887" y="40471"/>
                  <a:pt x="81887" y="45493"/>
                </a:cubicBezTo>
                <a:cubicBezTo>
                  <a:pt x="81887" y="50514"/>
                  <a:pt x="77810" y="54591"/>
                  <a:pt x="72788" y="54591"/>
                </a:cubicBezTo>
                <a:cubicBezTo>
                  <a:pt x="67766" y="54591"/>
                  <a:pt x="63690" y="50514"/>
                  <a:pt x="63690" y="45493"/>
                </a:cubicBezTo>
                <a:close/>
                <a:moveTo>
                  <a:pt x="61415" y="63690"/>
                </a:moveTo>
                <a:lnTo>
                  <a:pt x="75063" y="63690"/>
                </a:lnTo>
                <a:cubicBezTo>
                  <a:pt x="78844" y="63690"/>
                  <a:pt x="81887" y="66732"/>
                  <a:pt x="81887" y="70513"/>
                </a:cubicBezTo>
                <a:lnTo>
                  <a:pt x="81887" y="95534"/>
                </a:lnTo>
                <a:lnTo>
                  <a:pt x="84161" y="95534"/>
                </a:lnTo>
                <a:cubicBezTo>
                  <a:pt x="87943" y="95534"/>
                  <a:pt x="90985" y="98577"/>
                  <a:pt x="90985" y="102358"/>
                </a:cubicBezTo>
                <a:cubicBezTo>
                  <a:pt x="90985" y="106140"/>
                  <a:pt x="87943" y="109182"/>
                  <a:pt x="84161" y="109182"/>
                </a:cubicBezTo>
                <a:lnTo>
                  <a:pt x="61415" y="109182"/>
                </a:lnTo>
                <a:cubicBezTo>
                  <a:pt x="57633" y="109182"/>
                  <a:pt x="54591" y="106140"/>
                  <a:pt x="54591" y="102358"/>
                </a:cubicBezTo>
                <a:cubicBezTo>
                  <a:pt x="54591" y="98577"/>
                  <a:pt x="57633" y="95534"/>
                  <a:pt x="61415" y="95534"/>
                </a:cubicBezTo>
                <a:lnTo>
                  <a:pt x="68239" y="95534"/>
                </a:lnTo>
                <a:lnTo>
                  <a:pt x="68239" y="77337"/>
                </a:lnTo>
                <a:lnTo>
                  <a:pt x="61415" y="77337"/>
                </a:lnTo>
                <a:cubicBezTo>
                  <a:pt x="57633" y="77337"/>
                  <a:pt x="54591" y="74295"/>
                  <a:pt x="54591" y="70513"/>
                </a:cubicBezTo>
                <a:cubicBezTo>
                  <a:pt x="54591" y="66732"/>
                  <a:pt x="57633" y="63690"/>
                  <a:pt x="61415" y="63690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16338" y="6123296"/>
            <a:ext cx="10993441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Piliers Clés:</a:t>
            </a:r>
            <a:r>
              <a:rPr lang="en-US" sz="114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Simplifier l'accès aux données réduit drastiquement les coûts de calcul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>
            <a:extLst>
              <a:ext uri="{FF2B5EF4-FFF2-40B4-BE49-F238E27FC236}">
                <a16:creationId xmlns:a16="http://schemas.microsoft.com/office/drawing/2014/main" id="{80FE0B38-79B7-6438-BC38-B1D4E4663B9C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Optimisation des Requêtes SQL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47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9A1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L'écriture efficace du code SQL est le levier le plus immédiat pour réduire la consommation de ressources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464469"/>
            <a:ext cx="3738563" cy="2754313"/>
          </a:xfrm>
          <a:custGeom>
            <a:avLst/>
            <a:gdLst/>
            <a:ahLst/>
            <a:cxnLst/>
            <a:rect l="l" t="t" r="r" b="b"/>
            <a:pathLst>
              <a:path w="3738563" h="2754313">
                <a:moveTo>
                  <a:pt x="127001" y="0"/>
                </a:moveTo>
                <a:lnTo>
                  <a:pt x="3611561" y="0"/>
                </a:lnTo>
                <a:cubicBezTo>
                  <a:pt x="3681702" y="0"/>
                  <a:pt x="3738562" y="56860"/>
                  <a:pt x="3738562" y="127001"/>
                </a:cubicBezTo>
                <a:lnTo>
                  <a:pt x="3738563" y="2627311"/>
                </a:lnTo>
                <a:cubicBezTo>
                  <a:pt x="3738562" y="2697452"/>
                  <a:pt x="3681702" y="2754313"/>
                  <a:pt x="3611561" y="2754313"/>
                </a:cubicBezTo>
                <a:lnTo>
                  <a:pt x="127001" y="2754313"/>
                </a:lnTo>
                <a:cubicBezTo>
                  <a:pt x="56860" y="2754313"/>
                  <a:pt x="0" y="2697452"/>
                  <a:pt x="0" y="2627311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4187" y="1627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95313" y="1738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402" y="14883"/>
                </a:moveTo>
                <a:cubicBezTo>
                  <a:pt x="8279" y="14883"/>
                  <a:pt x="4961" y="18200"/>
                  <a:pt x="4961" y="22324"/>
                </a:cubicBezTo>
                <a:lnTo>
                  <a:pt x="4961" y="37207"/>
                </a:lnTo>
                <a:cubicBezTo>
                  <a:pt x="4961" y="41331"/>
                  <a:pt x="8279" y="44648"/>
                  <a:pt x="12402" y="44648"/>
                </a:cubicBezTo>
                <a:lnTo>
                  <a:pt x="27285" y="44648"/>
                </a:lnTo>
                <a:cubicBezTo>
                  <a:pt x="31409" y="44648"/>
                  <a:pt x="34727" y="41331"/>
                  <a:pt x="34727" y="37207"/>
                </a:cubicBezTo>
                <a:lnTo>
                  <a:pt x="34727" y="22324"/>
                </a:lnTo>
                <a:cubicBezTo>
                  <a:pt x="34727" y="18200"/>
                  <a:pt x="31409" y="14883"/>
                  <a:pt x="27285" y="14883"/>
                </a:cubicBezTo>
                <a:lnTo>
                  <a:pt x="12402" y="14883"/>
                </a:lnTo>
                <a:close/>
                <a:moveTo>
                  <a:pt x="59531" y="19844"/>
                </a:moveTo>
                <a:cubicBezTo>
                  <a:pt x="54043" y="19844"/>
                  <a:pt x="49609" y="24278"/>
                  <a:pt x="49609" y="29766"/>
                </a:cubicBezTo>
                <a:cubicBezTo>
                  <a:pt x="49609" y="35254"/>
                  <a:pt x="54043" y="39688"/>
                  <a:pt x="59531" y="39688"/>
                </a:cubicBezTo>
                <a:lnTo>
                  <a:pt x="148828" y="39688"/>
                </a:lnTo>
                <a:cubicBezTo>
                  <a:pt x="154316" y="39688"/>
                  <a:pt x="158750" y="35254"/>
                  <a:pt x="158750" y="29766"/>
                </a:cubicBezTo>
                <a:cubicBezTo>
                  <a:pt x="158750" y="24278"/>
                  <a:pt x="154316" y="19844"/>
                  <a:pt x="148828" y="19844"/>
                </a:cubicBezTo>
                <a:lnTo>
                  <a:pt x="59531" y="19844"/>
                </a:lnTo>
                <a:close/>
                <a:moveTo>
                  <a:pt x="59531" y="69453"/>
                </a:moveTo>
                <a:cubicBezTo>
                  <a:pt x="54043" y="69453"/>
                  <a:pt x="49609" y="73887"/>
                  <a:pt x="49609" y="79375"/>
                </a:cubicBezTo>
                <a:cubicBezTo>
                  <a:pt x="49609" y="84863"/>
                  <a:pt x="54043" y="89297"/>
                  <a:pt x="59531" y="89297"/>
                </a:cubicBezTo>
                <a:lnTo>
                  <a:pt x="148828" y="89297"/>
                </a:lnTo>
                <a:cubicBezTo>
                  <a:pt x="154316" y="89297"/>
                  <a:pt x="158750" y="84863"/>
                  <a:pt x="158750" y="79375"/>
                </a:cubicBezTo>
                <a:cubicBezTo>
                  <a:pt x="158750" y="73887"/>
                  <a:pt x="154316" y="69453"/>
                  <a:pt x="148828" y="69453"/>
                </a:cubicBezTo>
                <a:lnTo>
                  <a:pt x="59531" y="69453"/>
                </a:lnTo>
                <a:close/>
                <a:moveTo>
                  <a:pt x="59531" y="119062"/>
                </a:moveTo>
                <a:cubicBezTo>
                  <a:pt x="54043" y="119062"/>
                  <a:pt x="49609" y="123496"/>
                  <a:pt x="49609" y="128984"/>
                </a:cubicBezTo>
                <a:cubicBezTo>
                  <a:pt x="49609" y="134472"/>
                  <a:pt x="54043" y="138906"/>
                  <a:pt x="59531" y="138906"/>
                </a:cubicBezTo>
                <a:lnTo>
                  <a:pt x="148828" y="138906"/>
                </a:lnTo>
                <a:cubicBezTo>
                  <a:pt x="154316" y="138906"/>
                  <a:pt x="158750" y="134472"/>
                  <a:pt x="158750" y="128984"/>
                </a:cubicBezTo>
                <a:cubicBezTo>
                  <a:pt x="158750" y="123496"/>
                  <a:pt x="154316" y="119062"/>
                  <a:pt x="148828" y="119062"/>
                </a:cubicBezTo>
                <a:lnTo>
                  <a:pt x="59531" y="119062"/>
                </a:lnTo>
                <a:close/>
                <a:moveTo>
                  <a:pt x="4961" y="71934"/>
                </a:moveTo>
                <a:lnTo>
                  <a:pt x="4961" y="86816"/>
                </a:lnTo>
                <a:cubicBezTo>
                  <a:pt x="4961" y="90940"/>
                  <a:pt x="8279" y="94258"/>
                  <a:pt x="12402" y="94258"/>
                </a:cubicBezTo>
                <a:lnTo>
                  <a:pt x="27285" y="94258"/>
                </a:lnTo>
                <a:cubicBezTo>
                  <a:pt x="31409" y="94258"/>
                  <a:pt x="34727" y="90940"/>
                  <a:pt x="34727" y="86816"/>
                </a:cubicBezTo>
                <a:lnTo>
                  <a:pt x="34727" y="71934"/>
                </a:lnTo>
                <a:cubicBezTo>
                  <a:pt x="34727" y="67810"/>
                  <a:pt x="31409" y="64492"/>
                  <a:pt x="27285" y="64492"/>
                </a:cubicBezTo>
                <a:lnTo>
                  <a:pt x="12402" y="64492"/>
                </a:lnTo>
                <a:cubicBezTo>
                  <a:pt x="8279" y="64492"/>
                  <a:pt x="4961" y="67810"/>
                  <a:pt x="4961" y="71934"/>
                </a:cubicBezTo>
                <a:close/>
                <a:moveTo>
                  <a:pt x="12402" y="114102"/>
                </a:moveTo>
                <a:cubicBezTo>
                  <a:pt x="8279" y="114102"/>
                  <a:pt x="4961" y="117419"/>
                  <a:pt x="4961" y="121543"/>
                </a:cubicBezTo>
                <a:lnTo>
                  <a:pt x="4961" y="136426"/>
                </a:lnTo>
                <a:cubicBezTo>
                  <a:pt x="4961" y="140550"/>
                  <a:pt x="8279" y="143867"/>
                  <a:pt x="12402" y="143867"/>
                </a:cubicBezTo>
                <a:lnTo>
                  <a:pt x="27285" y="143867"/>
                </a:lnTo>
                <a:cubicBezTo>
                  <a:pt x="31409" y="143867"/>
                  <a:pt x="34727" y="140550"/>
                  <a:pt x="34727" y="136426"/>
                </a:cubicBezTo>
                <a:lnTo>
                  <a:pt x="34727" y="121543"/>
                </a:lnTo>
                <a:cubicBezTo>
                  <a:pt x="34727" y="117419"/>
                  <a:pt x="31409" y="114102"/>
                  <a:pt x="27285" y="114102"/>
                </a:cubicBezTo>
                <a:lnTo>
                  <a:pt x="12402" y="11410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438" y="1706563"/>
            <a:ext cx="129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Éviter SELECT *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2103438"/>
            <a:ext cx="34766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 sélectionnez </a:t>
            </a:r>
            <a:r>
              <a:rPr lang="en-US" sz="1000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les </a:t>
            </a:r>
            <a:r>
              <a:rPr lang="en-US" sz="1000" b="1" dirty="0" err="1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colonnes</a:t>
            </a: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strictement nécessaires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Cela réduit considérablement le volume de données transféré et les I/O disque.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8156" y="2821781"/>
            <a:ext cx="3405188" cy="579438"/>
          </a:xfrm>
          <a:custGeom>
            <a:avLst/>
            <a:gdLst/>
            <a:ahLst/>
            <a:cxnLst/>
            <a:rect l="l" t="t" r="r" b="b"/>
            <a:pathLst>
              <a:path w="3405188" h="579438">
                <a:moveTo>
                  <a:pt x="63501" y="0"/>
                </a:moveTo>
                <a:lnTo>
                  <a:pt x="3341687" y="0"/>
                </a:lnTo>
                <a:cubicBezTo>
                  <a:pt x="3376757" y="0"/>
                  <a:pt x="3405187" y="28430"/>
                  <a:pt x="3405187" y="63501"/>
                </a:cubicBezTo>
                <a:lnTo>
                  <a:pt x="3405188" y="515937"/>
                </a:lnTo>
                <a:cubicBezTo>
                  <a:pt x="3405187" y="551007"/>
                  <a:pt x="3376757" y="579437"/>
                  <a:pt x="3341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87375" y="2921000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À éviter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7375" y="3143250"/>
            <a:ext cx="1277565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orders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8156" y="3472656"/>
            <a:ext cx="3405188" cy="579438"/>
          </a:xfrm>
          <a:custGeom>
            <a:avLst/>
            <a:gdLst/>
            <a:ahLst/>
            <a:cxnLst/>
            <a:rect l="l" t="t" r="r" b="b"/>
            <a:pathLst>
              <a:path w="3405188" h="579438">
                <a:moveTo>
                  <a:pt x="63501" y="0"/>
                </a:moveTo>
                <a:lnTo>
                  <a:pt x="3341687" y="0"/>
                </a:lnTo>
                <a:cubicBezTo>
                  <a:pt x="3376757" y="0"/>
                  <a:pt x="3405187" y="28430"/>
                  <a:pt x="3405187" y="63501"/>
                </a:cubicBezTo>
                <a:lnTo>
                  <a:pt x="3405188" y="515937"/>
                </a:lnTo>
                <a:cubicBezTo>
                  <a:pt x="3405187" y="551007"/>
                  <a:pt x="3376757" y="579437"/>
                  <a:pt x="3341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7375" y="35718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✅ Recommandé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375" y="3794125"/>
            <a:ext cx="2071812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order_id, date FROM orders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6719" y="1464469"/>
            <a:ext cx="3738563" cy="2754313"/>
          </a:xfrm>
          <a:custGeom>
            <a:avLst/>
            <a:gdLst/>
            <a:ahLst/>
            <a:cxnLst/>
            <a:rect l="l" t="t" r="r" b="b"/>
            <a:pathLst>
              <a:path w="3738563" h="2754313">
                <a:moveTo>
                  <a:pt x="127001" y="0"/>
                </a:moveTo>
                <a:lnTo>
                  <a:pt x="3611561" y="0"/>
                </a:lnTo>
                <a:cubicBezTo>
                  <a:pt x="3681702" y="0"/>
                  <a:pt x="3738562" y="56860"/>
                  <a:pt x="3738562" y="127001"/>
                </a:cubicBezTo>
                <a:lnTo>
                  <a:pt x="3738563" y="2627311"/>
                </a:lnTo>
                <a:cubicBezTo>
                  <a:pt x="3738562" y="2697452"/>
                  <a:pt x="3681702" y="2754313"/>
                  <a:pt x="3611561" y="2754313"/>
                </a:cubicBezTo>
                <a:lnTo>
                  <a:pt x="127001" y="2754313"/>
                </a:lnTo>
                <a:cubicBezTo>
                  <a:pt x="56860" y="2754313"/>
                  <a:pt x="0" y="2697452"/>
                  <a:pt x="0" y="2627311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389438" y="1627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500563" y="1738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19844"/>
                </a:moveTo>
                <a:cubicBezTo>
                  <a:pt x="5922" y="19844"/>
                  <a:pt x="2294" y="22262"/>
                  <a:pt x="744" y="25983"/>
                </a:cubicBezTo>
                <a:cubicBezTo>
                  <a:pt x="-806" y="29704"/>
                  <a:pt x="62" y="33951"/>
                  <a:pt x="2915" y="36773"/>
                </a:cubicBezTo>
                <a:lnTo>
                  <a:pt x="59531" y="93421"/>
                </a:lnTo>
                <a:lnTo>
                  <a:pt x="59531" y="128984"/>
                </a:lnTo>
                <a:cubicBezTo>
                  <a:pt x="59531" y="131620"/>
                  <a:pt x="60585" y="134131"/>
                  <a:pt x="62446" y="135992"/>
                </a:cubicBezTo>
                <a:lnTo>
                  <a:pt x="82290" y="155835"/>
                </a:lnTo>
                <a:cubicBezTo>
                  <a:pt x="85142" y="158688"/>
                  <a:pt x="89390" y="159525"/>
                  <a:pt x="93111" y="157975"/>
                </a:cubicBezTo>
                <a:cubicBezTo>
                  <a:pt x="96831" y="156425"/>
                  <a:pt x="99219" y="152828"/>
                  <a:pt x="99219" y="148828"/>
                </a:cubicBezTo>
                <a:lnTo>
                  <a:pt x="99219" y="93421"/>
                </a:lnTo>
                <a:lnTo>
                  <a:pt x="155835" y="36804"/>
                </a:lnTo>
                <a:cubicBezTo>
                  <a:pt x="158688" y="33951"/>
                  <a:pt x="159525" y="29704"/>
                  <a:pt x="157975" y="25983"/>
                </a:cubicBezTo>
                <a:cubicBezTo>
                  <a:pt x="156425" y="22262"/>
                  <a:pt x="152828" y="19844"/>
                  <a:pt x="148828" y="19844"/>
                </a:cubicBezTo>
                <a:lnTo>
                  <a:pt x="9922" y="1984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65688" y="1706563"/>
            <a:ext cx="192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Filtres WHERE Efficaces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89438" y="2103438"/>
            <a:ext cx="34766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Filtrez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000" b="1" dirty="0" err="1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tôt</a:t>
            </a:r>
            <a:r>
              <a:rPr lang="en-US" sz="100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 évitez les fonctions sur les colonnes filtrées (non-sargable) qui empêchent l'utilisation des indexes et partitions.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93406" y="2821781"/>
            <a:ext cx="3405188" cy="579438"/>
          </a:xfrm>
          <a:custGeom>
            <a:avLst/>
            <a:gdLst/>
            <a:ahLst/>
            <a:cxnLst/>
            <a:rect l="l" t="t" r="r" b="b"/>
            <a:pathLst>
              <a:path w="3405188" h="579438">
                <a:moveTo>
                  <a:pt x="63501" y="0"/>
                </a:moveTo>
                <a:lnTo>
                  <a:pt x="3341687" y="0"/>
                </a:lnTo>
                <a:cubicBezTo>
                  <a:pt x="3376757" y="0"/>
                  <a:pt x="3405187" y="28430"/>
                  <a:pt x="3405187" y="63501"/>
                </a:cubicBezTo>
                <a:lnTo>
                  <a:pt x="3405188" y="515937"/>
                </a:lnTo>
                <a:cubicBezTo>
                  <a:pt x="3405187" y="551007"/>
                  <a:pt x="3376757" y="579437"/>
                  <a:pt x="3341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492625" y="2921000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À éviter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92625" y="3143250"/>
            <a:ext cx="1460872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YEAR(date) = 2024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93406" y="3472656"/>
            <a:ext cx="3405188" cy="579438"/>
          </a:xfrm>
          <a:custGeom>
            <a:avLst/>
            <a:gdLst/>
            <a:ahLst/>
            <a:cxnLst/>
            <a:rect l="l" t="t" r="r" b="b"/>
            <a:pathLst>
              <a:path w="3405188" h="579438">
                <a:moveTo>
                  <a:pt x="63501" y="0"/>
                </a:moveTo>
                <a:lnTo>
                  <a:pt x="3341687" y="0"/>
                </a:lnTo>
                <a:cubicBezTo>
                  <a:pt x="3376757" y="0"/>
                  <a:pt x="3405187" y="28430"/>
                  <a:pt x="3405187" y="63501"/>
                </a:cubicBezTo>
                <a:lnTo>
                  <a:pt x="3405188" y="515937"/>
                </a:lnTo>
                <a:cubicBezTo>
                  <a:pt x="3405187" y="551007"/>
                  <a:pt x="3376757" y="579437"/>
                  <a:pt x="3341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492625" y="35718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✅ Recommandé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92625" y="3794125"/>
            <a:ext cx="1644179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date &gt;= '2024-01-01'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1969" y="1464469"/>
            <a:ext cx="3738563" cy="2754313"/>
          </a:xfrm>
          <a:custGeom>
            <a:avLst/>
            <a:gdLst/>
            <a:ahLst/>
            <a:cxnLst/>
            <a:rect l="l" t="t" r="r" b="b"/>
            <a:pathLst>
              <a:path w="3738563" h="2754313">
                <a:moveTo>
                  <a:pt x="127001" y="0"/>
                </a:moveTo>
                <a:lnTo>
                  <a:pt x="3611561" y="0"/>
                </a:lnTo>
                <a:cubicBezTo>
                  <a:pt x="3681702" y="0"/>
                  <a:pt x="3738562" y="56860"/>
                  <a:pt x="3738562" y="127001"/>
                </a:cubicBezTo>
                <a:lnTo>
                  <a:pt x="3738563" y="2627311"/>
                </a:lnTo>
                <a:cubicBezTo>
                  <a:pt x="3738562" y="2697452"/>
                  <a:pt x="3681702" y="2754313"/>
                  <a:pt x="3611561" y="2754313"/>
                </a:cubicBezTo>
                <a:lnTo>
                  <a:pt x="127001" y="2754313"/>
                </a:lnTo>
                <a:cubicBezTo>
                  <a:pt x="56860" y="2754313"/>
                  <a:pt x="0" y="2697452"/>
                  <a:pt x="0" y="2627311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BC7D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294688" y="1627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405813" y="1738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770938" y="1706563"/>
            <a:ext cx="173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Réécrire les Jointures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94688" y="2103438"/>
            <a:ext cx="34766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Simplifiez les jointures complexes. Préférez </a:t>
            </a:r>
            <a:r>
              <a:rPr lang="en-US" sz="100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EXISTS </a:t>
            </a:r>
            <a:r>
              <a:rPr lang="en-US" sz="1000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les </a:t>
            </a:r>
            <a:r>
              <a:rPr lang="en-US" sz="100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semi-joins </a:t>
            </a:r>
            <a:r>
              <a:rPr lang="en-US" sz="1000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lorsque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c'est possible pour éviter les produits cartésiens coûteux.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98656" y="2821781"/>
            <a:ext cx="3405188" cy="579438"/>
          </a:xfrm>
          <a:custGeom>
            <a:avLst/>
            <a:gdLst/>
            <a:ahLst/>
            <a:cxnLst/>
            <a:rect l="l" t="t" r="r" b="b"/>
            <a:pathLst>
              <a:path w="3405188" h="579438">
                <a:moveTo>
                  <a:pt x="63501" y="0"/>
                </a:moveTo>
                <a:lnTo>
                  <a:pt x="3341687" y="0"/>
                </a:lnTo>
                <a:cubicBezTo>
                  <a:pt x="3376757" y="0"/>
                  <a:pt x="3405187" y="28430"/>
                  <a:pt x="3405187" y="63501"/>
                </a:cubicBezTo>
                <a:lnTo>
                  <a:pt x="3405188" y="515937"/>
                </a:lnTo>
                <a:cubicBezTo>
                  <a:pt x="3405187" y="551007"/>
                  <a:pt x="3376757" y="579437"/>
                  <a:pt x="3341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397875" y="2921000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À éviter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97875" y="3143250"/>
            <a:ext cx="1888505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JOIN sur sous-requête complexe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98656" y="3472656"/>
            <a:ext cx="3405188" cy="579438"/>
          </a:xfrm>
          <a:custGeom>
            <a:avLst/>
            <a:gdLst/>
            <a:ahLst/>
            <a:cxnLst/>
            <a:rect l="l" t="t" r="r" b="b"/>
            <a:pathLst>
              <a:path w="3405188" h="579438">
                <a:moveTo>
                  <a:pt x="63501" y="0"/>
                </a:moveTo>
                <a:lnTo>
                  <a:pt x="3341687" y="0"/>
                </a:lnTo>
                <a:cubicBezTo>
                  <a:pt x="3376757" y="0"/>
                  <a:pt x="3405187" y="28430"/>
                  <a:pt x="3405187" y="63501"/>
                </a:cubicBezTo>
                <a:lnTo>
                  <a:pt x="3405188" y="515937"/>
                </a:lnTo>
                <a:cubicBezTo>
                  <a:pt x="3405187" y="551007"/>
                  <a:pt x="3376757" y="579437"/>
                  <a:pt x="3341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397875" y="3571875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✅ Recommandé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97875" y="3794125"/>
            <a:ext cx="1949648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EXISTS (SELECT 1 FROM...)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1469" y="4385469"/>
            <a:ext cx="3738563" cy="2071688"/>
          </a:xfrm>
          <a:custGeom>
            <a:avLst/>
            <a:gdLst/>
            <a:ahLst/>
            <a:cxnLst/>
            <a:rect l="l" t="t" r="r" b="b"/>
            <a:pathLst>
              <a:path w="3738563" h="2071688">
                <a:moveTo>
                  <a:pt x="126994" y="0"/>
                </a:moveTo>
                <a:lnTo>
                  <a:pt x="3611568" y="0"/>
                </a:lnTo>
                <a:cubicBezTo>
                  <a:pt x="3681705" y="0"/>
                  <a:pt x="3738563" y="56857"/>
                  <a:pt x="3738563" y="126994"/>
                </a:cubicBezTo>
                <a:lnTo>
                  <a:pt x="3738563" y="1944693"/>
                </a:lnTo>
                <a:cubicBezTo>
                  <a:pt x="3738563" y="2014830"/>
                  <a:pt x="3681705" y="2071688"/>
                  <a:pt x="3611568" y="2071687"/>
                </a:cubicBezTo>
                <a:lnTo>
                  <a:pt x="126994" y="2071688"/>
                </a:lnTo>
                <a:cubicBezTo>
                  <a:pt x="56857" y="2071687"/>
                  <a:pt x="0" y="2014830"/>
                  <a:pt x="0" y="1944693"/>
                </a:cubicBezTo>
                <a:lnTo>
                  <a:pt x="0" y="126994"/>
                </a:lnTo>
                <a:cubicBezTo>
                  <a:pt x="0" y="56904"/>
                  <a:pt x="56904" y="0"/>
                  <a:pt x="12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2D00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84187" y="4548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85391" y="46593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60438" y="4627563"/>
            <a:ext cx="20240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CTE &amp; Vues Matérialisées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4187" y="5024438"/>
            <a:ext cx="34766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Utilisez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les </a:t>
            </a: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CTE 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la lisibilité, et les </a:t>
            </a:r>
            <a:r>
              <a:rPr lang="en-US" sz="1000" b="1" dirty="0" err="1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vues</a:t>
            </a: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000" b="1" dirty="0" err="1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matérialisées</a:t>
            </a: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pré-calculer les agrégations lourdes fréquemment utilisées.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8156" y="5742781"/>
            <a:ext cx="3405188" cy="547688"/>
          </a:xfrm>
          <a:custGeom>
            <a:avLst/>
            <a:gdLst/>
            <a:ahLst/>
            <a:cxnLst/>
            <a:rect l="l" t="t" r="r" b="b"/>
            <a:pathLst>
              <a:path w="3405188" h="547688">
                <a:moveTo>
                  <a:pt x="63499" y="0"/>
                </a:moveTo>
                <a:lnTo>
                  <a:pt x="3341689" y="0"/>
                </a:lnTo>
                <a:cubicBezTo>
                  <a:pt x="3376758" y="0"/>
                  <a:pt x="3405188" y="28429"/>
                  <a:pt x="3405188" y="63499"/>
                </a:cubicBezTo>
                <a:lnTo>
                  <a:pt x="3405188" y="484189"/>
                </a:lnTo>
                <a:cubicBezTo>
                  <a:pt x="3405188" y="519258"/>
                  <a:pt x="3376758" y="547688"/>
                  <a:pt x="3341689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87375" y="5842000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 Conseil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7375" y="6032500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vues matérialisées se mettent à jour automatiquement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26719" y="4385469"/>
            <a:ext cx="3738563" cy="2071688"/>
          </a:xfrm>
          <a:custGeom>
            <a:avLst/>
            <a:gdLst/>
            <a:ahLst/>
            <a:cxnLst/>
            <a:rect l="l" t="t" r="r" b="b"/>
            <a:pathLst>
              <a:path w="3738563" h="2071688">
                <a:moveTo>
                  <a:pt x="126994" y="0"/>
                </a:moveTo>
                <a:lnTo>
                  <a:pt x="3611568" y="0"/>
                </a:lnTo>
                <a:cubicBezTo>
                  <a:pt x="3681705" y="0"/>
                  <a:pt x="3738563" y="56857"/>
                  <a:pt x="3738563" y="126994"/>
                </a:cubicBezTo>
                <a:lnTo>
                  <a:pt x="3738563" y="1944693"/>
                </a:lnTo>
                <a:cubicBezTo>
                  <a:pt x="3738563" y="2014830"/>
                  <a:pt x="3681705" y="2071688"/>
                  <a:pt x="3611568" y="2071687"/>
                </a:cubicBezTo>
                <a:lnTo>
                  <a:pt x="126994" y="2071688"/>
                </a:lnTo>
                <a:cubicBezTo>
                  <a:pt x="56857" y="2071687"/>
                  <a:pt x="0" y="2014830"/>
                  <a:pt x="0" y="1944693"/>
                </a:cubicBezTo>
                <a:lnTo>
                  <a:pt x="0" y="126994"/>
                </a:lnTo>
                <a:cubicBezTo>
                  <a:pt x="0" y="56904"/>
                  <a:pt x="56904" y="0"/>
                  <a:pt x="12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60000"/>
                </a:srgbClr>
              </a:gs>
              <a:gs pos="100000">
                <a:srgbClr val="005F78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4389438" y="4548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500563" y="4659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865688" y="4627563"/>
            <a:ext cx="143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Plans d'Exécution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389438" y="5024438"/>
            <a:ext cx="34766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Analysez </a:t>
            </a:r>
            <a:r>
              <a:rPr lang="en-US" sz="1000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systématiquement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 </a:t>
            </a:r>
            <a:r>
              <a:rPr lang="en-US" sz="10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 Plan </a:t>
            </a: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repérer les Full Table Scans et les opérations de tri (sort) gourmandes en mémoire.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93406" y="5742781"/>
            <a:ext cx="3405188" cy="547688"/>
          </a:xfrm>
          <a:custGeom>
            <a:avLst/>
            <a:gdLst/>
            <a:ahLst/>
            <a:cxnLst/>
            <a:rect l="l" t="t" r="r" b="b"/>
            <a:pathLst>
              <a:path w="3405188" h="547688">
                <a:moveTo>
                  <a:pt x="63499" y="0"/>
                </a:moveTo>
                <a:lnTo>
                  <a:pt x="3341689" y="0"/>
                </a:lnTo>
                <a:cubicBezTo>
                  <a:pt x="3376758" y="0"/>
                  <a:pt x="3405188" y="28429"/>
                  <a:pt x="3405188" y="63499"/>
                </a:cubicBezTo>
                <a:lnTo>
                  <a:pt x="3405188" y="484189"/>
                </a:lnTo>
                <a:cubicBezTo>
                  <a:pt x="3405188" y="519258"/>
                  <a:pt x="3376758" y="547688"/>
                  <a:pt x="3341689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53345">
              <a:alpha val="6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492625" y="5842000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 Conseil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92625" y="6032500"/>
            <a:ext cx="326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 ANALYZE pour comprendre le plan d'exécution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31969" y="4385469"/>
            <a:ext cx="3738563" cy="2071688"/>
          </a:xfrm>
          <a:custGeom>
            <a:avLst/>
            <a:gdLst/>
            <a:ahLst/>
            <a:cxnLst/>
            <a:rect l="l" t="t" r="r" b="b"/>
            <a:pathLst>
              <a:path w="3738563" h="2071688">
                <a:moveTo>
                  <a:pt x="126994" y="0"/>
                </a:moveTo>
                <a:lnTo>
                  <a:pt x="3611568" y="0"/>
                </a:lnTo>
                <a:cubicBezTo>
                  <a:pt x="3681705" y="0"/>
                  <a:pt x="3738563" y="56857"/>
                  <a:pt x="3738563" y="126994"/>
                </a:cubicBezTo>
                <a:lnTo>
                  <a:pt x="3738563" y="1944693"/>
                </a:lnTo>
                <a:cubicBezTo>
                  <a:pt x="3738563" y="2014830"/>
                  <a:pt x="3681705" y="2071688"/>
                  <a:pt x="3611568" y="2071687"/>
                </a:cubicBezTo>
                <a:lnTo>
                  <a:pt x="126994" y="2071688"/>
                </a:lnTo>
                <a:cubicBezTo>
                  <a:pt x="56857" y="2071687"/>
                  <a:pt x="0" y="2014830"/>
                  <a:pt x="0" y="1944693"/>
                </a:cubicBezTo>
                <a:lnTo>
                  <a:pt x="0" y="126994"/>
                </a:lnTo>
                <a:cubicBezTo>
                  <a:pt x="0" y="56904"/>
                  <a:pt x="56904" y="0"/>
                  <a:pt x="126994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60000"/>
                </a:srgbClr>
              </a:gs>
              <a:gs pos="100000">
                <a:srgbClr val="9F0712">
                  <a:alpha val="40000"/>
                </a:srgbClr>
              </a:gs>
            </a:gsLst>
            <a:lin ang="2700000" scaled="1"/>
          </a:gradFill>
          <a:ln w="12700">
            <a:solidFill>
              <a:srgbClr val="FB2C36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683750" y="470693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467"/>
              </a:gs>
              <a:gs pos="100000">
                <a:srgbClr val="FF690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899055" y="4905375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57572" y="-4604"/>
                </a:moveTo>
                <a:cubicBezTo>
                  <a:pt x="163106" y="-605"/>
                  <a:pt x="165153" y="6651"/>
                  <a:pt x="162641" y="12976"/>
                </a:cubicBezTo>
                <a:lnTo>
                  <a:pt x="126178" y="104180"/>
                </a:lnTo>
                <a:lnTo>
                  <a:pt x="193477" y="104180"/>
                </a:lnTo>
                <a:cubicBezTo>
                  <a:pt x="199755" y="104180"/>
                  <a:pt x="205336" y="108086"/>
                  <a:pt x="207476" y="113993"/>
                </a:cubicBezTo>
                <a:cubicBezTo>
                  <a:pt x="209615" y="119900"/>
                  <a:pt x="207801" y="126504"/>
                  <a:pt x="203011" y="130504"/>
                </a:cubicBezTo>
                <a:lnTo>
                  <a:pt x="69066" y="242125"/>
                </a:lnTo>
                <a:cubicBezTo>
                  <a:pt x="63810" y="246497"/>
                  <a:pt x="56322" y="246729"/>
                  <a:pt x="50788" y="242729"/>
                </a:cubicBezTo>
                <a:cubicBezTo>
                  <a:pt x="45253" y="238730"/>
                  <a:pt x="43207" y="231474"/>
                  <a:pt x="45718" y="225149"/>
                </a:cubicBezTo>
                <a:lnTo>
                  <a:pt x="82181" y="133945"/>
                </a:lnTo>
                <a:lnTo>
                  <a:pt x="14883" y="133945"/>
                </a:lnTo>
                <a:cubicBezTo>
                  <a:pt x="8604" y="133945"/>
                  <a:pt x="3023" y="130039"/>
                  <a:pt x="884" y="124132"/>
                </a:cubicBezTo>
                <a:cubicBezTo>
                  <a:pt x="-1256" y="118225"/>
                  <a:pt x="558" y="111621"/>
                  <a:pt x="5349" y="107621"/>
                </a:cubicBezTo>
                <a:lnTo>
                  <a:pt x="139294" y="-4000"/>
                </a:lnTo>
                <a:cubicBezTo>
                  <a:pt x="144549" y="-8372"/>
                  <a:pt x="152037" y="-8604"/>
                  <a:pt x="157572" y="-460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8247062" y="5437188"/>
            <a:ext cx="3508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Techniques Clés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62938" y="5754688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 requêtes optimisées accélèrent les résultats et réduisent les coûts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>
            <a:extLst>
              <a:ext uri="{FF2B5EF4-FFF2-40B4-BE49-F238E27FC236}">
                <a16:creationId xmlns:a16="http://schemas.microsoft.com/office/drawing/2014/main" id="{E5C72BD3-CDB8-DF34-8270-6C1D1570BF39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5872" y="449634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Optimisations Snowflake &amp; BigQuery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872" y="893863"/>
            <a:ext cx="1157807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Leviers de performance spécifiques aux architectures cloud natives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196" y="1422400"/>
            <a:ext cx="5637719" cy="4894094"/>
          </a:xfrm>
          <a:custGeom>
            <a:avLst/>
            <a:gdLst/>
            <a:ahLst/>
            <a:cxnLst/>
            <a:rect l="l" t="t" r="r" b="b"/>
            <a:pathLst>
              <a:path w="5637719" h="4894094">
                <a:moveTo>
                  <a:pt x="138356" y="0"/>
                </a:moveTo>
                <a:lnTo>
                  <a:pt x="5499363" y="0"/>
                </a:lnTo>
                <a:cubicBezTo>
                  <a:pt x="5575775" y="0"/>
                  <a:pt x="5637719" y="61944"/>
                  <a:pt x="5637719" y="138356"/>
                </a:cubicBezTo>
                <a:lnTo>
                  <a:pt x="5637719" y="4755738"/>
                </a:lnTo>
                <a:cubicBezTo>
                  <a:pt x="5637719" y="4832150"/>
                  <a:pt x="5575775" y="4894094"/>
                  <a:pt x="5499363" y="4894094"/>
                </a:cubicBezTo>
                <a:lnTo>
                  <a:pt x="138356" y="4894094"/>
                </a:lnTo>
                <a:cubicBezTo>
                  <a:pt x="61944" y="4894094"/>
                  <a:pt x="0" y="4832150"/>
                  <a:pt x="0" y="4755738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27455" y="1599660"/>
            <a:ext cx="484221" cy="484221"/>
          </a:xfrm>
          <a:custGeom>
            <a:avLst/>
            <a:gdLst/>
            <a:ahLst/>
            <a:cxnLst/>
            <a:rect l="l" t="t" r="r" b="b"/>
            <a:pathLst>
              <a:path w="484221" h="484221">
                <a:moveTo>
                  <a:pt x="103764" y="0"/>
                </a:moveTo>
                <a:lnTo>
                  <a:pt x="380457" y="0"/>
                </a:lnTo>
                <a:cubicBezTo>
                  <a:pt x="437765" y="0"/>
                  <a:pt x="484221" y="46457"/>
                  <a:pt x="484221" y="103764"/>
                </a:cubicBezTo>
                <a:lnTo>
                  <a:pt x="484221" y="380457"/>
                </a:lnTo>
                <a:cubicBezTo>
                  <a:pt x="484221" y="437765"/>
                  <a:pt x="437765" y="484221"/>
                  <a:pt x="380457" y="484221"/>
                </a:cubicBezTo>
                <a:lnTo>
                  <a:pt x="103764" y="484221"/>
                </a:lnTo>
                <a:cubicBezTo>
                  <a:pt x="46457" y="484221"/>
                  <a:pt x="0" y="437765"/>
                  <a:pt x="0" y="380457"/>
                </a:cubicBezTo>
                <a:lnTo>
                  <a:pt x="0" y="103764"/>
                </a:lnTo>
                <a:cubicBezTo>
                  <a:pt x="0" y="46457"/>
                  <a:pt x="46457" y="0"/>
                  <a:pt x="103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5804" y="1738009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116813" y="0"/>
                </a:moveTo>
                <a:cubicBezTo>
                  <a:pt x="116813" y="-7174"/>
                  <a:pt x="111017" y="-12970"/>
                  <a:pt x="103843" y="-12970"/>
                </a:cubicBezTo>
                <a:cubicBezTo>
                  <a:pt x="96669" y="-12970"/>
                  <a:pt x="90873" y="-7174"/>
                  <a:pt x="90873" y="0"/>
                </a:cubicBezTo>
                <a:lnTo>
                  <a:pt x="90873" y="25170"/>
                </a:lnTo>
                <a:lnTo>
                  <a:pt x="84793" y="19091"/>
                </a:lnTo>
                <a:cubicBezTo>
                  <a:pt x="80983" y="15281"/>
                  <a:pt x="74822" y="15281"/>
                  <a:pt x="71052" y="19091"/>
                </a:cubicBezTo>
                <a:cubicBezTo>
                  <a:pt x="67283" y="22901"/>
                  <a:pt x="67242" y="29061"/>
                  <a:pt x="71052" y="32831"/>
                </a:cubicBezTo>
                <a:lnTo>
                  <a:pt x="90913" y="52691"/>
                </a:lnTo>
                <a:lnTo>
                  <a:pt x="90913" y="81307"/>
                </a:lnTo>
                <a:lnTo>
                  <a:pt x="66108" y="66999"/>
                </a:lnTo>
                <a:lnTo>
                  <a:pt x="58852" y="39883"/>
                </a:lnTo>
                <a:cubicBezTo>
                  <a:pt x="57474" y="34695"/>
                  <a:pt x="52124" y="31615"/>
                  <a:pt x="46936" y="32993"/>
                </a:cubicBezTo>
                <a:cubicBezTo>
                  <a:pt x="41748" y="34371"/>
                  <a:pt x="38627" y="39721"/>
                  <a:pt x="40005" y="44909"/>
                </a:cubicBezTo>
                <a:lnTo>
                  <a:pt x="42234" y="53218"/>
                </a:lnTo>
                <a:lnTo>
                  <a:pt x="20469" y="40654"/>
                </a:lnTo>
                <a:cubicBezTo>
                  <a:pt x="14267" y="37087"/>
                  <a:pt x="6323" y="39194"/>
                  <a:pt x="2756" y="45396"/>
                </a:cubicBezTo>
                <a:cubicBezTo>
                  <a:pt x="-811" y="51597"/>
                  <a:pt x="1297" y="59541"/>
                  <a:pt x="7498" y="63108"/>
                </a:cubicBezTo>
                <a:lnTo>
                  <a:pt x="29264" y="75673"/>
                </a:lnTo>
                <a:lnTo>
                  <a:pt x="20955" y="77902"/>
                </a:lnTo>
                <a:cubicBezTo>
                  <a:pt x="15767" y="79280"/>
                  <a:pt x="12686" y="84631"/>
                  <a:pt x="14065" y="89819"/>
                </a:cubicBezTo>
                <a:cubicBezTo>
                  <a:pt x="15443" y="95007"/>
                  <a:pt x="20793" y="98087"/>
                  <a:pt x="25981" y="96709"/>
                </a:cubicBezTo>
                <a:lnTo>
                  <a:pt x="53097" y="89454"/>
                </a:lnTo>
                <a:lnTo>
                  <a:pt x="77902" y="103762"/>
                </a:lnTo>
                <a:lnTo>
                  <a:pt x="53097" y="118069"/>
                </a:lnTo>
                <a:lnTo>
                  <a:pt x="25981" y="110814"/>
                </a:lnTo>
                <a:cubicBezTo>
                  <a:pt x="20793" y="109436"/>
                  <a:pt x="15443" y="112517"/>
                  <a:pt x="14065" y="117705"/>
                </a:cubicBezTo>
                <a:cubicBezTo>
                  <a:pt x="12686" y="122893"/>
                  <a:pt x="15767" y="128243"/>
                  <a:pt x="20955" y="129621"/>
                </a:cubicBezTo>
                <a:lnTo>
                  <a:pt x="29264" y="131850"/>
                </a:lnTo>
                <a:lnTo>
                  <a:pt x="7498" y="144415"/>
                </a:lnTo>
                <a:cubicBezTo>
                  <a:pt x="1297" y="147982"/>
                  <a:pt x="-811" y="155926"/>
                  <a:pt x="2756" y="162128"/>
                </a:cubicBezTo>
                <a:cubicBezTo>
                  <a:pt x="6323" y="168329"/>
                  <a:pt x="14267" y="170477"/>
                  <a:pt x="20469" y="166870"/>
                </a:cubicBezTo>
                <a:lnTo>
                  <a:pt x="42234" y="154305"/>
                </a:lnTo>
                <a:lnTo>
                  <a:pt x="40005" y="162614"/>
                </a:lnTo>
                <a:cubicBezTo>
                  <a:pt x="38627" y="167802"/>
                  <a:pt x="41707" y="173152"/>
                  <a:pt x="46895" y="174530"/>
                </a:cubicBezTo>
                <a:cubicBezTo>
                  <a:pt x="52084" y="175909"/>
                  <a:pt x="57434" y="172828"/>
                  <a:pt x="58812" y="167640"/>
                </a:cubicBezTo>
                <a:lnTo>
                  <a:pt x="66067" y="140524"/>
                </a:lnTo>
                <a:lnTo>
                  <a:pt x="90873" y="126216"/>
                </a:lnTo>
                <a:lnTo>
                  <a:pt x="90873" y="154832"/>
                </a:lnTo>
                <a:lnTo>
                  <a:pt x="71012" y="174693"/>
                </a:lnTo>
                <a:cubicBezTo>
                  <a:pt x="67202" y="178503"/>
                  <a:pt x="67202" y="184663"/>
                  <a:pt x="71012" y="188433"/>
                </a:cubicBezTo>
                <a:cubicBezTo>
                  <a:pt x="74822" y="192202"/>
                  <a:pt x="80983" y="192243"/>
                  <a:pt x="84752" y="188433"/>
                </a:cubicBezTo>
                <a:lnTo>
                  <a:pt x="90832" y="182353"/>
                </a:lnTo>
                <a:lnTo>
                  <a:pt x="90832" y="207523"/>
                </a:lnTo>
                <a:cubicBezTo>
                  <a:pt x="90832" y="214698"/>
                  <a:pt x="96628" y="220494"/>
                  <a:pt x="103802" y="220494"/>
                </a:cubicBezTo>
                <a:cubicBezTo>
                  <a:pt x="110976" y="220494"/>
                  <a:pt x="116772" y="214698"/>
                  <a:pt x="116772" y="207523"/>
                </a:cubicBezTo>
                <a:lnTo>
                  <a:pt x="116772" y="182353"/>
                </a:lnTo>
                <a:lnTo>
                  <a:pt x="122852" y="188433"/>
                </a:lnTo>
                <a:cubicBezTo>
                  <a:pt x="126662" y="192243"/>
                  <a:pt x="132823" y="192243"/>
                  <a:pt x="136593" y="188433"/>
                </a:cubicBezTo>
                <a:cubicBezTo>
                  <a:pt x="140362" y="184623"/>
                  <a:pt x="140403" y="178462"/>
                  <a:pt x="136593" y="174693"/>
                </a:cubicBezTo>
                <a:lnTo>
                  <a:pt x="116732" y="154832"/>
                </a:lnTo>
                <a:lnTo>
                  <a:pt x="116732" y="126216"/>
                </a:lnTo>
                <a:lnTo>
                  <a:pt x="141537" y="140524"/>
                </a:lnTo>
                <a:lnTo>
                  <a:pt x="148793" y="167640"/>
                </a:lnTo>
                <a:cubicBezTo>
                  <a:pt x="150171" y="172828"/>
                  <a:pt x="155521" y="175909"/>
                  <a:pt x="160709" y="174530"/>
                </a:cubicBezTo>
                <a:cubicBezTo>
                  <a:pt x="165897" y="173152"/>
                  <a:pt x="168978" y="167802"/>
                  <a:pt x="167599" y="162614"/>
                </a:cubicBezTo>
                <a:lnTo>
                  <a:pt x="165370" y="154305"/>
                </a:lnTo>
                <a:lnTo>
                  <a:pt x="187136" y="166870"/>
                </a:lnTo>
                <a:cubicBezTo>
                  <a:pt x="193337" y="170437"/>
                  <a:pt x="201281" y="168329"/>
                  <a:pt x="204848" y="162128"/>
                </a:cubicBezTo>
                <a:cubicBezTo>
                  <a:pt x="208415" y="155926"/>
                  <a:pt x="206307" y="147982"/>
                  <a:pt x="200106" y="144415"/>
                </a:cubicBezTo>
                <a:lnTo>
                  <a:pt x="178340" y="131850"/>
                </a:lnTo>
                <a:lnTo>
                  <a:pt x="186649" y="129621"/>
                </a:lnTo>
                <a:cubicBezTo>
                  <a:pt x="191838" y="128243"/>
                  <a:pt x="194918" y="122893"/>
                  <a:pt x="193540" y="117705"/>
                </a:cubicBezTo>
                <a:cubicBezTo>
                  <a:pt x="192162" y="112517"/>
                  <a:pt x="186812" y="109436"/>
                  <a:pt x="181624" y="110814"/>
                </a:cubicBezTo>
                <a:lnTo>
                  <a:pt x="154508" y="118069"/>
                </a:lnTo>
                <a:lnTo>
                  <a:pt x="129702" y="103762"/>
                </a:lnTo>
                <a:lnTo>
                  <a:pt x="154508" y="89454"/>
                </a:lnTo>
                <a:lnTo>
                  <a:pt x="181624" y="96709"/>
                </a:lnTo>
                <a:cubicBezTo>
                  <a:pt x="186812" y="98087"/>
                  <a:pt x="192162" y="95007"/>
                  <a:pt x="193540" y="89819"/>
                </a:cubicBezTo>
                <a:cubicBezTo>
                  <a:pt x="194918" y="84631"/>
                  <a:pt x="191838" y="79280"/>
                  <a:pt x="186649" y="77902"/>
                </a:cubicBezTo>
                <a:lnTo>
                  <a:pt x="178340" y="75673"/>
                </a:lnTo>
                <a:lnTo>
                  <a:pt x="200106" y="63108"/>
                </a:lnTo>
                <a:cubicBezTo>
                  <a:pt x="206307" y="59541"/>
                  <a:pt x="208456" y="51597"/>
                  <a:pt x="204848" y="45396"/>
                </a:cubicBezTo>
                <a:cubicBezTo>
                  <a:pt x="201241" y="39194"/>
                  <a:pt x="193337" y="37087"/>
                  <a:pt x="187136" y="40654"/>
                </a:cubicBezTo>
                <a:lnTo>
                  <a:pt x="165370" y="53218"/>
                </a:lnTo>
                <a:lnTo>
                  <a:pt x="167599" y="44909"/>
                </a:lnTo>
                <a:cubicBezTo>
                  <a:pt x="168978" y="39721"/>
                  <a:pt x="165897" y="34371"/>
                  <a:pt x="160709" y="32993"/>
                </a:cubicBezTo>
                <a:cubicBezTo>
                  <a:pt x="155521" y="31615"/>
                  <a:pt x="150171" y="34695"/>
                  <a:pt x="148793" y="39883"/>
                </a:cubicBezTo>
                <a:lnTo>
                  <a:pt x="141537" y="66999"/>
                </a:lnTo>
                <a:lnTo>
                  <a:pt x="116732" y="81307"/>
                </a:lnTo>
                <a:lnTo>
                  <a:pt x="116732" y="52691"/>
                </a:lnTo>
                <a:lnTo>
                  <a:pt x="136593" y="32831"/>
                </a:lnTo>
                <a:cubicBezTo>
                  <a:pt x="140403" y="29021"/>
                  <a:pt x="140403" y="22860"/>
                  <a:pt x="136593" y="19091"/>
                </a:cubicBezTo>
                <a:cubicBezTo>
                  <a:pt x="132783" y="15321"/>
                  <a:pt x="126622" y="15281"/>
                  <a:pt x="122852" y="19091"/>
                </a:cubicBezTo>
                <a:lnTo>
                  <a:pt x="116772" y="25170"/>
                </a:lnTo>
                <a:lnTo>
                  <a:pt x="116772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50026" y="1703421"/>
            <a:ext cx="1132732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1779" y="2226553"/>
            <a:ext cx="5274553" cy="994383"/>
          </a:xfrm>
          <a:custGeom>
            <a:avLst/>
            <a:gdLst/>
            <a:ahLst/>
            <a:cxnLst/>
            <a:rect l="l" t="t" r="r" b="b"/>
            <a:pathLst>
              <a:path w="5274553" h="994383">
                <a:moveTo>
                  <a:pt x="103764" y="0"/>
                </a:moveTo>
                <a:lnTo>
                  <a:pt x="5170789" y="0"/>
                </a:lnTo>
                <a:cubicBezTo>
                  <a:pt x="5228097" y="0"/>
                  <a:pt x="5274553" y="46457"/>
                  <a:pt x="5274553" y="103764"/>
                </a:cubicBezTo>
                <a:lnTo>
                  <a:pt x="5274553" y="890619"/>
                </a:lnTo>
                <a:cubicBezTo>
                  <a:pt x="5274553" y="947926"/>
                  <a:pt x="5228097" y="994383"/>
                  <a:pt x="5170789" y="994383"/>
                </a:cubicBezTo>
                <a:lnTo>
                  <a:pt x="103764" y="994383"/>
                </a:lnTo>
                <a:cubicBezTo>
                  <a:pt x="46457" y="994383"/>
                  <a:pt x="0" y="947926"/>
                  <a:pt x="0" y="890619"/>
                </a:cubicBezTo>
                <a:lnTo>
                  <a:pt x="0" y="103764"/>
                </a:lnTo>
                <a:cubicBezTo>
                  <a:pt x="0" y="46495"/>
                  <a:pt x="46495" y="0"/>
                  <a:pt x="103764" y="0"/>
                </a:cubicBezTo>
                <a:close/>
              </a:path>
            </a:pathLst>
          </a:custGeom>
          <a:solidFill>
            <a:srgbClr val="053345">
              <a:alpha val="6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96068" y="2403813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64851" y="21617"/>
                </a:moveTo>
                <a:cubicBezTo>
                  <a:pt x="64851" y="15639"/>
                  <a:pt x="69681" y="10809"/>
                  <a:pt x="75660" y="10809"/>
                </a:cubicBezTo>
                <a:lnTo>
                  <a:pt x="97277" y="10809"/>
                </a:lnTo>
                <a:cubicBezTo>
                  <a:pt x="103255" y="10809"/>
                  <a:pt x="108085" y="15639"/>
                  <a:pt x="108085" y="21617"/>
                </a:cubicBezTo>
                <a:lnTo>
                  <a:pt x="108085" y="43234"/>
                </a:lnTo>
                <a:cubicBezTo>
                  <a:pt x="108085" y="49212"/>
                  <a:pt x="103255" y="54043"/>
                  <a:pt x="97277" y="54043"/>
                </a:cubicBezTo>
                <a:lnTo>
                  <a:pt x="94574" y="54043"/>
                </a:lnTo>
                <a:lnTo>
                  <a:pt x="94574" y="75660"/>
                </a:lnTo>
                <a:lnTo>
                  <a:pt x="135106" y="75660"/>
                </a:lnTo>
                <a:cubicBezTo>
                  <a:pt x="148549" y="75660"/>
                  <a:pt x="159426" y="86536"/>
                  <a:pt x="159426" y="99979"/>
                </a:cubicBezTo>
                <a:lnTo>
                  <a:pt x="159426" y="118894"/>
                </a:lnTo>
                <a:lnTo>
                  <a:pt x="162128" y="118894"/>
                </a:lnTo>
                <a:cubicBezTo>
                  <a:pt x="168106" y="118894"/>
                  <a:pt x="172936" y="123724"/>
                  <a:pt x="172936" y="129702"/>
                </a:cubicBezTo>
                <a:lnTo>
                  <a:pt x="172936" y="151319"/>
                </a:lnTo>
                <a:cubicBezTo>
                  <a:pt x="172936" y="157298"/>
                  <a:pt x="168106" y="162128"/>
                  <a:pt x="162128" y="162128"/>
                </a:cubicBezTo>
                <a:lnTo>
                  <a:pt x="140511" y="162128"/>
                </a:lnTo>
                <a:cubicBezTo>
                  <a:pt x="134532" y="162128"/>
                  <a:pt x="129702" y="157298"/>
                  <a:pt x="129702" y="151319"/>
                </a:cubicBezTo>
                <a:lnTo>
                  <a:pt x="129702" y="129702"/>
                </a:lnTo>
                <a:cubicBezTo>
                  <a:pt x="129702" y="123724"/>
                  <a:pt x="134532" y="118894"/>
                  <a:pt x="140511" y="118894"/>
                </a:cubicBezTo>
                <a:lnTo>
                  <a:pt x="143213" y="118894"/>
                </a:lnTo>
                <a:lnTo>
                  <a:pt x="143213" y="99979"/>
                </a:lnTo>
                <a:cubicBezTo>
                  <a:pt x="143213" y="95486"/>
                  <a:pt x="139599" y="91872"/>
                  <a:pt x="135106" y="91872"/>
                </a:cubicBezTo>
                <a:lnTo>
                  <a:pt x="94574" y="91872"/>
                </a:lnTo>
                <a:lnTo>
                  <a:pt x="94574" y="118894"/>
                </a:lnTo>
                <a:lnTo>
                  <a:pt x="97277" y="118894"/>
                </a:lnTo>
                <a:cubicBezTo>
                  <a:pt x="103255" y="118894"/>
                  <a:pt x="108085" y="123724"/>
                  <a:pt x="108085" y="129702"/>
                </a:cubicBezTo>
                <a:lnTo>
                  <a:pt x="108085" y="151319"/>
                </a:lnTo>
                <a:cubicBezTo>
                  <a:pt x="108085" y="157298"/>
                  <a:pt x="103255" y="162128"/>
                  <a:pt x="97277" y="162128"/>
                </a:cubicBezTo>
                <a:lnTo>
                  <a:pt x="75660" y="162128"/>
                </a:lnTo>
                <a:cubicBezTo>
                  <a:pt x="69681" y="162128"/>
                  <a:pt x="64851" y="157298"/>
                  <a:pt x="64851" y="151319"/>
                </a:cubicBezTo>
                <a:lnTo>
                  <a:pt x="64851" y="129702"/>
                </a:lnTo>
                <a:cubicBezTo>
                  <a:pt x="64851" y="123724"/>
                  <a:pt x="69681" y="118894"/>
                  <a:pt x="75660" y="118894"/>
                </a:cubicBezTo>
                <a:lnTo>
                  <a:pt x="78362" y="118894"/>
                </a:lnTo>
                <a:lnTo>
                  <a:pt x="78362" y="91872"/>
                </a:lnTo>
                <a:lnTo>
                  <a:pt x="37830" y="91872"/>
                </a:lnTo>
                <a:cubicBezTo>
                  <a:pt x="33338" y="91872"/>
                  <a:pt x="29723" y="95486"/>
                  <a:pt x="29723" y="99979"/>
                </a:cubicBezTo>
                <a:lnTo>
                  <a:pt x="29723" y="118894"/>
                </a:lnTo>
                <a:lnTo>
                  <a:pt x="32426" y="118894"/>
                </a:lnTo>
                <a:cubicBezTo>
                  <a:pt x="38404" y="118894"/>
                  <a:pt x="43234" y="123724"/>
                  <a:pt x="43234" y="129702"/>
                </a:cubicBezTo>
                <a:lnTo>
                  <a:pt x="43234" y="151319"/>
                </a:lnTo>
                <a:cubicBezTo>
                  <a:pt x="43234" y="157298"/>
                  <a:pt x="38404" y="162128"/>
                  <a:pt x="32426" y="162128"/>
                </a:cubicBezTo>
                <a:lnTo>
                  <a:pt x="10809" y="162128"/>
                </a:lnTo>
                <a:cubicBezTo>
                  <a:pt x="4830" y="162128"/>
                  <a:pt x="0" y="157298"/>
                  <a:pt x="0" y="151319"/>
                </a:cubicBezTo>
                <a:lnTo>
                  <a:pt x="0" y="129702"/>
                </a:lnTo>
                <a:cubicBezTo>
                  <a:pt x="0" y="123724"/>
                  <a:pt x="4830" y="118894"/>
                  <a:pt x="10809" y="118894"/>
                </a:cubicBezTo>
                <a:lnTo>
                  <a:pt x="13511" y="118894"/>
                </a:lnTo>
                <a:lnTo>
                  <a:pt x="13511" y="99979"/>
                </a:lnTo>
                <a:cubicBezTo>
                  <a:pt x="13511" y="86536"/>
                  <a:pt x="24387" y="75660"/>
                  <a:pt x="37830" y="75660"/>
                </a:cubicBezTo>
                <a:lnTo>
                  <a:pt x="78362" y="75660"/>
                </a:lnTo>
                <a:lnTo>
                  <a:pt x="78362" y="54043"/>
                </a:lnTo>
                <a:lnTo>
                  <a:pt x="75660" y="54043"/>
                </a:lnTo>
                <a:cubicBezTo>
                  <a:pt x="69681" y="54043"/>
                  <a:pt x="64851" y="49212"/>
                  <a:pt x="64851" y="43234"/>
                </a:cubicBezTo>
                <a:lnTo>
                  <a:pt x="64851" y="21617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94383" y="2369226"/>
            <a:ext cx="1988766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Multi-Cluster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4451" y="2680511"/>
            <a:ext cx="5049736" cy="397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 Multi-Cluster pour gérer automatiquement la concurrence sans dégradation de performance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1779" y="3329021"/>
            <a:ext cx="5274553" cy="795506"/>
          </a:xfrm>
          <a:custGeom>
            <a:avLst/>
            <a:gdLst/>
            <a:ahLst/>
            <a:cxnLst/>
            <a:rect l="l" t="t" r="r" b="b"/>
            <a:pathLst>
              <a:path w="5274553" h="795506">
                <a:moveTo>
                  <a:pt x="103758" y="0"/>
                </a:moveTo>
                <a:lnTo>
                  <a:pt x="5170795" y="0"/>
                </a:lnTo>
                <a:cubicBezTo>
                  <a:pt x="5228099" y="0"/>
                  <a:pt x="5274553" y="46454"/>
                  <a:pt x="5274553" y="103758"/>
                </a:cubicBezTo>
                <a:lnTo>
                  <a:pt x="5274553" y="691748"/>
                </a:lnTo>
                <a:cubicBezTo>
                  <a:pt x="5274553" y="749052"/>
                  <a:pt x="5228099" y="795506"/>
                  <a:pt x="5170795" y="795506"/>
                </a:cubicBezTo>
                <a:lnTo>
                  <a:pt x="103758" y="795506"/>
                </a:lnTo>
                <a:cubicBezTo>
                  <a:pt x="46454" y="795506"/>
                  <a:pt x="0" y="749052"/>
                  <a:pt x="0" y="691748"/>
                </a:cubicBezTo>
                <a:lnTo>
                  <a:pt x="0" y="103758"/>
                </a:lnTo>
                <a:cubicBezTo>
                  <a:pt x="0" y="46454"/>
                  <a:pt x="46454" y="0"/>
                  <a:pt x="103758" y="0"/>
                </a:cubicBezTo>
                <a:close/>
              </a:path>
            </a:pathLst>
          </a:custGeom>
          <a:solidFill>
            <a:srgbClr val="053345">
              <a:alpha val="6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96068" y="3506281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147502" y="25231"/>
                </a:moveTo>
                <a:lnTo>
                  <a:pt x="151319" y="28845"/>
                </a:lnTo>
                <a:lnTo>
                  <a:pt x="151319" y="10809"/>
                </a:lnTo>
                <a:cubicBezTo>
                  <a:pt x="151319" y="4830"/>
                  <a:pt x="156149" y="0"/>
                  <a:pt x="162128" y="0"/>
                </a:cubicBezTo>
                <a:cubicBezTo>
                  <a:pt x="168106" y="0"/>
                  <a:pt x="172936" y="4830"/>
                  <a:pt x="172936" y="10809"/>
                </a:cubicBezTo>
                <a:lnTo>
                  <a:pt x="172936" y="54043"/>
                </a:lnTo>
                <a:cubicBezTo>
                  <a:pt x="172936" y="60021"/>
                  <a:pt x="168106" y="64851"/>
                  <a:pt x="162128" y="64851"/>
                </a:cubicBezTo>
                <a:lnTo>
                  <a:pt x="118894" y="64851"/>
                </a:lnTo>
                <a:cubicBezTo>
                  <a:pt x="112915" y="64851"/>
                  <a:pt x="108085" y="60021"/>
                  <a:pt x="108085" y="54043"/>
                </a:cubicBezTo>
                <a:cubicBezTo>
                  <a:pt x="108085" y="48064"/>
                  <a:pt x="112915" y="43234"/>
                  <a:pt x="118894" y="43234"/>
                </a:cubicBezTo>
                <a:lnTo>
                  <a:pt x="135073" y="43234"/>
                </a:lnTo>
                <a:lnTo>
                  <a:pt x="132506" y="40802"/>
                </a:lnTo>
                <a:cubicBezTo>
                  <a:pt x="132438" y="40735"/>
                  <a:pt x="132370" y="40667"/>
                  <a:pt x="132303" y="40599"/>
                </a:cubicBezTo>
                <a:cubicBezTo>
                  <a:pt x="106970" y="15267"/>
                  <a:pt x="65932" y="15267"/>
                  <a:pt x="40599" y="40599"/>
                </a:cubicBezTo>
                <a:cubicBezTo>
                  <a:pt x="15267" y="65932"/>
                  <a:pt x="15267" y="106970"/>
                  <a:pt x="40599" y="132303"/>
                </a:cubicBezTo>
                <a:cubicBezTo>
                  <a:pt x="65932" y="157635"/>
                  <a:pt x="106970" y="157635"/>
                  <a:pt x="132303" y="132303"/>
                </a:cubicBezTo>
                <a:cubicBezTo>
                  <a:pt x="135073" y="129533"/>
                  <a:pt x="137538" y="126595"/>
                  <a:pt x="139700" y="123487"/>
                </a:cubicBezTo>
                <a:cubicBezTo>
                  <a:pt x="143111" y="118590"/>
                  <a:pt x="149867" y="117407"/>
                  <a:pt x="154764" y="120819"/>
                </a:cubicBezTo>
                <a:cubicBezTo>
                  <a:pt x="159662" y="124230"/>
                  <a:pt x="160844" y="130986"/>
                  <a:pt x="157433" y="135883"/>
                </a:cubicBezTo>
                <a:cubicBezTo>
                  <a:pt x="154562" y="140004"/>
                  <a:pt x="151285" y="143922"/>
                  <a:pt x="147604" y="147604"/>
                </a:cubicBezTo>
                <a:cubicBezTo>
                  <a:pt x="113827" y="181380"/>
                  <a:pt x="59075" y="181380"/>
                  <a:pt x="25332" y="147604"/>
                </a:cubicBezTo>
                <a:cubicBezTo>
                  <a:pt x="-8410" y="113827"/>
                  <a:pt x="-8444" y="59109"/>
                  <a:pt x="25332" y="25332"/>
                </a:cubicBezTo>
                <a:cubicBezTo>
                  <a:pt x="59075" y="-8410"/>
                  <a:pt x="113726" y="-8444"/>
                  <a:pt x="147502" y="25231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94383" y="3471694"/>
            <a:ext cx="106355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 Cache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4451" y="3782979"/>
            <a:ext cx="5049736" cy="19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Réutilisation gratuite des résultats de requêtes identiques exécutées dans les dernières 24h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1779" y="4234774"/>
            <a:ext cx="5274553" cy="994383"/>
          </a:xfrm>
          <a:custGeom>
            <a:avLst/>
            <a:gdLst/>
            <a:ahLst/>
            <a:cxnLst/>
            <a:rect l="l" t="t" r="r" b="b"/>
            <a:pathLst>
              <a:path w="5274553" h="994383">
                <a:moveTo>
                  <a:pt x="103764" y="0"/>
                </a:moveTo>
                <a:lnTo>
                  <a:pt x="5170789" y="0"/>
                </a:lnTo>
                <a:cubicBezTo>
                  <a:pt x="5228097" y="0"/>
                  <a:pt x="5274553" y="46457"/>
                  <a:pt x="5274553" y="103764"/>
                </a:cubicBezTo>
                <a:lnTo>
                  <a:pt x="5274553" y="890619"/>
                </a:lnTo>
                <a:cubicBezTo>
                  <a:pt x="5274553" y="947926"/>
                  <a:pt x="5228097" y="994383"/>
                  <a:pt x="5170789" y="994383"/>
                </a:cubicBezTo>
                <a:lnTo>
                  <a:pt x="103764" y="994383"/>
                </a:lnTo>
                <a:cubicBezTo>
                  <a:pt x="46457" y="994383"/>
                  <a:pt x="0" y="947926"/>
                  <a:pt x="0" y="890619"/>
                </a:cubicBezTo>
                <a:lnTo>
                  <a:pt x="0" y="103764"/>
                </a:lnTo>
                <a:cubicBezTo>
                  <a:pt x="0" y="46495"/>
                  <a:pt x="46495" y="0"/>
                  <a:pt x="103764" y="0"/>
                </a:cubicBezTo>
                <a:close/>
              </a:path>
            </a:pathLst>
          </a:custGeom>
          <a:solidFill>
            <a:srgbClr val="053345">
              <a:alpha val="6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96068" y="4412034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97277" y="151319"/>
                </a:moveTo>
                <a:lnTo>
                  <a:pt x="21617" y="151319"/>
                </a:lnTo>
                <a:lnTo>
                  <a:pt x="21617" y="75660"/>
                </a:lnTo>
                <a:lnTo>
                  <a:pt x="37830" y="75660"/>
                </a:lnTo>
                <a:lnTo>
                  <a:pt x="37830" y="54043"/>
                </a:lnTo>
                <a:lnTo>
                  <a:pt x="21617" y="54043"/>
                </a:lnTo>
                <a:cubicBezTo>
                  <a:pt x="9694" y="54043"/>
                  <a:pt x="0" y="63736"/>
                  <a:pt x="0" y="75660"/>
                </a:cubicBezTo>
                <a:lnTo>
                  <a:pt x="0" y="151319"/>
                </a:lnTo>
                <a:cubicBezTo>
                  <a:pt x="0" y="163242"/>
                  <a:pt x="9694" y="172936"/>
                  <a:pt x="21617" y="172936"/>
                </a:cubicBezTo>
                <a:lnTo>
                  <a:pt x="97277" y="172936"/>
                </a:lnTo>
                <a:cubicBezTo>
                  <a:pt x="109200" y="172936"/>
                  <a:pt x="118894" y="163242"/>
                  <a:pt x="118894" y="151319"/>
                </a:cubicBezTo>
                <a:lnTo>
                  <a:pt x="118894" y="135106"/>
                </a:lnTo>
                <a:lnTo>
                  <a:pt x="97277" y="135106"/>
                </a:lnTo>
                <a:lnTo>
                  <a:pt x="97277" y="151319"/>
                </a:lnTo>
                <a:close/>
                <a:moveTo>
                  <a:pt x="75660" y="118894"/>
                </a:moveTo>
                <a:lnTo>
                  <a:pt x="151319" y="118894"/>
                </a:lnTo>
                <a:cubicBezTo>
                  <a:pt x="163242" y="118894"/>
                  <a:pt x="172936" y="109200"/>
                  <a:pt x="172936" y="97277"/>
                </a:cubicBezTo>
                <a:lnTo>
                  <a:pt x="172936" y="21617"/>
                </a:lnTo>
                <a:cubicBezTo>
                  <a:pt x="172936" y="9694"/>
                  <a:pt x="163242" y="0"/>
                  <a:pt x="151319" y="0"/>
                </a:cubicBezTo>
                <a:lnTo>
                  <a:pt x="75660" y="0"/>
                </a:lnTo>
                <a:cubicBezTo>
                  <a:pt x="63736" y="0"/>
                  <a:pt x="54043" y="9694"/>
                  <a:pt x="54043" y="21617"/>
                </a:cubicBezTo>
                <a:lnTo>
                  <a:pt x="54043" y="97277"/>
                </a:lnTo>
                <a:cubicBezTo>
                  <a:pt x="54043" y="109200"/>
                  <a:pt x="63736" y="118894"/>
                  <a:pt x="75660" y="118894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94383" y="4377447"/>
            <a:ext cx="145266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Zero-copy Cloning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4451" y="4688732"/>
            <a:ext cx="5049736" cy="397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Duplication instantanée d'environnements (Prod vers Dev/Test) sans coût de stockage supplémentaire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1779" y="5337243"/>
            <a:ext cx="5274553" cy="795506"/>
          </a:xfrm>
          <a:custGeom>
            <a:avLst/>
            <a:gdLst/>
            <a:ahLst/>
            <a:cxnLst/>
            <a:rect l="l" t="t" r="r" b="b"/>
            <a:pathLst>
              <a:path w="5274553" h="795506">
                <a:moveTo>
                  <a:pt x="103758" y="0"/>
                </a:moveTo>
                <a:lnTo>
                  <a:pt x="5170795" y="0"/>
                </a:lnTo>
                <a:cubicBezTo>
                  <a:pt x="5228099" y="0"/>
                  <a:pt x="5274553" y="46454"/>
                  <a:pt x="5274553" y="103758"/>
                </a:cubicBezTo>
                <a:lnTo>
                  <a:pt x="5274553" y="691748"/>
                </a:lnTo>
                <a:cubicBezTo>
                  <a:pt x="5274553" y="749052"/>
                  <a:pt x="5228099" y="795506"/>
                  <a:pt x="5170795" y="795506"/>
                </a:cubicBezTo>
                <a:lnTo>
                  <a:pt x="103758" y="795506"/>
                </a:lnTo>
                <a:cubicBezTo>
                  <a:pt x="46454" y="795506"/>
                  <a:pt x="0" y="749052"/>
                  <a:pt x="0" y="691748"/>
                </a:cubicBezTo>
                <a:lnTo>
                  <a:pt x="0" y="103758"/>
                </a:lnTo>
                <a:cubicBezTo>
                  <a:pt x="0" y="46454"/>
                  <a:pt x="46454" y="0"/>
                  <a:pt x="103758" y="0"/>
                </a:cubicBezTo>
                <a:close/>
              </a:path>
            </a:pathLst>
          </a:custGeom>
          <a:solidFill>
            <a:srgbClr val="053345">
              <a:alpha val="6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85260" y="5514502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0" y="47997"/>
                </a:moveTo>
                <a:lnTo>
                  <a:pt x="0" y="162128"/>
                </a:lnTo>
                <a:cubicBezTo>
                  <a:pt x="0" y="168106"/>
                  <a:pt x="4830" y="172936"/>
                  <a:pt x="10809" y="172936"/>
                </a:cubicBezTo>
                <a:cubicBezTo>
                  <a:pt x="16787" y="172936"/>
                  <a:pt x="21617" y="168106"/>
                  <a:pt x="21617" y="162128"/>
                </a:cubicBezTo>
                <a:lnTo>
                  <a:pt x="21617" y="81064"/>
                </a:lnTo>
                <a:cubicBezTo>
                  <a:pt x="21617" y="75085"/>
                  <a:pt x="26447" y="70255"/>
                  <a:pt x="32426" y="70255"/>
                </a:cubicBezTo>
                <a:lnTo>
                  <a:pt x="162128" y="70255"/>
                </a:lnTo>
                <a:cubicBezTo>
                  <a:pt x="168106" y="70255"/>
                  <a:pt x="172936" y="75085"/>
                  <a:pt x="172936" y="81064"/>
                </a:cubicBezTo>
                <a:lnTo>
                  <a:pt x="172936" y="162128"/>
                </a:lnTo>
                <a:cubicBezTo>
                  <a:pt x="172936" y="168106"/>
                  <a:pt x="177766" y="172936"/>
                  <a:pt x="183745" y="172936"/>
                </a:cubicBezTo>
                <a:cubicBezTo>
                  <a:pt x="189723" y="172936"/>
                  <a:pt x="194553" y="168106"/>
                  <a:pt x="194553" y="162128"/>
                </a:cubicBezTo>
                <a:lnTo>
                  <a:pt x="194553" y="47997"/>
                </a:lnTo>
                <a:cubicBezTo>
                  <a:pt x="194553" y="38708"/>
                  <a:pt x="188609" y="30433"/>
                  <a:pt x="179759" y="27494"/>
                </a:cubicBezTo>
                <a:lnTo>
                  <a:pt x="102411" y="1723"/>
                </a:lnTo>
                <a:cubicBezTo>
                  <a:pt x="99067" y="608"/>
                  <a:pt x="95486" y="608"/>
                  <a:pt x="92143" y="1723"/>
                </a:cubicBezTo>
                <a:lnTo>
                  <a:pt x="14794" y="27494"/>
                </a:lnTo>
                <a:cubicBezTo>
                  <a:pt x="5945" y="30433"/>
                  <a:pt x="0" y="38708"/>
                  <a:pt x="0" y="47997"/>
                </a:cubicBezTo>
                <a:close/>
                <a:moveTo>
                  <a:pt x="156723" y="86468"/>
                </a:moveTo>
                <a:lnTo>
                  <a:pt x="37830" y="86468"/>
                </a:lnTo>
                <a:lnTo>
                  <a:pt x="37830" y="108085"/>
                </a:lnTo>
                <a:lnTo>
                  <a:pt x="156723" y="108085"/>
                </a:lnTo>
                <a:lnTo>
                  <a:pt x="156723" y="86468"/>
                </a:lnTo>
                <a:close/>
                <a:moveTo>
                  <a:pt x="37830" y="140511"/>
                </a:moveTo>
                <a:lnTo>
                  <a:pt x="156723" y="140511"/>
                </a:lnTo>
                <a:lnTo>
                  <a:pt x="156723" y="118894"/>
                </a:lnTo>
                <a:lnTo>
                  <a:pt x="37830" y="118894"/>
                </a:lnTo>
                <a:lnTo>
                  <a:pt x="37830" y="140511"/>
                </a:lnTo>
                <a:close/>
                <a:moveTo>
                  <a:pt x="156723" y="151319"/>
                </a:moveTo>
                <a:lnTo>
                  <a:pt x="37830" y="151319"/>
                </a:lnTo>
                <a:lnTo>
                  <a:pt x="37830" y="172936"/>
                </a:lnTo>
                <a:lnTo>
                  <a:pt x="156723" y="172936"/>
                </a:lnTo>
                <a:lnTo>
                  <a:pt x="156723" y="151319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94383" y="5479915"/>
            <a:ext cx="180718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Warehouses Adaptatifs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4451" y="5791200"/>
            <a:ext cx="5049736" cy="19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Redimensionnement à la volée selon la complexité des requêtes (XS à 4XL)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3268" y="1406418"/>
            <a:ext cx="5637719" cy="4894094"/>
          </a:xfrm>
          <a:custGeom>
            <a:avLst/>
            <a:gdLst/>
            <a:ahLst/>
            <a:cxnLst/>
            <a:rect l="l" t="t" r="r" b="b"/>
            <a:pathLst>
              <a:path w="5637719" h="4894094">
                <a:moveTo>
                  <a:pt x="138356" y="0"/>
                </a:moveTo>
                <a:lnTo>
                  <a:pt x="5499363" y="0"/>
                </a:lnTo>
                <a:cubicBezTo>
                  <a:pt x="5575775" y="0"/>
                  <a:pt x="5637719" y="61944"/>
                  <a:pt x="5637719" y="138356"/>
                </a:cubicBezTo>
                <a:lnTo>
                  <a:pt x="5637719" y="4755738"/>
                </a:lnTo>
                <a:cubicBezTo>
                  <a:pt x="5637719" y="4832150"/>
                  <a:pt x="5575775" y="4894094"/>
                  <a:pt x="5499363" y="4894094"/>
                </a:cubicBezTo>
                <a:lnTo>
                  <a:pt x="138356" y="4894094"/>
                </a:lnTo>
                <a:cubicBezTo>
                  <a:pt x="61944" y="4894094"/>
                  <a:pt x="0" y="4832150"/>
                  <a:pt x="0" y="4755738"/>
                </a:cubicBezTo>
                <a:lnTo>
                  <a:pt x="0" y="138356"/>
                </a:lnTo>
                <a:cubicBezTo>
                  <a:pt x="0" y="61995"/>
                  <a:pt x="61995" y="0"/>
                  <a:pt x="138356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372AAC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380264" y="1599660"/>
            <a:ext cx="484221" cy="484221"/>
          </a:xfrm>
          <a:custGeom>
            <a:avLst/>
            <a:gdLst/>
            <a:ahLst/>
            <a:cxnLst/>
            <a:rect l="l" t="t" r="r" b="b"/>
            <a:pathLst>
              <a:path w="484221" h="484221">
                <a:moveTo>
                  <a:pt x="103764" y="0"/>
                </a:moveTo>
                <a:lnTo>
                  <a:pt x="380457" y="0"/>
                </a:lnTo>
                <a:cubicBezTo>
                  <a:pt x="437765" y="0"/>
                  <a:pt x="484221" y="46457"/>
                  <a:pt x="484221" y="103764"/>
                </a:cubicBezTo>
                <a:lnTo>
                  <a:pt x="484221" y="380457"/>
                </a:lnTo>
                <a:cubicBezTo>
                  <a:pt x="484221" y="437765"/>
                  <a:pt x="437765" y="484221"/>
                  <a:pt x="380457" y="484221"/>
                </a:cubicBezTo>
                <a:lnTo>
                  <a:pt x="103764" y="484221"/>
                </a:lnTo>
                <a:cubicBezTo>
                  <a:pt x="46457" y="484221"/>
                  <a:pt x="0" y="437765"/>
                  <a:pt x="0" y="380457"/>
                </a:cubicBezTo>
                <a:lnTo>
                  <a:pt x="0" y="103764"/>
                </a:lnTo>
                <a:cubicBezTo>
                  <a:pt x="0" y="46457"/>
                  <a:pt x="46457" y="0"/>
                  <a:pt x="103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51A2FF"/>
              </a:gs>
              <a:gs pos="100000">
                <a:srgbClr val="615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505643" y="1738009"/>
            <a:ext cx="233464" cy="207523"/>
          </a:xfrm>
          <a:custGeom>
            <a:avLst/>
            <a:gdLst/>
            <a:ahLst/>
            <a:cxnLst/>
            <a:rect l="l" t="t" r="r" b="b"/>
            <a:pathLst>
              <a:path w="233464" h="207523">
                <a:moveTo>
                  <a:pt x="0" y="136187"/>
                </a:moveTo>
                <a:cubicBezTo>
                  <a:pt x="0" y="168410"/>
                  <a:pt x="26143" y="194553"/>
                  <a:pt x="58366" y="194553"/>
                </a:cubicBezTo>
                <a:lnTo>
                  <a:pt x="181583" y="194553"/>
                </a:lnTo>
                <a:cubicBezTo>
                  <a:pt x="210239" y="194553"/>
                  <a:pt x="233464" y="171328"/>
                  <a:pt x="233464" y="142672"/>
                </a:cubicBezTo>
                <a:cubicBezTo>
                  <a:pt x="233464" y="121758"/>
                  <a:pt x="221102" y="103721"/>
                  <a:pt x="203268" y="95534"/>
                </a:cubicBezTo>
                <a:cubicBezTo>
                  <a:pt x="205983" y="90224"/>
                  <a:pt x="207523" y="84185"/>
                  <a:pt x="207523" y="77821"/>
                </a:cubicBezTo>
                <a:cubicBezTo>
                  <a:pt x="207523" y="56339"/>
                  <a:pt x="190095" y="38911"/>
                  <a:pt x="168613" y="38911"/>
                </a:cubicBezTo>
                <a:cubicBezTo>
                  <a:pt x="161439" y="38911"/>
                  <a:pt x="154751" y="40856"/>
                  <a:pt x="148995" y="44220"/>
                </a:cubicBezTo>
                <a:cubicBezTo>
                  <a:pt x="139227" y="25657"/>
                  <a:pt x="119731" y="12970"/>
                  <a:pt x="97277" y="12970"/>
                </a:cubicBezTo>
                <a:cubicBezTo>
                  <a:pt x="65054" y="12970"/>
                  <a:pt x="38911" y="39113"/>
                  <a:pt x="38911" y="71336"/>
                </a:cubicBezTo>
                <a:cubicBezTo>
                  <a:pt x="38911" y="74579"/>
                  <a:pt x="39194" y="77781"/>
                  <a:pt x="39681" y="80861"/>
                </a:cubicBezTo>
                <a:cubicBezTo>
                  <a:pt x="16618" y="88643"/>
                  <a:pt x="0" y="110490"/>
                  <a:pt x="0" y="13618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002834" y="1703421"/>
            <a:ext cx="1037617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BigQuery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4587" y="2226553"/>
            <a:ext cx="5274553" cy="795506"/>
          </a:xfrm>
          <a:custGeom>
            <a:avLst/>
            <a:gdLst/>
            <a:ahLst/>
            <a:cxnLst/>
            <a:rect l="l" t="t" r="r" b="b"/>
            <a:pathLst>
              <a:path w="5274553" h="795506">
                <a:moveTo>
                  <a:pt x="103758" y="0"/>
                </a:moveTo>
                <a:lnTo>
                  <a:pt x="5170795" y="0"/>
                </a:lnTo>
                <a:cubicBezTo>
                  <a:pt x="5228099" y="0"/>
                  <a:pt x="5274553" y="46454"/>
                  <a:pt x="5274553" y="103758"/>
                </a:cubicBezTo>
                <a:lnTo>
                  <a:pt x="5274553" y="691748"/>
                </a:lnTo>
                <a:cubicBezTo>
                  <a:pt x="5274553" y="749052"/>
                  <a:pt x="5228099" y="795506"/>
                  <a:pt x="5170795" y="795506"/>
                </a:cubicBezTo>
                <a:lnTo>
                  <a:pt x="103758" y="795506"/>
                </a:lnTo>
                <a:cubicBezTo>
                  <a:pt x="46454" y="795506"/>
                  <a:pt x="0" y="749052"/>
                  <a:pt x="0" y="691748"/>
                </a:cubicBezTo>
                <a:lnTo>
                  <a:pt x="0" y="103758"/>
                </a:lnTo>
                <a:cubicBezTo>
                  <a:pt x="0" y="46454"/>
                  <a:pt x="46454" y="0"/>
                  <a:pt x="103758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559685" y="2403813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21617" y="10809"/>
                </a:moveTo>
                <a:cubicBezTo>
                  <a:pt x="9694" y="10809"/>
                  <a:pt x="0" y="20502"/>
                  <a:pt x="0" y="32426"/>
                </a:cubicBezTo>
                <a:lnTo>
                  <a:pt x="0" y="54043"/>
                </a:lnTo>
                <a:cubicBezTo>
                  <a:pt x="0" y="65966"/>
                  <a:pt x="9694" y="75660"/>
                  <a:pt x="21617" y="75660"/>
                </a:cubicBezTo>
                <a:lnTo>
                  <a:pt x="129702" y="75660"/>
                </a:lnTo>
                <a:cubicBezTo>
                  <a:pt x="141625" y="75660"/>
                  <a:pt x="151319" y="65966"/>
                  <a:pt x="151319" y="54043"/>
                </a:cubicBezTo>
                <a:lnTo>
                  <a:pt x="151319" y="32426"/>
                </a:lnTo>
                <a:cubicBezTo>
                  <a:pt x="151319" y="20502"/>
                  <a:pt x="141625" y="10809"/>
                  <a:pt x="129702" y="10809"/>
                </a:cubicBezTo>
                <a:lnTo>
                  <a:pt x="21617" y="10809"/>
                </a:lnTo>
                <a:close/>
                <a:moveTo>
                  <a:pt x="94574" y="35128"/>
                </a:moveTo>
                <a:cubicBezTo>
                  <a:pt x="99049" y="35128"/>
                  <a:pt x="102681" y="38760"/>
                  <a:pt x="102681" y="43234"/>
                </a:cubicBezTo>
                <a:cubicBezTo>
                  <a:pt x="102681" y="47708"/>
                  <a:pt x="99049" y="51340"/>
                  <a:pt x="94574" y="51340"/>
                </a:cubicBezTo>
                <a:cubicBezTo>
                  <a:pt x="90100" y="51340"/>
                  <a:pt x="86468" y="47708"/>
                  <a:pt x="86468" y="43234"/>
                </a:cubicBezTo>
                <a:cubicBezTo>
                  <a:pt x="86468" y="38760"/>
                  <a:pt x="90100" y="35128"/>
                  <a:pt x="94574" y="35128"/>
                </a:cubicBezTo>
                <a:close/>
                <a:moveTo>
                  <a:pt x="113489" y="43234"/>
                </a:moveTo>
                <a:cubicBezTo>
                  <a:pt x="113489" y="38760"/>
                  <a:pt x="117122" y="35128"/>
                  <a:pt x="121596" y="35128"/>
                </a:cubicBezTo>
                <a:cubicBezTo>
                  <a:pt x="126070" y="35128"/>
                  <a:pt x="129702" y="38760"/>
                  <a:pt x="129702" y="43234"/>
                </a:cubicBezTo>
                <a:cubicBezTo>
                  <a:pt x="129702" y="47708"/>
                  <a:pt x="126070" y="51340"/>
                  <a:pt x="121596" y="51340"/>
                </a:cubicBezTo>
                <a:cubicBezTo>
                  <a:pt x="117122" y="51340"/>
                  <a:pt x="113489" y="47708"/>
                  <a:pt x="113489" y="43234"/>
                </a:cubicBezTo>
                <a:close/>
                <a:moveTo>
                  <a:pt x="21617" y="97277"/>
                </a:moveTo>
                <a:cubicBezTo>
                  <a:pt x="9694" y="97277"/>
                  <a:pt x="0" y="106970"/>
                  <a:pt x="0" y="118894"/>
                </a:cubicBezTo>
                <a:lnTo>
                  <a:pt x="0" y="140511"/>
                </a:lnTo>
                <a:cubicBezTo>
                  <a:pt x="0" y="152434"/>
                  <a:pt x="9694" y="162128"/>
                  <a:pt x="21617" y="162128"/>
                </a:cubicBezTo>
                <a:lnTo>
                  <a:pt x="129702" y="162128"/>
                </a:lnTo>
                <a:cubicBezTo>
                  <a:pt x="141625" y="162128"/>
                  <a:pt x="151319" y="152434"/>
                  <a:pt x="151319" y="140511"/>
                </a:cubicBezTo>
                <a:lnTo>
                  <a:pt x="151319" y="118894"/>
                </a:lnTo>
                <a:cubicBezTo>
                  <a:pt x="151319" y="106970"/>
                  <a:pt x="141625" y="97277"/>
                  <a:pt x="129702" y="97277"/>
                </a:cubicBezTo>
                <a:lnTo>
                  <a:pt x="21617" y="97277"/>
                </a:lnTo>
                <a:close/>
                <a:moveTo>
                  <a:pt x="94574" y="121596"/>
                </a:moveTo>
                <a:cubicBezTo>
                  <a:pt x="99049" y="121596"/>
                  <a:pt x="102681" y="125228"/>
                  <a:pt x="102681" y="129702"/>
                </a:cubicBezTo>
                <a:cubicBezTo>
                  <a:pt x="102681" y="134176"/>
                  <a:pt x="99049" y="137809"/>
                  <a:pt x="94574" y="137809"/>
                </a:cubicBezTo>
                <a:cubicBezTo>
                  <a:pt x="90100" y="137809"/>
                  <a:pt x="86468" y="134176"/>
                  <a:pt x="86468" y="129702"/>
                </a:cubicBezTo>
                <a:cubicBezTo>
                  <a:pt x="86468" y="125228"/>
                  <a:pt x="90100" y="121596"/>
                  <a:pt x="94574" y="121596"/>
                </a:cubicBezTo>
                <a:close/>
                <a:moveTo>
                  <a:pt x="113489" y="129702"/>
                </a:moveTo>
                <a:cubicBezTo>
                  <a:pt x="113489" y="125228"/>
                  <a:pt x="117122" y="121596"/>
                  <a:pt x="121596" y="121596"/>
                </a:cubicBezTo>
                <a:cubicBezTo>
                  <a:pt x="126070" y="121596"/>
                  <a:pt x="129702" y="125228"/>
                  <a:pt x="129702" y="129702"/>
                </a:cubicBezTo>
                <a:cubicBezTo>
                  <a:pt x="129702" y="134176"/>
                  <a:pt x="126070" y="137809"/>
                  <a:pt x="121596" y="137809"/>
                </a:cubicBezTo>
                <a:cubicBezTo>
                  <a:pt x="117122" y="137809"/>
                  <a:pt x="113489" y="134176"/>
                  <a:pt x="113489" y="129702"/>
                </a:cubicBez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7191" y="2369226"/>
            <a:ext cx="159966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 Analytics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27260" y="2680511"/>
            <a:ext cx="5049736" cy="19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 de gestion d'infrastructure, scaling automatique illimité selon la charge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4587" y="3132306"/>
            <a:ext cx="5274553" cy="795506"/>
          </a:xfrm>
          <a:custGeom>
            <a:avLst/>
            <a:gdLst/>
            <a:ahLst/>
            <a:cxnLst/>
            <a:rect l="l" t="t" r="r" b="b"/>
            <a:pathLst>
              <a:path w="5274553" h="795506">
                <a:moveTo>
                  <a:pt x="103758" y="0"/>
                </a:moveTo>
                <a:lnTo>
                  <a:pt x="5170795" y="0"/>
                </a:lnTo>
                <a:cubicBezTo>
                  <a:pt x="5228099" y="0"/>
                  <a:pt x="5274553" y="46454"/>
                  <a:pt x="5274553" y="103758"/>
                </a:cubicBezTo>
                <a:lnTo>
                  <a:pt x="5274553" y="691748"/>
                </a:lnTo>
                <a:cubicBezTo>
                  <a:pt x="5274553" y="749052"/>
                  <a:pt x="5228099" y="795506"/>
                  <a:pt x="5170795" y="795506"/>
                </a:cubicBezTo>
                <a:lnTo>
                  <a:pt x="103758" y="795506"/>
                </a:lnTo>
                <a:cubicBezTo>
                  <a:pt x="46454" y="795506"/>
                  <a:pt x="0" y="749052"/>
                  <a:pt x="0" y="691748"/>
                </a:cubicBezTo>
                <a:lnTo>
                  <a:pt x="0" y="103758"/>
                </a:lnTo>
                <a:cubicBezTo>
                  <a:pt x="0" y="46454"/>
                  <a:pt x="46454" y="0"/>
                  <a:pt x="103758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559685" y="3309566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43234" y="0"/>
                </a:moveTo>
                <a:cubicBezTo>
                  <a:pt x="37256" y="0"/>
                  <a:pt x="32426" y="4830"/>
                  <a:pt x="32426" y="10809"/>
                </a:cubicBezTo>
                <a:lnTo>
                  <a:pt x="32426" y="21617"/>
                </a:lnTo>
                <a:lnTo>
                  <a:pt x="21617" y="21617"/>
                </a:lnTo>
                <a:cubicBezTo>
                  <a:pt x="9694" y="21617"/>
                  <a:pt x="0" y="31311"/>
                  <a:pt x="0" y="43234"/>
                </a:cubicBezTo>
                <a:lnTo>
                  <a:pt x="0" y="59447"/>
                </a:lnTo>
                <a:lnTo>
                  <a:pt x="151319" y="59447"/>
                </a:lnTo>
                <a:lnTo>
                  <a:pt x="151319" y="43234"/>
                </a:lnTo>
                <a:cubicBezTo>
                  <a:pt x="151319" y="31311"/>
                  <a:pt x="141625" y="21617"/>
                  <a:pt x="129702" y="21617"/>
                </a:cubicBezTo>
                <a:lnTo>
                  <a:pt x="118894" y="21617"/>
                </a:lnTo>
                <a:lnTo>
                  <a:pt x="118894" y="10809"/>
                </a:lnTo>
                <a:cubicBezTo>
                  <a:pt x="118894" y="4830"/>
                  <a:pt x="114064" y="0"/>
                  <a:pt x="108085" y="0"/>
                </a:cubicBezTo>
                <a:cubicBezTo>
                  <a:pt x="102107" y="0"/>
                  <a:pt x="97277" y="4830"/>
                  <a:pt x="97277" y="10809"/>
                </a:cubicBezTo>
                <a:lnTo>
                  <a:pt x="97277" y="21617"/>
                </a:lnTo>
                <a:lnTo>
                  <a:pt x="54043" y="21617"/>
                </a:lnTo>
                <a:lnTo>
                  <a:pt x="54043" y="10809"/>
                </a:lnTo>
                <a:cubicBezTo>
                  <a:pt x="54043" y="4830"/>
                  <a:pt x="49212" y="0"/>
                  <a:pt x="43234" y="0"/>
                </a:cubicBezTo>
                <a:close/>
                <a:moveTo>
                  <a:pt x="0" y="75660"/>
                </a:moveTo>
                <a:lnTo>
                  <a:pt x="0" y="140511"/>
                </a:lnTo>
                <a:cubicBezTo>
                  <a:pt x="0" y="152434"/>
                  <a:pt x="9694" y="162128"/>
                  <a:pt x="21617" y="162128"/>
                </a:cubicBezTo>
                <a:lnTo>
                  <a:pt x="129702" y="162128"/>
                </a:lnTo>
                <a:cubicBezTo>
                  <a:pt x="141625" y="162128"/>
                  <a:pt x="151319" y="152434"/>
                  <a:pt x="151319" y="140511"/>
                </a:cubicBezTo>
                <a:lnTo>
                  <a:pt x="151319" y="75660"/>
                </a:lnTo>
                <a:lnTo>
                  <a:pt x="0" y="75660"/>
                </a:ln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847191" y="3274979"/>
            <a:ext cx="164289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Partitionnement Date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7260" y="3586264"/>
            <a:ext cx="5049736" cy="19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Organisation par jour/heure pour limiter drastiquement les bytes scannés (et donc le coût)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4587" y="4038060"/>
            <a:ext cx="5274553" cy="795506"/>
          </a:xfrm>
          <a:custGeom>
            <a:avLst/>
            <a:gdLst/>
            <a:ahLst/>
            <a:cxnLst/>
            <a:rect l="l" t="t" r="r" b="b"/>
            <a:pathLst>
              <a:path w="5274553" h="795506">
                <a:moveTo>
                  <a:pt x="103758" y="0"/>
                </a:moveTo>
                <a:lnTo>
                  <a:pt x="5170795" y="0"/>
                </a:lnTo>
                <a:cubicBezTo>
                  <a:pt x="5228099" y="0"/>
                  <a:pt x="5274553" y="46454"/>
                  <a:pt x="5274553" y="103758"/>
                </a:cubicBezTo>
                <a:lnTo>
                  <a:pt x="5274553" y="691748"/>
                </a:lnTo>
                <a:cubicBezTo>
                  <a:pt x="5274553" y="749052"/>
                  <a:pt x="5228099" y="795506"/>
                  <a:pt x="5170795" y="795506"/>
                </a:cubicBezTo>
                <a:lnTo>
                  <a:pt x="103758" y="795506"/>
                </a:lnTo>
                <a:cubicBezTo>
                  <a:pt x="46454" y="795506"/>
                  <a:pt x="0" y="749052"/>
                  <a:pt x="0" y="691748"/>
                </a:cubicBezTo>
                <a:lnTo>
                  <a:pt x="0" y="103758"/>
                </a:lnTo>
                <a:cubicBezTo>
                  <a:pt x="0" y="46454"/>
                  <a:pt x="46454" y="0"/>
                  <a:pt x="103758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570494" y="4215319"/>
            <a:ext cx="129702" cy="172936"/>
          </a:xfrm>
          <a:custGeom>
            <a:avLst/>
            <a:gdLst/>
            <a:ahLst/>
            <a:cxnLst/>
            <a:rect l="l" t="t" r="r" b="b"/>
            <a:pathLst>
              <a:path w="129702" h="172936">
                <a:moveTo>
                  <a:pt x="811" y="68972"/>
                </a:moveTo>
                <a:cubicBezTo>
                  <a:pt x="2499" y="73025"/>
                  <a:pt x="6418" y="75660"/>
                  <a:pt x="10809" y="75660"/>
                </a:cubicBezTo>
                <a:lnTo>
                  <a:pt x="118894" y="75660"/>
                </a:lnTo>
                <a:cubicBezTo>
                  <a:pt x="123251" y="75660"/>
                  <a:pt x="127203" y="73025"/>
                  <a:pt x="128891" y="68972"/>
                </a:cubicBezTo>
                <a:cubicBezTo>
                  <a:pt x="130580" y="64919"/>
                  <a:pt x="129635" y="60291"/>
                  <a:pt x="126561" y="57184"/>
                </a:cubicBezTo>
                <a:lnTo>
                  <a:pt x="72518" y="3141"/>
                </a:lnTo>
                <a:cubicBezTo>
                  <a:pt x="68296" y="-1081"/>
                  <a:pt x="61440" y="-1081"/>
                  <a:pt x="57218" y="3141"/>
                </a:cubicBezTo>
                <a:lnTo>
                  <a:pt x="3175" y="57184"/>
                </a:lnTo>
                <a:cubicBezTo>
                  <a:pt x="68" y="60291"/>
                  <a:pt x="-844" y="64919"/>
                  <a:pt x="844" y="68972"/>
                </a:cubicBezTo>
                <a:close/>
                <a:moveTo>
                  <a:pt x="811" y="103931"/>
                </a:moveTo>
                <a:cubicBezTo>
                  <a:pt x="-878" y="107984"/>
                  <a:pt x="68" y="112611"/>
                  <a:pt x="3141" y="115719"/>
                </a:cubicBezTo>
                <a:lnTo>
                  <a:pt x="57184" y="169761"/>
                </a:lnTo>
                <a:cubicBezTo>
                  <a:pt x="61406" y="173983"/>
                  <a:pt x="68263" y="173983"/>
                  <a:pt x="72485" y="169761"/>
                </a:cubicBezTo>
                <a:lnTo>
                  <a:pt x="126527" y="115719"/>
                </a:lnTo>
                <a:cubicBezTo>
                  <a:pt x="129635" y="112611"/>
                  <a:pt x="130547" y="107984"/>
                  <a:pt x="128858" y="103931"/>
                </a:cubicBezTo>
                <a:cubicBezTo>
                  <a:pt x="127169" y="99877"/>
                  <a:pt x="123251" y="97277"/>
                  <a:pt x="118894" y="97277"/>
                </a:cubicBezTo>
                <a:lnTo>
                  <a:pt x="10809" y="97277"/>
                </a:lnTo>
                <a:cubicBezTo>
                  <a:pt x="6451" y="97277"/>
                  <a:pt x="2499" y="99911"/>
                  <a:pt x="811" y="103964"/>
                </a:cubicBez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847191" y="4180732"/>
            <a:ext cx="159966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 Z-ORDER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27260" y="4492017"/>
            <a:ext cx="5049736" cy="19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 automatique des données sur plusieurs colonnes pour accélérer les filtres complexes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4587" y="4943813"/>
            <a:ext cx="5274553" cy="994383"/>
          </a:xfrm>
          <a:custGeom>
            <a:avLst/>
            <a:gdLst/>
            <a:ahLst/>
            <a:cxnLst/>
            <a:rect l="l" t="t" r="r" b="b"/>
            <a:pathLst>
              <a:path w="5274553" h="994383">
                <a:moveTo>
                  <a:pt x="103764" y="0"/>
                </a:moveTo>
                <a:lnTo>
                  <a:pt x="5170789" y="0"/>
                </a:lnTo>
                <a:cubicBezTo>
                  <a:pt x="5228097" y="0"/>
                  <a:pt x="5274553" y="46457"/>
                  <a:pt x="5274553" y="103764"/>
                </a:cubicBezTo>
                <a:lnTo>
                  <a:pt x="5274553" y="890619"/>
                </a:lnTo>
                <a:cubicBezTo>
                  <a:pt x="5274553" y="947926"/>
                  <a:pt x="5228097" y="994383"/>
                  <a:pt x="5170789" y="994383"/>
                </a:cubicBezTo>
                <a:lnTo>
                  <a:pt x="103764" y="994383"/>
                </a:lnTo>
                <a:cubicBezTo>
                  <a:pt x="46457" y="994383"/>
                  <a:pt x="0" y="947926"/>
                  <a:pt x="0" y="890619"/>
                </a:cubicBezTo>
                <a:lnTo>
                  <a:pt x="0" y="103764"/>
                </a:lnTo>
                <a:cubicBezTo>
                  <a:pt x="0" y="46495"/>
                  <a:pt x="46495" y="0"/>
                  <a:pt x="10376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538068" y="5121072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97277" y="10809"/>
                </a:moveTo>
                <a:cubicBezTo>
                  <a:pt x="69985" y="10809"/>
                  <a:pt x="48132" y="23238"/>
                  <a:pt x="32223" y="38032"/>
                </a:cubicBezTo>
                <a:cubicBezTo>
                  <a:pt x="16415" y="52725"/>
                  <a:pt x="5843" y="70255"/>
                  <a:pt x="811" y="82314"/>
                </a:cubicBezTo>
                <a:cubicBezTo>
                  <a:pt x="-304" y="84982"/>
                  <a:pt x="-304" y="87954"/>
                  <a:pt x="811" y="90623"/>
                </a:cubicBezTo>
                <a:cubicBezTo>
                  <a:pt x="5843" y="102681"/>
                  <a:pt x="16415" y="120245"/>
                  <a:pt x="32223" y="134904"/>
                </a:cubicBezTo>
                <a:cubicBezTo>
                  <a:pt x="48132" y="149664"/>
                  <a:pt x="69985" y="162128"/>
                  <a:pt x="97277" y="162128"/>
                </a:cubicBezTo>
                <a:cubicBezTo>
                  <a:pt x="124568" y="162128"/>
                  <a:pt x="146422" y="149698"/>
                  <a:pt x="162330" y="134904"/>
                </a:cubicBezTo>
                <a:cubicBezTo>
                  <a:pt x="178138" y="120211"/>
                  <a:pt x="188710" y="102681"/>
                  <a:pt x="193743" y="90623"/>
                </a:cubicBezTo>
                <a:cubicBezTo>
                  <a:pt x="194857" y="87954"/>
                  <a:pt x="194857" y="84982"/>
                  <a:pt x="193743" y="82314"/>
                </a:cubicBezTo>
                <a:cubicBezTo>
                  <a:pt x="188710" y="70255"/>
                  <a:pt x="178138" y="52691"/>
                  <a:pt x="162330" y="38032"/>
                </a:cubicBezTo>
                <a:cubicBezTo>
                  <a:pt x="146422" y="23272"/>
                  <a:pt x="124568" y="10809"/>
                  <a:pt x="97277" y="10809"/>
                </a:cubicBezTo>
                <a:close/>
                <a:moveTo>
                  <a:pt x="48638" y="86468"/>
                </a:moveTo>
                <a:cubicBezTo>
                  <a:pt x="48638" y="59624"/>
                  <a:pt x="70432" y="37830"/>
                  <a:pt x="97277" y="37830"/>
                </a:cubicBezTo>
                <a:cubicBezTo>
                  <a:pt x="124121" y="37830"/>
                  <a:pt x="145915" y="59624"/>
                  <a:pt x="145915" y="86468"/>
                </a:cubicBezTo>
                <a:cubicBezTo>
                  <a:pt x="145915" y="113312"/>
                  <a:pt x="124121" y="135106"/>
                  <a:pt x="97277" y="135106"/>
                </a:cubicBezTo>
                <a:cubicBezTo>
                  <a:pt x="70432" y="135106"/>
                  <a:pt x="48638" y="113312"/>
                  <a:pt x="48638" y="86468"/>
                </a:cubicBezTo>
                <a:close/>
                <a:moveTo>
                  <a:pt x="97277" y="64851"/>
                </a:moveTo>
                <a:cubicBezTo>
                  <a:pt x="97277" y="76774"/>
                  <a:pt x="87583" y="86468"/>
                  <a:pt x="75660" y="86468"/>
                </a:cubicBezTo>
                <a:cubicBezTo>
                  <a:pt x="71775" y="86468"/>
                  <a:pt x="68127" y="85455"/>
                  <a:pt x="64952" y="83631"/>
                </a:cubicBezTo>
                <a:cubicBezTo>
                  <a:pt x="64615" y="87313"/>
                  <a:pt x="64919" y="91095"/>
                  <a:pt x="65932" y="94845"/>
                </a:cubicBezTo>
                <a:cubicBezTo>
                  <a:pt x="70559" y="112138"/>
                  <a:pt x="88360" y="122406"/>
                  <a:pt x="105653" y="117779"/>
                </a:cubicBezTo>
                <a:cubicBezTo>
                  <a:pt x="122947" y="113152"/>
                  <a:pt x="133215" y="95351"/>
                  <a:pt x="128588" y="78058"/>
                </a:cubicBezTo>
                <a:cubicBezTo>
                  <a:pt x="124467" y="62622"/>
                  <a:pt x="109841" y="52793"/>
                  <a:pt x="94439" y="54144"/>
                </a:cubicBezTo>
                <a:cubicBezTo>
                  <a:pt x="96230" y="57285"/>
                  <a:pt x="97277" y="60933"/>
                  <a:pt x="97277" y="64851"/>
                </a:cubicBez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847191" y="5086485"/>
            <a:ext cx="146995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Vues Matérialisées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7260" y="5397770"/>
            <a:ext cx="5049736" cy="397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Pré-calcul et mise à jour automatique des agrégations fréquentes pour une réponse instantanée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>
            <a:extLst>
              <a:ext uri="{FF2B5EF4-FFF2-40B4-BE49-F238E27FC236}">
                <a16:creationId xmlns:a16="http://schemas.microsoft.com/office/drawing/2014/main" id="{E22C058D-3118-29F7-6E43-77BF62DD2E7B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kern="0" spc="53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STRATÉGIES D'OPTIMISATION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Optimisations Spécifiques — Partie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1008298"/>
            <a:ext cx="1159542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Techniques avancées pour AWS Redshift et Azure Synapse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300" y="1382208"/>
            <a:ext cx="5646467" cy="5133916"/>
          </a:xfrm>
          <a:custGeom>
            <a:avLst/>
            <a:gdLst/>
            <a:ahLst/>
            <a:cxnLst/>
            <a:rect l="l" t="t" r="r" b="b"/>
            <a:pathLst>
              <a:path w="5646467" h="5133916">
                <a:moveTo>
                  <a:pt x="134457" y="0"/>
                </a:moveTo>
                <a:lnTo>
                  <a:pt x="5512010" y="0"/>
                </a:lnTo>
                <a:cubicBezTo>
                  <a:pt x="5586269" y="0"/>
                  <a:pt x="5646467" y="60199"/>
                  <a:pt x="5646467" y="134457"/>
                </a:cubicBezTo>
                <a:lnTo>
                  <a:pt x="5646467" y="4999459"/>
                </a:lnTo>
                <a:cubicBezTo>
                  <a:pt x="5646467" y="5073717"/>
                  <a:pt x="5586269" y="5133916"/>
                  <a:pt x="5512010" y="5133916"/>
                </a:cubicBezTo>
                <a:lnTo>
                  <a:pt x="134457" y="5133916"/>
                </a:lnTo>
                <a:cubicBezTo>
                  <a:pt x="60199" y="5133916"/>
                  <a:pt x="0" y="5073717"/>
                  <a:pt x="0" y="4999459"/>
                </a:cubicBezTo>
                <a:lnTo>
                  <a:pt x="0" y="134457"/>
                </a:lnTo>
                <a:cubicBezTo>
                  <a:pt x="0" y="60199"/>
                  <a:pt x="60199" y="0"/>
                  <a:pt x="134457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0712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12551" y="1554459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21784" y="1688899"/>
            <a:ext cx="252074" cy="201660"/>
          </a:xfrm>
          <a:custGeom>
            <a:avLst/>
            <a:gdLst/>
            <a:ahLst/>
            <a:cxnLst/>
            <a:rect l="l" t="t" r="r" b="b"/>
            <a:pathLst>
              <a:path w="252074" h="201660">
                <a:moveTo>
                  <a:pt x="71053" y="79955"/>
                </a:moveTo>
                <a:cubicBezTo>
                  <a:pt x="70778" y="88856"/>
                  <a:pt x="75228" y="92834"/>
                  <a:pt x="75347" y="95316"/>
                </a:cubicBezTo>
                <a:cubicBezTo>
                  <a:pt x="75307" y="95828"/>
                  <a:pt x="75110" y="96300"/>
                  <a:pt x="74835" y="96734"/>
                </a:cubicBezTo>
                <a:cubicBezTo>
                  <a:pt x="74559" y="97167"/>
                  <a:pt x="74165" y="97521"/>
                  <a:pt x="73732" y="97758"/>
                </a:cubicBezTo>
                <a:lnTo>
                  <a:pt x="68690" y="101302"/>
                </a:lnTo>
                <a:cubicBezTo>
                  <a:pt x="68021" y="101775"/>
                  <a:pt x="67272" y="102011"/>
                  <a:pt x="66485" y="102051"/>
                </a:cubicBezTo>
                <a:cubicBezTo>
                  <a:pt x="66327" y="102051"/>
                  <a:pt x="63255" y="102760"/>
                  <a:pt x="58410" y="91968"/>
                </a:cubicBezTo>
                <a:cubicBezTo>
                  <a:pt x="55456" y="95670"/>
                  <a:pt x="51715" y="98624"/>
                  <a:pt x="47422" y="100633"/>
                </a:cubicBezTo>
                <a:cubicBezTo>
                  <a:pt x="43128" y="102642"/>
                  <a:pt x="38481" y="103666"/>
                  <a:pt x="33754" y="103587"/>
                </a:cubicBezTo>
                <a:cubicBezTo>
                  <a:pt x="27334" y="103941"/>
                  <a:pt x="9965" y="99963"/>
                  <a:pt x="10871" y="81452"/>
                </a:cubicBezTo>
                <a:cubicBezTo>
                  <a:pt x="10241" y="66366"/>
                  <a:pt x="24302" y="56992"/>
                  <a:pt x="38796" y="57820"/>
                </a:cubicBezTo>
                <a:cubicBezTo>
                  <a:pt x="41592" y="57820"/>
                  <a:pt x="47303" y="57977"/>
                  <a:pt x="57308" y="60301"/>
                </a:cubicBezTo>
                <a:lnTo>
                  <a:pt x="57308" y="54157"/>
                </a:lnTo>
                <a:cubicBezTo>
                  <a:pt x="58371" y="43719"/>
                  <a:pt x="51518" y="35645"/>
                  <a:pt x="39662" y="36866"/>
                </a:cubicBezTo>
                <a:cubicBezTo>
                  <a:pt x="38717" y="36866"/>
                  <a:pt x="32021" y="36669"/>
                  <a:pt x="21623" y="40844"/>
                </a:cubicBezTo>
                <a:cubicBezTo>
                  <a:pt x="18709" y="42183"/>
                  <a:pt x="18354" y="41947"/>
                  <a:pt x="17370" y="41947"/>
                </a:cubicBezTo>
                <a:cubicBezTo>
                  <a:pt x="14455" y="41947"/>
                  <a:pt x="15636" y="33479"/>
                  <a:pt x="16227" y="32415"/>
                </a:cubicBezTo>
                <a:cubicBezTo>
                  <a:pt x="18275" y="29894"/>
                  <a:pt x="30367" y="25168"/>
                  <a:pt x="42183" y="25247"/>
                </a:cubicBezTo>
                <a:cubicBezTo>
                  <a:pt x="50100" y="24538"/>
                  <a:pt x="57977" y="26980"/>
                  <a:pt x="64121" y="32061"/>
                </a:cubicBezTo>
                <a:cubicBezTo>
                  <a:pt x="66603" y="34857"/>
                  <a:pt x="68533" y="38126"/>
                  <a:pt x="69714" y="41671"/>
                </a:cubicBezTo>
                <a:cubicBezTo>
                  <a:pt x="70896" y="45216"/>
                  <a:pt x="71369" y="48958"/>
                  <a:pt x="71093" y="52699"/>
                </a:cubicBezTo>
                <a:lnTo>
                  <a:pt x="71093" y="79994"/>
                </a:lnTo>
                <a:close/>
                <a:moveTo>
                  <a:pt x="37023" y="92716"/>
                </a:moveTo>
                <a:cubicBezTo>
                  <a:pt x="49785" y="92519"/>
                  <a:pt x="55220" y="84839"/>
                  <a:pt x="56441" y="80703"/>
                </a:cubicBezTo>
                <a:cubicBezTo>
                  <a:pt x="57426" y="76725"/>
                  <a:pt x="57268" y="74244"/>
                  <a:pt x="57268" y="69911"/>
                </a:cubicBezTo>
                <a:cubicBezTo>
                  <a:pt x="53448" y="69005"/>
                  <a:pt x="47973" y="67981"/>
                  <a:pt x="41671" y="67981"/>
                </a:cubicBezTo>
                <a:cubicBezTo>
                  <a:pt x="35684" y="67548"/>
                  <a:pt x="24814" y="70187"/>
                  <a:pt x="25247" y="80703"/>
                </a:cubicBezTo>
                <a:cubicBezTo>
                  <a:pt x="24774" y="87320"/>
                  <a:pt x="29619" y="93071"/>
                  <a:pt x="37063" y="92716"/>
                </a:cubicBezTo>
                <a:close/>
                <a:moveTo>
                  <a:pt x="104335" y="101814"/>
                </a:moveTo>
                <a:cubicBezTo>
                  <a:pt x="101224" y="102090"/>
                  <a:pt x="99806" y="99884"/>
                  <a:pt x="99333" y="97718"/>
                </a:cubicBezTo>
                <a:lnTo>
                  <a:pt x="79719" y="32848"/>
                </a:lnTo>
                <a:cubicBezTo>
                  <a:pt x="79325" y="31746"/>
                  <a:pt x="79088" y="30643"/>
                  <a:pt x="78970" y="29461"/>
                </a:cubicBezTo>
                <a:cubicBezTo>
                  <a:pt x="78891" y="28989"/>
                  <a:pt x="79010" y="28516"/>
                  <a:pt x="79285" y="28122"/>
                </a:cubicBezTo>
                <a:cubicBezTo>
                  <a:pt x="79561" y="27728"/>
                  <a:pt x="79994" y="27492"/>
                  <a:pt x="80467" y="27413"/>
                </a:cubicBezTo>
                <a:cubicBezTo>
                  <a:pt x="80546" y="27413"/>
                  <a:pt x="79640" y="27413"/>
                  <a:pt x="89211" y="27413"/>
                </a:cubicBezTo>
                <a:cubicBezTo>
                  <a:pt x="92677" y="27059"/>
                  <a:pt x="93780" y="29776"/>
                  <a:pt x="94173" y="31509"/>
                </a:cubicBezTo>
                <a:lnTo>
                  <a:pt x="108274" y="86966"/>
                </a:lnTo>
                <a:lnTo>
                  <a:pt x="121350" y="31509"/>
                </a:lnTo>
                <a:cubicBezTo>
                  <a:pt x="121547" y="30249"/>
                  <a:pt x="122492" y="27137"/>
                  <a:pt x="126392" y="27492"/>
                </a:cubicBezTo>
                <a:lnTo>
                  <a:pt x="133166" y="27492"/>
                </a:lnTo>
                <a:cubicBezTo>
                  <a:pt x="134033" y="27413"/>
                  <a:pt x="137538" y="27295"/>
                  <a:pt x="138168" y="31588"/>
                </a:cubicBezTo>
                <a:lnTo>
                  <a:pt x="151284" y="87714"/>
                </a:lnTo>
                <a:lnTo>
                  <a:pt x="165818" y="31549"/>
                </a:lnTo>
                <a:cubicBezTo>
                  <a:pt x="166015" y="30682"/>
                  <a:pt x="166881" y="27059"/>
                  <a:pt x="170820" y="27452"/>
                </a:cubicBezTo>
                <a:lnTo>
                  <a:pt x="178579" y="27452"/>
                </a:lnTo>
                <a:cubicBezTo>
                  <a:pt x="178933" y="27413"/>
                  <a:pt x="181021" y="27137"/>
                  <a:pt x="180666" y="30840"/>
                </a:cubicBezTo>
                <a:cubicBezTo>
                  <a:pt x="180509" y="31549"/>
                  <a:pt x="182006" y="26625"/>
                  <a:pt x="159870" y="97758"/>
                </a:cubicBezTo>
                <a:cubicBezTo>
                  <a:pt x="159437" y="99924"/>
                  <a:pt x="157980" y="102130"/>
                  <a:pt x="154868" y="101854"/>
                </a:cubicBezTo>
                <a:lnTo>
                  <a:pt x="147503" y="101854"/>
                </a:lnTo>
                <a:cubicBezTo>
                  <a:pt x="143210" y="102326"/>
                  <a:pt x="142580" y="98033"/>
                  <a:pt x="142501" y="97639"/>
                </a:cubicBezTo>
                <a:lnTo>
                  <a:pt x="129424" y="43640"/>
                </a:lnTo>
                <a:lnTo>
                  <a:pt x="116506" y="97600"/>
                </a:lnTo>
                <a:cubicBezTo>
                  <a:pt x="116427" y="98033"/>
                  <a:pt x="115836" y="102287"/>
                  <a:pt x="111504" y="101814"/>
                </a:cubicBezTo>
                <a:lnTo>
                  <a:pt x="104296" y="101814"/>
                </a:lnTo>
                <a:lnTo>
                  <a:pt x="104296" y="101814"/>
                </a:lnTo>
                <a:close/>
                <a:moveTo>
                  <a:pt x="212058" y="104020"/>
                </a:moveTo>
                <a:cubicBezTo>
                  <a:pt x="209734" y="104020"/>
                  <a:pt x="198706" y="103902"/>
                  <a:pt x="189450" y="99176"/>
                </a:cubicBezTo>
                <a:cubicBezTo>
                  <a:pt x="188544" y="98782"/>
                  <a:pt x="187756" y="98151"/>
                  <a:pt x="187205" y="97285"/>
                </a:cubicBezTo>
                <a:cubicBezTo>
                  <a:pt x="186653" y="96418"/>
                  <a:pt x="186378" y="95473"/>
                  <a:pt x="186378" y="94489"/>
                </a:cubicBezTo>
                <a:lnTo>
                  <a:pt x="186378" y="90274"/>
                </a:lnTo>
                <a:cubicBezTo>
                  <a:pt x="186378" y="86926"/>
                  <a:pt x="188820" y="87556"/>
                  <a:pt x="189844" y="87950"/>
                </a:cubicBezTo>
                <a:cubicBezTo>
                  <a:pt x="193782" y="89565"/>
                  <a:pt x="196342" y="90747"/>
                  <a:pt x="201187" y="91731"/>
                </a:cubicBezTo>
                <a:cubicBezTo>
                  <a:pt x="215642" y="94685"/>
                  <a:pt x="221983" y="90826"/>
                  <a:pt x="223519" y="89959"/>
                </a:cubicBezTo>
                <a:cubicBezTo>
                  <a:pt x="228718" y="86887"/>
                  <a:pt x="229112" y="79837"/>
                  <a:pt x="225607" y="76213"/>
                </a:cubicBezTo>
                <a:cubicBezTo>
                  <a:pt x="221471" y="72747"/>
                  <a:pt x="219502" y="72629"/>
                  <a:pt x="204692" y="67942"/>
                </a:cubicBezTo>
                <a:cubicBezTo>
                  <a:pt x="202881" y="67430"/>
                  <a:pt x="187480" y="62585"/>
                  <a:pt x="187441" y="47303"/>
                </a:cubicBezTo>
                <a:cubicBezTo>
                  <a:pt x="187205" y="36196"/>
                  <a:pt x="197288" y="25168"/>
                  <a:pt x="214815" y="25247"/>
                </a:cubicBezTo>
                <a:cubicBezTo>
                  <a:pt x="219817" y="25247"/>
                  <a:pt x="233090" y="26862"/>
                  <a:pt x="236714" y="31391"/>
                </a:cubicBezTo>
                <a:cubicBezTo>
                  <a:pt x="237265" y="32218"/>
                  <a:pt x="237501" y="33203"/>
                  <a:pt x="237462" y="34148"/>
                </a:cubicBezTo>
                <a:lnTo>
                  <a:pt x="237462" y="38126"/>
                </a:lnTo>
                <a:cubicBezTo>
                  <a:pt x="237462" y="39859"/>
                  <a:pt x="236832" y="40765"/>
                  <a:pt x="235532" y="40765"/>
                </a:cubicBezTo>
                <a:cubicBezTo>
                  <a:pt x="232499" y="40411"/>
                  <a:pt x="227103" y="36354"/>
                  <a:pt x="216154" y="36511"/>
                </a:cubicBezTo>
                <a:cubicBezTo>
                  <a:pt x="213436" y="36354"/>
                  <a:pt x="200439" y="36866"/>
                  <a:pt x="201029" y="46358"/>
                </a:cubicBezTo>
                <a:cubicBezTo>
                  <a:pt x="200872" y="53842"/>
                  <a:pt x="211506" y="56638"/>
                  <a:pt x="212727" y="56953"/>
                </a:cubicBezTo>
                <a:cubicBezTo>
                  <a:pt x="227103" y="61286"/>
                  <a:pt x="231869" y="61995"/>
                  <a:pt x="237580" y="68612"/>
                </a:cubicBezTo>
                <a:cubicBezTo>
                  <a:pt x="244315" y="77355"/>
                  <a:pt x="240692" y="87635"/>
                  <a:pt x="239274" y="90432"/>
                </a:cubicBezTo>
                <a:cubicBezTo>
                  <a:pt x="231751" y="105202"/>
                  <a:pt x="212333" y="103981"/>
                  <a:pt x="211979" y="103981"/>
                </a:cubicBezTo>
                <a:close/>
                <a:moveTo>
                  <a:pt x="227891" y="145337"/>
                </a:moveTo>
                <a:cubicBezTo>
                  <a:pt x="200320" y="165700"/>
                  <a:pt x="160264" y="176531"/>
                  <a:pt x="126077" y="176531"/>
                </a:cubicBezTo>
                <a:cubicBezTo>
                  <a:pt x="79955" y="176846"/>
                  <a:pt x="35369" y="159870"/>
                  <a:pt x="1103" y="128991"/>
                </a:cubicBezTo>
                <a:cubicBezTo>
                  <a:pt x="-1457" y="126667"/>
                  <a:pt x="788" y="123477"/>
                  <a:pt x="3939" y="125249"/>
                </a:cubicBezTo>
                <a:cubicBezTo>
                  <a:pt x="41947" y="146991"/>
                  <a:pt x="84957" y="158413"/>
                  <a:pt x="128755" y="158374"/>
                </a:cubicBezTo>
                <a:cubicBezTo>
                  <a:pt x="161446" y="158216"/>
                  <a:pt x="193782" y="151560"/>
                  <a:pt x="223913" y="138877"/>
                </a:cubicBezTo>
                <a:cubicBezTo>
                  <a:pt x="228561" y="136908"/>
                  <a:pt x="232499" y="141949"/>
                  <a:pt x="227891" y="145337"/>
                </a:cubicBezTo>
                <a:close/>
                <a:moveTo>
                  <a:pt x="239392" y="132221"/>
                </a:moveTo>
                <a:cubicBezTo>
                  <a:pt x="235847" y="127691"/>
                  <a:pt x="216036" y="130094"/>
                  <a:pt x="207174" y="131157"/>
                </a:cubicBezTo>
                <a:cubicBezTo>
                  <a:pt x="204495" y="131473"/>
                  <a:pt x="204062" y="129149"/>
                  <a:pt x="206465" y="127416"/>
                </a:cubicBezTo>
                <a:cubicBezTo>
                  <a:pt x="222259" y="116309"/>
                  <a:pt x="248175" y="119499"/>
                  <a:pt x="251129" y="123241"/>
                </a:cubicBezTo>
                <a:cubicBezTo>
                  <a:pt x="254083" y="126982"/>
                  <a:pt x="250302" y="152938"/>
                  <a:pt x="235532" y="165345"/>
                </a:cubicBezTo>
                <a:cubicBezTo>
                  <a:pt x="233248" y="167275"/>
                  <a:pt x="231081" y="166251"/>
                  <a:pt x="232105" y="163730"/>
                </a:cubicBezTo>
                <a:cubicBezTo>
                  <a:pt x="235414" y="155341"/>
                  <a:pt x="242897" y="136750"/>
                  <a:pt x="239353" y="1322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7530" y="1655289"/>
            <a:ext cx="90746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Redshift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8608" y="1688899"/>
            <a:ext cx="150404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Amazon Web Services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6753" y="2163639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76400" y="2335890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10283" y="115534"/>
                </a:moveTo>
                <a:cubicBezTo>
                  <a:pt x="142186" y="115534"/>
                  <a:pt x="168050" y="89670"/>
                  <a:pt x="168050" y="57767"/>
                </a:cubicBezTo>
                <a:cubicBezTo>
                  <a:pt x="168050" y="25864"/>
                  <a:pt x="142186" y="0"/>
                  <a:pt x="110283" y="0"/>
                </a:cubicBezTo>
                <a:cubicBezTo>
                  <a:pt x="78379" y="0"/>
                  <a:pt x="52516" y="25864"/>
                  <a:pt x="52516" y="57767"/>
                </a:cubicBezTo>
                <a:cubicBezTo>
                  <a:pt x="52516" y="63905"/>
                  <a:pt x="53467" y="69846"/>
                  <a:pt x="55240" y="75393"/>
                </a:cubicBezTo>
                <a:lnTo>
                  <a:pt x="2298" y="128335"/>
                </a:lnTo>
                <a:cubicBezTo>
                  <a:pt x="821" y="129812"/>
                  <a:pt x="0" y="131814"/>
                  <a:pt x="0" y="133915"/>
                </a:cubicBezTo>
                <a:lnTo>
                  <a:pt x="0" y="160172"/>
                </a:lnTo>
                <a:cubicBezTo>
                  <a:pt x="0" y="164538"/>
                  <a:pt x="3512" y="168050"/>
                  <a:pt x="7877" y="168050"/>
                </a:cubicBezTo>
                <a:lnTo>
                  <a:pt x="34135" y="168050"/>
                </a:lnTo>
                <a:cubicBezTo>
                  <a:pt x="38500" y="168050"/>
                  <a:pt x="42012" y="164538"/>
                  <a:pt x="42012" y="160172"/>
                </a:cubicBezTo>
                <a:lnTo>
                  <a:pt x="42012" y="147043"/>
                </a:lnTo>
                <a:lnTo>
                  <a:pt x="55141" y="147043"/>
                </a:lnTo>
                <a:cubicBezTo>
                  <a:pt x="59507" y="147043"/>
                  <a:pt x="63019" y="143531"/>
                  <a:pt x="63019" y="139166"/>
                </a:cubicBezTo>
                <a:lnTo>
                  <a:pt x="63019" y="126037"/>
                </a:lnTo>
                <a:lnTo>
                  <a:pt x="76147" y="126037"/>
                </a:lnTo>
                <a:cubicBezTo>
                  <a:pt x="78248" y="126037"/>
                  <a:pt x="80250" y="125217"/>
                  <a:pt x="81727" y="123740"/>
                </a:cubicBezTo>
                <a:lnTo>
                  <a:pt x="92657" y="112810"/>
                </a:lnTo>
                <a:cubicBezTo>
                  <a:pt x="98204" y="114582"/>
                  <a:pt x="104145" y="115534"/>
                  <a:pt x="110283" y="115534"/>
                </a:cubicBezTo>
                <a:close/>
                <a:moveTo>
                  <a:pt x="123411" y="31509"/>
                </a:moveTo>
                <a:cubicBezTo>
                  <a:pt x="130657" y="31509"/>
                  <a:pt x="136540" y="37392"/>
                  <a:pt x="136540" y="44638"/>
                </a:cubicBezTo>
                <a:cubicBezTo>
                  <a:pt x="136540" y="51884"/>
                  <a:pt x="130657" y="57767"/>
                  <a:pt x="123411" y="57767"/>
                </a:cubicBezTo>
                <a:cubicBezTo>
                  <a:pt x="116165" y="57767"/>
                  <a:pt x="110283" y="51884"/>
                  <a:pt x="110283" y="44638"/>
                </a:cubicBezTo>
                <a:cubicBezTo>
                  <a:pt x="110283" y="37392"/>
                  <a:pt x="116165" y="31509"/>
                  <a:pt x="123411" y="31509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6285" y="2302280"/>
            <a:ext cx="182333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 Keys &amp; Distribution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94" y="2604769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Définition précise des clés de tri et de distribution (KEY, EVEN, ALL) pour minimiser le mouvement de données lors des jointures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753" y="3234955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76400" y="3407206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43916" y="11914"/>
                </a:moveTo>
                <a:cubicBezTo>
                  <a:pt x="47494" y="14409"/>
                  <a:pt x="48347" y="19332"/>
                  <a:pt x="45853" y="22877"/>
                </a:cubicBezTo>
                <a:lnTo>
                  <a:pt x="27472" y="49135"/>
                </a:lnTo>
                <a:cubicBezTo>
                  <a:pt x="26126" y="51039"/>
                  <a:pt x="24026" y="52253"/>
                  <a:pt x="21695" y="52450"/>
                </a:cubicBezTo>
                <a:cubicBezTo>
                  <a:pt x="19365" y="52647"/>
                  <a:pt x="17068" y="51859"/>
                  <a:pt x="15426" y="50218"/>
                </a:cubicBezTo>
                <a:lnTo>
                  <a:pt x="2298" y="37089"/>
                </a:lnTo>
                <a:cubicBezTo>
                  <a:pt x="-755" y="34004"/>
                  <a:pt x="-755" y="29015"/>
                  <a:pt x="2298" y="25930"/>
                </a:cubicBezTo>
                <a:cubicBezTo>
                  <a:pt x="5350" y="22844"/>
                  <a:pt x="10372" y="22877"/>
                  <a:pt x="13457" y="25930"/>
                </a:cubicBezTo>
                <a:lnTo>
                  <a:pt x="19956" y="32428"/>
                </a:lnTo>
                <a:lnTo>
                  <a:pt x="32953" y="13851"/>
                </a:lnTo>
                <a:cubicBezTo>
                  <a:pt x="35448" y="10273"/>
                  <a:pt x="40371" y="9420"/>
                  <a:pt x="43916" y="11914"/>
                </a:cubicBezTo>
                <a:close/>
                <a:moveTo>
                  <a:pt x="43916" y="64430"/>
                </a:moveTo>
                <a:cubicBezTo>
                  <a:pt x="47494" y="66924"/>
                  <a:pt x="48347" y="71848"/>
                  <a:pt x="45853" y="75393"/>
                </a:cubicBezTo>
                <a:lnTo>
                  <a:pt x="27472" y="101650"/>
                </a:lnTo>
                <a:cubicBezTo>
                  <a:pt x="26126" y="103554"/>
                  <a:pt x="24026" y="104768"/>
                  <a:pt x="21695" y="104965"/>
                </a:cubicBezTo>
                <a:cubicBezTo>
                  <a:pt x="19365" y="105162"/>
                  <a:pt x="17068" y="104375"/>
                  <a:pt x="15426" y="102733"/>
                </a:cubicBezTo>
                <a:lnTo>
                  <a:pt x="2298" y="89605"/>
                </a:lnTo>
                <a:cubicBezTo>
                  <a:pt x="-788" y="86519"/>
                  <a:pt x="-788" y="81530"/>
                  <a:pt x="2298" y="78478"/>
                </a:cubicBezTo>
                <a:cubicBezTo>
                  <a:pt x="5383" y="75425"/>
                  <a:pt x="10372" y="75393"/>
                  <a:pt x="13424" y="78478"/>
                </a:cubicBezTo>
                <a:lnTo>
                  <a:pt x="19923" y="84977"/>
                </a:lnTo>
                <a:lnTo>
                  <a:pt x="32921" y="66399"/>
                </a:lnTo>
                <a:cubicBezTo>
                  <a:pt x="35415" y="62822"/>
                  <a:pt x="40338" y="61968"/>
                  <a:pt x="43883" y="64463"/>
                </a:cubicBezTo>
                <a:close/>
                <a:moveTo>
                  <a:pt x="73522" y="31509"/>
                </a:moveTo>
                <a:cubicBezTo>
                  <a:pt x="73522" y="25700"/>
                  <a:pt x="78215" y="21006"/>
                  <a:pt x="84025" y="21006"/>
                </a:cubicBezTo>
                <a:lnTo>
                  <a:pt x="157547" y="21006"/>
                </a:lnTo>
                <a:cubicBezTo>
                  <a:pt x="163356" y="21006"/>
                  <a:pt x="168050" y="25700"/>
                  <a:pt x="168050" y="31509"/>
                </a:cubicBezTo>
                <a:cubicBezTo>
                  <a:pt x="168050" y="37319"/>
                  <a:pt x="163356" y="42012"/>
                  <a:pt x="157547" y="42012"/>
                </a:cubicBezTo>
                <a:lnTo>
                  <a:pt x="84025" y="42012"/>
                </a:lnTo>
                <a:cubicBezTo>
                  <a:pt x="78215" y="42012"/>
                  <a:pt x="73522" y="37319"/>
                  <a:pt x="73522" y="31509"/>
                </a:cubicBezTo>
                <a:close/>
                <a:moveTo>
                  <a:pt x="73522" y="84025"/>
                </a:moveTo>
                <a:cubicBezTo>
                  <a:pt x="73522" y="78215"/>
                  <a:pt x="78215" y="73522"/>
                  <a:pt x="84025" y="73522"/>
                </a:cubicBezTo>
                <a:lnTo>
                  <a:pt x="157547" y="73522"/>
                </a:lnTo>
                <a:cubicBezTo>
                  <a:pt x="163356" y="73522"/>
                  <a:pt x="168050" y="78215"/>
                  <a:pt x="168050" y="84025"/>
                </a:cubicBezTo>
                <a:cubicBezTo>
                  <a:pt x="168050" y="89834"/>
                  <a:pt x="163356" y="94528"/>
                  <a:pt x="157547" y="94528"/>
                </a:cubicBezTo>
                <a:lnTo>
                  <a:pt x="84025" y="94528"/>
                </a:lnTo>
                <a:cubicBezTo>
                  <a:pt x="78215" y="94528"/>
                  <a:pt x="73522" y="89834"/>
                  <a:pt x="73522" y="84025"/>
                </a:cubicBezTo>
                <a:close/>
                <a:moveTo>
                  <a:pt x="52516" y="136540"/>
                </a:moveTo>
                <a:cubicBezTo>
                  <a:pt x="52516" y="130731"/>
                  <a:pt x="57209" y="126037"/>
                  <a:pt x="63019" y="126037"/>
                </a:cubicBezTo>
                <a:lnTo>
                  <a:pt x="157547" y="126037"/>
                </a:lnTo>
                <a:cubicBezTo>
                  <a:pt x="163356" y="126037"/>
                  <a:pt x="168050" y="130731"/>
                  <a:pt x="168050" y="136540"/>
                </a:cubicBezTo>
                <a:cubicBezTo>
                  <a:pt x="168050" y="142350"/>
                  <a:pt x="163356" y="147043"/>
                  <a:pt x="157547" y="147043"/>
                </a:cubicBezTo>
                <a:lnTo>
                  <a:pt x="63019" y="147043"/>
                </a:lnTo>
                <a:cubicBezTo>
                  <a:pt x="57209" y="147043"/>
                  <a:pt x="52516" y="142350"/>
                  <a:pt x="52516" y="136540"/>
                </a:cubicBezTo>
                <a:close/>
                <a:moveTo>
                  <a:pt x="21006" y="123411"/>
                </a:moveTo>
                <a:cubicBezTo>
                  <a:pt x="28252" y="123411"/>
                  <a:pt x="34135" y="129294"/>
                  <a:pt x="34135" y="136540"/>
                </a:cubicBezTo>
                <a:cubicBezTo>
                  <a:pt x="34135" y="143786"/>
                  <a:pt x="28252" y="149669"/>
                  <a:pt x="21006" y="149669"/>
                </a:cubicBezTo>
                <a:cubicBezTo>
                  <a:pt x="13760" y="149669"/>
                  <a:pt x="7877" y="143786"/>
                  <a:pt x="7877" y="136540"/>
                </a:cubicBezTo>
                <a:cubicBezTo>
                  <a:pt x="7877" y="129294"/>
                  <a:pt x="13760" y="123411"/>
                  <a:pt x="21006" y="123411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66285" y="3373596"/>
            <a:ext cx="223506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Workload Management (WLM)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94" y="3676085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Configuration des files d'attente et priorités pour isoler les charges de travail critiques et activer le Concurrency Scaling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6753" y="4306272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65897" y="4478522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185971" y="17921"/>
                </a:moveTo>
                <a:cubicBezTo>
                  <a:pt x="190073" y="13818"/>
                  <a:pt x="190073" y="7155"/>
                  <a:pt x="185971" y="3052"/>
                </a:cubicBezTo>
                <a:cubicBezTo>
                  <a:pt x="181868" y="-1050"/>
                  <a:pt x="175205" y="-1050"/>
                  <a:pt x="171102" y="3052"/>
                </a:cubicBezTo>
                <a:lnTo>
                  <a:pt x="108083" y="66071"/>
                </a:lnTo>
                <a:lnTo>
                  <a:pt x="96694" y="54682"/>
                </a:lnTo>
                <a:cubicBezTo>
                  <a:pt x="95316" y="53303"/>
                  <a:pt x="93412" y="52516"/>
                  <a:pt x="91443" y="52516"/>
                </a:cubicBezTo>
                <a:cubicBezTo>
                  <a:pt x="87340" y="52516"/>
                  <a:pt x="84025" y="55831"/>
                  <a:pt x="84025" y="59933"/>
                </a:cubicBezTo>
                <a:lnTo>
                  <a:pt x="84025" y="69485"/>
                </a:lnTo>
                <a:lnTo>
                  <a:pt x="119571" y="105031"/>
                </a:lnTo>
                <a:lnTo>
                  <a:pt x="129123" y="105031"/>
                </a:lnTo>
                <a:cubicBezTo>
                  <a:pt x="133225" y="105031"/>
                  <a:pt x="136540" y="101716"/>
                  <a:pt x="136540" y="97613"/>
                </a:cubicBezTo>
                <a:cubicBezTo>
                  <a:pt x="136540" y="95644"/>
                  <a:pt x="135753" y="93740"/>
                  <a:pt x="134374" y="92362"/>
                </a:cubicBezTo>
                <a:lnTo>
                  <a:pt x="122985" y="80972"/>
                </a:lnTo>
                <a:lnTo>
                  <a:pt x="186003" y="17954"/>
                </a:lnTo>
                <a:close/>
                <a:moveTo>
                  <a:pt x="111956" y="115994"/>
                </a:moveTo>
                <a:lnTo>
                  <a:pt x="73062" y="77099"/>
                </a:lnTo>
                <a:cubicBezTo>
                  <a:pt x="59047" y="75885"/>
                  <a:pt x="45098" y="80940"/>
                  <a:pt x="35054" y="90983"/>
                </a:cubicBezTo>
                <a:lnTo>
                  <a:pt x="32428" y="93609"/>
                </a:lnTo>
                <a:cubicBezTo>
                  <a:pt x="25109" y="100928"/>
                  <a:pt x="21006" y="110841"/>
                  <a:pt x="21006" y="121180"/>
                </a:cubicBezTo>
                <a:cubicBezTo>
                  <a:pt x="21006" y="123411"/>
                  <a:pt x="23337" y="124856"/>
                  <a:pt x="25339" y="123871"/>
                </a:cubicBezTo>
                <a:lnTo>
                  <a:pt x="42111" y="115501"/>
                </a:lnTo>
                <a:cubicBezTo>
                  <a:pt x="43752" y="114681"/>
                  <a:pt x="45229" y="116847"/>
                  <a:pt x="43883" y="118094"/>
                </a:cubicBezTo>
                <a:lnTo>
                  <a:pt x="2396" y="155380"/>
                </a:lnTo>
                <a:cubicBezTo>
                  <a:pt x="886" y="156759"/>
                  <a:pt x="0" y="158728"/>
                  <a:pt x="0" y="160796"/>
                </a:cubicBezTo>
                <a:cubicBezTo>
                  <a:pt x="0" y="164800"/>
                  <a:pt x="3249" y="168050"/>
                  <a:pt x="7254" y="168050"/>
                </a:cubicBezTo>
                <a:lnTo>
                  <a:pt x="64135" y="168050"/>
                </a:lnTo>
                <a:cubicBezTo>
                  <a:pt x="76870" y="168050"/>
                  <a:pt x="89047" y="162995"/>
                  <a:pt x="98073" y="154002"/>
                </a:cubicBezTo>
                <a:cubicBezTo>
                  <a:pt x="108116" y="143958"/>
                  <a:pt x="113138" y="130009"/>
                  <a:pt x="111956" y="115994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66285" y="4444912"/>
            <a:ext cx="1428422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Vacuum &amp; Analyze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5394" y="4747402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Maintenance régulière pour récupérer l'espace disque (Vacuum) et mettre à jour les statistiques de requête (Analyze)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753" y="5377588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400" y="5549839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42012" y="105031"/>
                </a:moveTo>
                <a:lnTo>
                  <a:pt x="8041" y="105031"/>
                </a:lnTo>
                <a:cubicBezTo>
                  <a:pt x="-131" y="105031"/>
                  <a:pt x="-5153" y="96136"/>
                  <a:pt x="-952" y="89112"/>
                </a:cubicBezTo>
                <a:lnTo>
                  <a:pt x="16411" y="60163"/>
                </a:lnTo>
                <a:cubicBezTo>
                  <a:pt x="19267" y="55404"/>
                  <a:pt x="24387" y="52516"/>
                  <a:pt x="29934" y="52516"/>
                </a:cubicBezTo>
                <a:lnTo>
                  <a:pt x="61115" y="52516"/>
                </a:lnTo>
                <a:cubicBezTo>
                  <a:pt x="86093" y="10208"/>
                  <a:pt x="123346" y="8074"/>
                  <a:pt x="148258" y="11718"/>
                </a:cubicBezTo>
                <a:cubicBezTo>
                  <a:pt x="152459" y="12341"/>
                  <a:pt x="155741" y="15623"/>
                  <a:pt x="156332" y="19792"/>
                </a:cubicBezTo>
                <a:cubicBezTo>
                  <a:pt x="159975" y="44704"/>
                  <a:pt x="157842" y="81957"/>
                  <a:pt x="115534" y="106935"/>
                </a:cubicBezTo>
                <a:lnTo>
                  <a:pt x="115534" y="138116"/>
                </a:lnTo>
                <a:cubicBezTo>
                  <a:pt x="115534" y="143663"/>
                  <a:pt x="112646" y="148783"/>
                  <a:pt x="107887" y="151639"/>
                </a:cubicBezTo>
                <a:lnTo>
                  <a:pt x="78937" y="169001"/>
                </a:lnTo>
                <a:cubicBezTo>
                  <a:pt x="71946" y="173203"/>
                  <a:pt x="63019" y="168148"/>
                  <a:pt x="63019" y="160008"/>
                </a:cubicBezTo>
                <a:lnTo>
                  <a:pt x="63019" y="126037"/>
                </a:lnTo>
                <a:cubicBezTo>
                  <a:pt x="63019" y="114451"/>
                  <a:pt x="53599" y="105031"/>
                  <a:pt x="42012" y="105031"/>
                </a:cubicBezTo>
                <a:lnTo>
                  <a:pt x="41980" y="105031"/>
                </a:lnTo>
                <a:close/>
                <a:moveTo>
                  <a:pt x="131289" y="52516"/>
                </a:moveTo>
                <a:cubicBezTo>
                  <a:pt x="131289" y="43820"/>
                  <a:pt x="124229" y="36761"/>
                  <a:pt x="115534" y="36761"/>
                </a:cubicBezTo>
                <a:cubicBezTo>
                  <a:pt x="106839" y="36761"/>
                  <a:pt x="99779" y="43820"/>
                  <a:pt x="99779" y="52516"/>
                </a:cubicBezTo>
                <a:cubicBezTo>
                  <a:pt x="99779" y="61211"/>
                  <a:pt x="106839" y="68270"/>
                  <a:pt x="115534" y="68270"/>
                </a:cubicBezTo>
                <a:cubicBezTo>
                  <a:pt x="124229" y="68270"/>
                  <a:pt x="131289" y="61211"/>
                  <a:pt x="131289" y="52516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66285" y="5516229"/>
            <a:ext cx="174771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RA3 Nodes avec AQUA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394" y="5818718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Nœuds avec cache adaptatif et compression matérielle pour des performances jusqu'à 10x supérieures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9587" y="1382208"/>
            <a:ext cx="5646467" cy="5133916"/>
          </a:xfrm>
          <a:custGeom>
            <a:avLst/>
            <a:gdLst/>
            <a:ahLst/>
            <a:cxnLst/>
            <a:rect l="l" t="t" r="r" b="b"/>
            <a:pathLst>
              <a:path w="5646467" h="5133916">
                <a:moveTo>
                  <a:pt x="134457" y="0"/>
                </a:moveTo>
                <a:lnTo>
                  <a:pt x="5512010" y="0"/>
                </a:lnTo>
                <a:cubicBezTo>
                  <a:pt x="5586269" y="0"/>
                  <a:pt x="5646467" y="60199"/>
                  <a:pt x="5646467" y="134457"/>
                </a:cubicBezTo>
                <a:lnTo>
                  <a:pt x="5646467" y="4999459"/>
                </a:lnTo>
                <a:cubicBezTo>
                  <a:pt x="5646467" y="5073717"/>
                  <a:pt x="5586269" y="5133916"/>
                  <a:pt x="5512010" y="5133916"/>
                </a:cubicBezTo>
                <a:lnTo>
                  <a:pt x="134457" y="5133916"/>
                </a:lnTo>
                <a:cubicBezTo>
                  <a:pt x="60199" y="5133916"/>
                  <a:pt x="0" y="5073717"/>
                  <a:pt x="0" y="4999459"/>
                </a:cubicBezTo>
                <a:lnTo>
                  <a:pt x="0" y="134457"/>
                </a:lnTo>
                <a:cubicBezTo>
                  <a:pt x="0" y="60199"/>
                  <a:pt x="60199" y="0"/>
                  <a:pt x="134457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372AAC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371838" y="1554459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gradFill flip="none" rotWithShape="1">
            <a:gsLst>
              <a:gs pos="0">
                <a:srgbClr val="51A2FF"/>
              </a:gs>
              <a:gs pos="100000">
                <a:srgbClr val="615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18881" y="1688899"/>
            <a:ext cx="176452" cy="201660"/>
          </a:xfrm>
          <a:custGeom>
            <a:avLst/>
            <a:gdLst/>
            <a:ahLst/>
            <a:cxnLst/>
            <a:rect l="l" t="t" r="r" b="b"/>
            <a:pathLst>
              <a:path w="176452" h="201660">
                <a:moveTo>
                  <a:pt x="0" y="12604"/>
                </a:moveTo>
                <a:lnTo>
                  <a:pt x="84524" y="12604"/>
                </a:lnTo>
                <a:lnTo>
                  <a:pt x="84524" y="97127"/>
                </a:lnTo>
                <a:lnTo>
                  <a:pt x="0" y="97127"/>
                </a:lnTo>
                <a:lnTo>
                  <a:pt x="0" y="12604"/>
                </a:lnTo>
                <a:close/>
                <a:moveTo>
                  <a:pt x="91928" y="12604"/>
                </a:moveTo>
                <a:lnTo>
                  <a:pt x="176452" y="12604"/>
                </a:lnTo>
                <a:lnTo>
                  <a:pt x="176452" y="97127"/>
                </a:lnTo>
                <a:lnTo>
                  <a:pt x="91928" y="97127"/>
                </a:lnTo>
                <a:lnTo>
                  <a:pt x="91928" y="12604"/>
                </a:lnTo>
                <a:close/>
                <a:moveTo>
                  <a:pt x="0" y="104532"/>
                </a:moveTo>
                <a:lnTo>
                  <a:pt x="84524" y="104532"/>
                </a:lnTo>
                <a:lnTo>
                  <a:pt x="84524" y="189056"/>
                </a:lnTo>
                <a:lnTo>
                  <a:pt x="0" y="189056"/>
                </a:lnTo>
                <a:lnTo>
                  <a:pt x="0" y="104532"/>
                </a:lnTo>
                <a:close/>
                <a:moveTo>
                  <a:pt x="91928" y="104532"/>
                </a:moveTo>
                <a:lnTo>
                  <a:pt x="176452" y="104532"/>
                </a:lnTo>
                <a:lnTo>
                  <a:pt x="176452" y="189056"/>
                </a:lnTo>
                <a:lnTo>
                  <a:pt x="91928" y="189056"/>
                </a:lnTo>
                <a:lnTo>
                  <a:pt x="91928" y="10453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976816" y="1655289"/>
            <a:ext cx="93267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Synapse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40738" y="1688899"/>
            <a:ext cx="107551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Azure Analytics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6039" y="2163639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546189" y="2335890"/>
            <a:ext cx="147043" cy="168050"/>
          </a:xfrm>
          <a:custGeom>
            <a:avLst/>
            <a:gdLst/>
            <a:ahLst/>
            <a:cxnLst/>
            <a:rect l="l" t="t" r="r" b="b"/>
            <a:pathLst>
              <a:path w="147043" h="168050">
                <a:moveTo>
                  <a:pt x="10503" y="10503"/>
                </a:moveTo>
                <a:cubicBezTo>
                  <a:pt x="4694" y="10503"/>
                  <a:pt x="0" y="15197"/>
                  <a:pt x="0" y="21006"/>
                </a:cubicBezTo>
                <a:lnTo>
                  <a:pt x="0" y="52516"/>
                </a:lnTo>
                <a:cubicBezTo>
                  <a:pt x="0" y="58325"/>
                  <a:pt x="4694" y="63019"/>
                  <a:pt x="10503" y="63019"/>
                </a:cubicBezTo>
                <a:cubicBezTo>
                  <a:pt x="16313" y="63019"/>
                  <a:pt x="21006" y="58325"/>
                  <a:pt x="21006" y="52516"/>
                </a:cubicBezTo>
                <a:lnTo>
                  <a:pt x="21006" y="31509"/>
                </a:lnTo>
                <a:lnTo>
                  <a:pt x="42012" y="31509"/>
                </a:lnTo>
                <a:cubicBezTo>
                  <a:pt x="47822" y="31509"/>
                  <a:pt x="52516" y="26816"/>
                  <a:pt x="52516" y="21006"/>
                </a:cubicBezTo>
                <a:cubicBezTo>
                  <a:pt x="52516" y="15197"/>
                  <a:pt x="47822" y="10503"/>
                  <a:pt x="42012" y="10503"/>
                </a:cubicBezTo>
                <a:lnTo>
                  <a:pt x="10503" y="10503"/>
                </a:lnTo>
                <a:close/>
                <a:moveTo>
                  <a:pt x="21006" y="115534"/>
                </a:moveTo>
                <a:cubicBezTo>
                  <a:pt x="21006" y="109725"/>
                  <a:pt x="16313" y="105031"/>
                  <a:pt x="10503" y="105031"/>
                </a:cubicBezTo>
                <a:cubicBezTo>
                  <a:pt x="4694" y="105031"/>
                  <a:pt x="0" y="109725"/>
                  <a:pt x="0" y="115534"/>
                </a:cubicBezTo>
                <a:lnTo>
                  <a:pt x="0" y="147043"/>
                </a:lnTo>
                <a:cubicBezTo>
                  <a:pt x="0" y="152853"/>
                  <a:pt x="4694" y="157547"/>
                  <a:pt x="10503" y="157547"/>
                </a:cubicBezTo>
                <a:lnTo>
                  <a:pt x="42012" y="157547"/>
                </a:lnTo>
                <a:cubicBezTo>
                  <a:pt x="47822" y="157547"/>
                  <a:pt x="52516" y="152853"/>
                  <a:pt x="52516" y="147043"/>
                </a:cubicBezTo>
                <a:cubicBezTo>
                  <a:pt x="52516" y="141234"/>
                  <a:pt x="47822" y="136540"/>
                  <a:pt x="42012" y="136540"/>
                </a:cubicBezTo>
                <a:lnTo>
                  <a:pt x="21006" y="136540"/>
                </a:lnTo>
                <a:lnTo>
                  <a:pt x="21006" y="115534"/>
                </a:lnTo>
                <a:close/>
                <a:moveTo>
                  <a:pt x="105031" y="10503"/>
                </a:moveTo>
                <a:cubicBezTo>
                  <a:pt x="99221" y="10503"/>
                  <a:pt x="94528" y="15197"/>
                  <a:pt x="94528" y="21006"/>
                </a:cubicBezTo>
                <a:cubicBezTo>
                  <a:pt x="94528" y="26816"/>
                  <a:pt x="99221" y="31509"/>
                  <a:pt x="105031" y="31509"/>
                </a:cubicBezTo>
                <a:lnTo>
                  <a:pt x="126037" y="31509"/>
                </a:lnTo>
                <a:lnTo>
                  <a:pt x="126037" y="52516"/>
                </a:lnTo>
                <a:cubicBezTo>
                  <a:pt x="126037" y="58325"/>
                  <a:pt x="130731" y="63019"/>
                  <a:pt x="136540" y="63019"/>
                </a:cubicBezTo>
                <a:cubicBezTo>
                  <a:pt x="142350" y="63019"/>
                  <a:pt x="147043" y="58325"/>
                  <a:pt x="147043" y="52516"/>
                </a:cubicBezTo>
                <a:lnTo>
                  <a:pt x="147043" y="21006"/>
                </a:lnTo>
                <a:cubicBezTo>
                  <a:pt x="147043" y="15197"/>
                  <a:pt x="142350" y="10503"/>
                  <a:pt x="136540" y="10503"/>
                </a:cubicBezTo>
                <a:lnTo>
                  <a:pt x="105031" y="10503"/>
                </a:lnTo>
                <a:close/>
                <a:moveTo>
                  <a:pt x="147043" y="115534"/>
                </a:moveTo>
                <a:cubicBezTo>
                  <a:pt x="147043" y="109725"/>
                  <a:pt x="142350" y="105031"/>
                  <a:pt x="136540" y="105031"/>
                </a:cubicBezTo>
                <a:cubicBezTo>
                  <a:pt x="130731" y="105031"/>
                  <a:pt x="126037" y="109725"/>
                  <a:pt x="126037" y="115534"/>
                </a:cubicBezTo>
                <a:lnTo>
                  <a:pt x="126037" y="136540"/>
                </a:lnTo>
                <a:lnTo>
                  <a:pt x="105031" y="136540"/>
                </a:lnTo>
                <a:cubicBezTo>
                  <a:pt x="99221" y="136540"/>
                  <a:pt x="94528" y="141234"/>
                  <a:pt x="94528" y="147043"/>
                </a:cubicBezTo>
                <a:cubicBezTo>
                  <a:pt x="94528" y="152853"/>
                  <a:pt x="99221" y="157547"/>
                  <a:pt x="105031" y="157547"/>
                </a:cubicBezTo>
                <a:lnTo>
                  <a:pt x="136540" y="157547"/>
                </a:lnTo>
                <a:cubicBezTo>
                  <a:pt x="142350" y="157547"/>
                  <a:pt x="147043" y="152853"/>
                  <a:pt x="147043" y="147043"/>
                </a:cubicBezTo>
                <a:lnTo>
                  <a:pt x="147043" y="115534"/>
                </a:ln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825572" y="2302280"/>
            <a:ext cx="101670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 DWU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14680" y="2604769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Ajustement dynamique des Data Warehouse Units (cDWU) et utilisation de la fonction pause/reprise pour optimiser les coûts hors production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6039" y="3234955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525183" y="3407206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0" y="110283"/>
                </a:moveTo>
                <a:cubicBezTo>
                  <a:pt x="0" y="136376"/>
                  <a:pt x="21170" y="157547"/>
                  <a:pt x="47264" y="157547"/>
                </a:cubicBezTo>
                <a:lnTo>
                  <a:pt x="147043" y="157547"/>
                </a:lnTo>
                <a:cubicBezTo>
                  <a:pt x="170249" y="157547"/>
                  <a:pt x="189056" y="138739"/>
                  <a:pt x="189056" y="115534"/>
                </a:cubicBezTo>
                <a:cubicBezTo>
                  <a:pt x="189056" y="98598"/>
                  <a:pt x="179045" y="83992"/>
                  <a:pt x="164603" y="77362"/>
                </a:cubicBezTo>
                <a:cubicBezTo>
                  <a:pt x="166802" y="73062"/>
                  <a:pt x="168050" y="68172"/>
                  <a:pt x="168050" y="63019"/>
                </a:cubicBezTo>
                <a:cubicBezTo>
                  <a:pt x="168050" y="45623"/>
                  <a:pt x="153936" y="31509"/>
                  <a:pt x="136540" y="31509"/>
                </a:cubicBezTo>
                <a:cubicBezTo>
                  <a:pt x="130731" y="31509"/>
                  <a:pt x="125315" y="33085"/>
                  <a:pt x="120654" y="35809"/>
                </a:cubicBezTo>
                <a:cubicBezTo>
                  <a:pt x="112744" y="20776"/>
                  <a:pt x="96957" y="10503"/>
                  <a:pt x="78773" y="10503"/>
                </a:cubicBezTo>
                <a:cubicBezTo>
                  <a:pt x="52680" y="10503"/>
                  <a:pt x="31509" y="31673"/>
                  <a:pt x="31509" y="57767"/>
                </a:cubicBezTo>
                <a:cubicBezTo>
                  <a:pt x="31509" y="60393"/>
                  <a:pt x="31739" y="62986"/>
                  <a:pt x="32133" y="65480"/>
                </a:cubicBezTo>
                <a:cubicBezTo>
                  <a:pt x="13457" y="71782"/>
                  <a:pt x="0" y="89473"/>
                  <a:pt x="0" y="110283"/>
                </a:cubicBez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25572" y="3373596"/>
            <a:ext cx="1193152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Serverless SQL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14680" y="3676085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Utilisation du modèle à la demande pour l'exploration de données ad-hoc et l'interrogation directe du Data Lake sans provisionnement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6039" y="4306272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546189" y="4478522"/>
            <a:ext cx="147043" cy="168050"/>
          </a:xfrm>
          <a:custGeom>
            <a:avLst/>
            <a:gdLst/>
            <a:ahLst/>
            <a:cxnLst/>
            <a:rect l="l" t="t" r="r" b="b"/>
            <a:pathLst>
              <a:path w="147043" h="168050">
                <a:moveTo>
                  <a:pt x="21006" y="10503"/>
                </a:moveTo>
                <a:cubicBezTo>
                  <a:pt x="9420" y="10503"/>
                  <a:pt x="0" y="19923"/>
                  <a:pt x="0" y="31509"/>
                </a:cubicBezTo>
                <a:lnTo>
                  <a:pt x="0" y="52516"/>
                </a:lnTo>
                <a:cubicBezTo>
                  <a:pt x="0" y="64102"/>
                  <a:pt x="9420" y="73522"/>
                  <a:pt x="21006" y="73522"/>
                </a:cubicBezTo>
                <a:lnTo>
                  <a:pt x="126037" y="73522"/>
                </a:lnTo>
                <a:cubicBezTo>
                  <a:pt x="137623" y="73522"/>
                  <a:pt x="147043" y="64102"/>
                  <a:pt x="147043" y="52516"/>
                </a:cubicBezTo>
                <a:lnTo>
                  <a:pt x="147043" y="31509"/>
                </a:lnTo>
                <a:cubicBezTo>
                  <a:pt x="147043" y="19923"/>
                  <a:pt x="137623" y="10503"/>
                  <a:pt x="126037" y="10503"/>
                </a:cubicBezTo>
                <a:lnTo>
                  <a:pt x="21006" y="10503"/>
                </a:lnTo>
                <a:close/>
                <a:moveTo>
                  <a:pt x="91902" y="34135"/>
                </a:moveTo>
                <a:cubicBezTo>
                  <a:pt x="96250" y="34135"/>
                  <a:pt x="99779" y="37665"/>
                  <a:pt x="99779" y="42012"/>
                </a:cubicBezTo>
                <a:cubicBezTo>
                  <a:pt x="99779" y="46360"/>
                  <a:pt x="96250" y="49890"/>
                  <a:pt x="91902" y="49890"/>
                </a:cubicBezTo>
                <a:cubicBezTo>
                  <a:pt x="87555" y="49890"/>
                  <a:pt x="84025" y="46360"/>
                  <a:pt x="84025" y="42012"/>
                </a:cubicBezTo>
                <a:cubicBezTo>
                  <a:pt x="84025" y="37665"/>
                  <a:pt x="87555" y="34135"/>
                  <a:pt x="91902" y="34135"/>
                </a:cubicBezTo>
                <a:close/>
                <a:moveTo>
                  <a:pt x="110283" y="42012"/>
                </a:moveTo>
                <a:cubicBezTo>
                  <a:pt x="110283" y="37665"/>
                  <a:pt x="113812" y="34135"/>
                  <a:pt x="118160" y="34135"/>
                </a:cubicBezTo>
                <a:cubicBezTo>
                  <a:pt x="122508" y="34135"/>
                  <a:pt x="126037" y="37665"/>
                  <a:pt x="126037" y="42012"/>
                </a:cubicBezTo>
                <a:cubicBezTo>
                  <a:pt x="126037" y="46360"/>
                  <a:pt x="122508" y="49890"/>
                  <a:pt x="118160" y="49890"/>
                </a:cubicBezTo>
                <a:cubicBezTo>
                  <a:pt x="113812" y="49890"/>
                  <a:pt x="110283" y="46360"/>
                  <a:pt x="110283" y="42012"/>
                </a:cubicBezTo>
                <a:close/>
                <a:moveTo>
                  <a:pt x="21006" y="94528"/>
                </a:moveTo>
                <a:cubicBezTo>
                  <a:pt x="9420" y="94528"/>
                  <a:pt x="0" y="103948"/>
                  <a:pt x="0" y="115534"/>
                </a:cubicBezTo>
                <a:lnTo>
                  <a:pt x="0" y="136540"/>
                </a:lnTo>
                <a:cubicBezTo>
                  <a:pt x="0" y="148127"/>
                  <a:pt x="9420" y="157547"/>
                  <a:pt x="21006" y="157547"/>
                </a:cubicBezTo>
                <a:lnTo>
                  <a:pt x="126037" y="157547"/>
                </a:lnTo>
                <a:cubicBezTo>
                  <a:pt x="137623" y="157547"/>
                  <a:pt x="147043" y="148127"/>
                  <a:pt x="147043" y="136540"/>
                </a:cubicBezTo>
                <a:lnTo>
                  <a:pt x="147043" y="115534"/>
                </a:lnTo>
                <a:cubicBezTo>
                  <a:pt x="147043" y="103948"/>
                  <a:pt x="137623" y="94528"/>
                  <a:pt x="126037" y="94528"/>
                </a:cubicBezTo>
                <a:lnTo>
                  <a:pt x="21006" y="94528"/>
                </a:lnTo>
                <a:close/>
                <a:moveTo>
                  <a:pt x="91902" y="118160"/>
                </a:moveTo>
                <a:cubicBezTo>
                  <a:pt x="96250" y="118160"/>
                  <a:pt x="99779" y="121690"/>
                  <a:pt x="99779" y="126037"/>
                </a:cubicBezTo>
                <a:cubicBezTo>
                  <a:pt x="99779" y="130385"/>
                  <a:pt x="96250" y="133915"/>
                  <a:pt x="91902" y="133915"/>
                </a:cubicBezTo>
                <a:cubicBezTo>
                  <a:pt x="87555" y="133915"/>
                  <a:pt x="84025" y="130385"/>
                  <a:pt x="84025" y="126037"/>
                </a:cubicBezTo>
                <a:cubicBezTo>
                  <a:pt x="84025" y="121690"/>
                  <a:pt x="87555" y="118160"/>
                  <a:pt x="91902" y="118160"/>
                </a:cubicBezTo>
                <a:close/>
                <a:moveTo>
                  <a:pt x="110283" y="126037"/>
                </a:moveTo>
                <a:cubicBezTo>
                  <a:pt x="110283" y="121690"/>
                  <a:pt x="113812" y="118160"/>
                  <a:pt x="118160" y="118160"/>
                </a:cubicBezTo>
                <a:cubicBezTo>
                  <a:pt x="122508" y="118160"/>
                  <a:pt x="126037" y="121690"/>
                  <a:pt x="126037" y="126037"/>
                </a:cubicBezTo>
                <a:cubicBezTo>
                  <a:pt x="126037" y="130385"/>
                  <a:pt x="122508" y="133915"/>
                  <a:pt x="118160" y="133915"/>
                </a:cubicBezTo>
                <a:cubicBezTo>
                  <a:pt x="113812" y="133915"/>
                  <a:pt x="110283" y="130385"/>
                  <a:pt x="110283" y="126037"/>
                </a:cubicBez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825572" y="4444912"/>
            <a:ext cx="160487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Dedicated SQL Pools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14680" y="4747402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Réservation de pools dédiés pour les charges de travail prévisibles et performantes nécessitant des garanties de service (SLA)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6039" y="5377588"/>
            <a:ext cx="5293563" cy="966285"/>
          </a:xfrm>
          <a:custGeom>
            <a:avLst/>
            <a:gdLst/>
            <a:ahLst/>
            <a:cxnLst/>
            <a:rect l="l" t="t" r="r" b="b"/>
            <a:pathLst>
              <a:path w="5293563" h="966285">
                <a:moveTo>
                  <a:pt x="100832" y="0"/>
                </a:moveTo>
                <a:lnTo>
                  <a:pt x="5192731" y="0"/>
                </a:lnTo>
                <a:cubicBezTo>
                  <a:pt x="5248382" y="0"/>
                  <a:pt x="5293563" y="45181"/>
                  <a:pt x="5293563" y="100832"/>
                </a:cubicBezTo>
                <a:lnTo>
                  <a:pt x="5293563" y="865453"/>
                </a:lnTo>
                <a:cubicBezTo>
                  <a:pt x="5293563" y="921141"/>
                  <a:pt x="5248419" y="966285"/>
                  <a:pt x="5192731" y="966285"/>
                </a:cubicBezTo>
                <a:lnTo>
                  <a:pt x="100832" y="966285"/>
                </a:lnTo>
                <a:cubicBezTo>
                  <a:pt x="45181" y="966285"/>
                  <a:pt x="0" y="921104"/>
                  <a:pt x="0" y="865453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525183" y="5549839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168181" y="78773"/>
                </a:moveTo>
                <a:lnTo>
                  <a:pt x="110414" y="78773"/>
                </a:lnTo>
                <a:cubicBezTo>
                  <a:pt x="104604" y="78773"/>
                  <a:pt x="99911" y="74080"/>
                  <a:pt x="99911" y="68270"/>
                </a:cubicBezTo>
                <a:lnTo>
                  <a:pt x="99911" y="10503"/>
                </a:lnTo>
                <a:cubicBezTo>
                  <a:pt x="99911" y="4694"/>
                  <a:pt x="104637" y="-66"/>
                  <a:pt x="110381" y="689"/>
                </a:cubicBezTo>
                <a:cubicBezTo>
                  <a:pt x="145501" y="5350"/>
                  <a:pt x="173334" y="33183"/>
                  <a:pt x="177995" y="68303"/>
                </a:cubicBezTo>
                <a:cubicBezTo>
                  <a:pt x="178750" y="74047"/>
                  <a:pt x="173990" y="78773"/>
                  <a:pt x="168181" y="78773"/>
                </a:cubicBezTo>
                <a:close/>
                <a:moveTo>
                  <a:pt x="73062" y="12210"/>
                </a:moveTo>
                <a:cubicBezTo>
                  <a:pt x="79003" y="10963"/>
                  <a:pt x="84156" y="15820"/>
                  <a:pt x="84156" y="21892"/>
                </a:cubicBezTo>
                <a:lnTo>
                  <a:pt x="84156" y="86651"/>
                </a:lnTo>
                <a:cubicBezTo>
                  <a:pt x="84156" y="88489"/>
                  <a:pt x="84813" y="90261"/>
                  <a:pt x="85961" y="91672"/>
                </a:cubicBezTo>
                <a:lnTo>
                  <a:pt x="129319" y="143991"/>
                </a:lnTo>
                <a:cubicBezTo>
                  <a:pt x="133160" y="148619"/>
                  <a:pt x="132339" y="155610"/>
                  <a:pt x="127055" y="158466"/>
                </a:cubicBezTo>
                <a:cubicBezTo>
                  <a:pt x="115862" y="164570"/>
                  <a:pt x="103029" y="168050"/>
                  <a:pt x="89408" y="168050"/>
                </a:cubicBezTo>
                <a:cubicBezTo>
                  <a:pt x="45918" y="168050"/>
                  <a:pt x="10634" y="132766"/>
                  <a:pt x="10634" y="89276"/>
                </a:cubicBezTo>
                <a:cubicBezTo>
                  <a:pt x="10634" y="51367"/>
                  <a:pt x="37384" y="19726"/>
                  <a:pt x="73062" y="12210"/>
                </a:cubicBezTo>
                <a:close/>
                <a:moveTo>
                  <a:pt x="156824" y="94528"/>
                </a:moveTo>
                <a:lnTo>
                  <a:pt x="177831" y="94528"/>
                </a:lnTo>
                <a:cubicBezTo>
                  <a:pt x="183903" y="94528"/>
                  <a:pt x="188760" y="99681"/>
                  <a:pt x="187513" y="105622"/>
                </a:cubicBezTo>
                <a:cubicBezTo>
                  <a:pt x="184165" y="121508"/>
                  <a:pt x="176025" y="135621"/>
                  <a:pt x="164669" y="146387"/>
                </a:cubicBezTo>
                <a:cubicBezTo>
                  <a:pt x="160632" y="150227"/>
                  <a:pt x="154297" y="149407"/>
                  <a:pt x="150752" y="145107"/>
                </a:cubicBezTo>
                <a:lnTo>
                  <a:pt x="123050" y="111727"/>
                </a:lnTo>
                <a:cubicBezTo>
                  <a:pt x="117372" y="104867"/>
                  <a:pt x="122263" y="94528"/>
                  <a:pt x="131125" y="94528"/>
                </a:cubicBezTo>
                <a:lnTo>
                  <a:pt x="156792" y="94528"/>
                </a:ln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825572" y="5516229"/>
            <a:ext cx="154605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Intégration Power BI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14680" y="5818718"/>
            <a:ext cx="5075099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Connexion directe et optimisée avec Power BI pour des visualisations temps réel sans import de données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>
            <a:extLst>
              <a:ext uri="{FF2B5EF4-FFF2-40B4-BE49-F238E27FC236}">
                <a16:creationId xmlns:a16="http://schemas.microsoft.com/office/drawing/2014/main" id="{223EC7D7-1035-E19B-F562-72DFAD3953A8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349091" y="349091"/>
            <a:ext cx="11563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kern="0" spc="55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 PRATIQUE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628364"/>
            <a:ext cx="11650909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Étude de Cas: Avant / Après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091" y="1047273"/>
            <a:ext cx="1157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 d'impact des optimisations sur la performance et les coûts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455" y="1435636"/>
            <a:ext cx="3709091" cy="5070545"/>
          </a:xfrm>
          <a:custGeom>
            <a:avLst/>
            <a:gdLst/>
            <a:ahLst/>
            <a:cxnLst/>
            <a:rect l="l" t="t" r="r" b="b"/>
            <a:pathLst>
              <a:path w="3709091" h="5070545">
                <a:moveTo>
                  <a:pt x="139647" y="0"/>
                </a:moveTo>
                <a:lnTo>
                  <a:pt x="3569444" y="0"/>
                </a:lnTo>
                <a:cubicBezTo>
                  <a:pt x="3646569" y="0"/>
                  <a:pt x="3709091" y="62522"/>
                  <a:pt x="3709091" y="139647"/>
                </a:cubicBezTo>
                <a:lnTo>
                  <a:pt x="3709091" y="4930898"/>
                </a:lnTo>
                <a:cubicBezTo>
                  <a:pt x="3709091" y="5008023"/>
                  <a:pt x="3646569" y="5070545"/>
                  <a:pt x="3569444" y="5070545"/>
                </a:cubicBezTo>
                <a:lnTo>
                  <a:pt x="139647" y="5070545"/>
                </a:lnTo>
                <a:cubicBezTo>
                  <a:pt x="62522" y="5070545"/>
                  <a:pt x="0" y="5008023"/>
                  <a:pt x="0" y="4930898"/>
                </a:cubicBezTo>
                <a:lnTo>
                  <a:pt x="0" y="139647"/>
                </a:lnTo>
                <a:cubicBezTo>
                  <a:pt x="0" y="62574"/>
                  <a:pt x="62574" y="0"/>
                  <a:pt x="139647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60000"/>
                </a:srgbClr>
              </a:gs>
              <a:gs pos="100000">
                <a:srgbClr val="9F0712">
                  <a:alpha val="40000"/>
                </a:srgbClr>
              </a:gs>
            </a:gsLst>
            <a:lin ang="2700000" scaled="1"/>
          </a:gradFill>
          <a:ln w="12700">
            <a:solidFill>
              <a:srgbClr val="FB2C36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32364" y="1614545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104727" y="0"/>
                </a:moveTo>
                <a:lnTo>
                  <a:pt x="314182" y="0"/>
                </a:lnTo>
                <a:cubicBezTo>
                  <a:pt x="372021" y="0"/>
                  <a:pt x="418909" y="46888"/>
                  <a:pt x="418909" y="104727"/>
                </a:cubicBezTo>
                <a:lnTo>
                  <a:pt x="418909" y="314182"/>
                </a:lnTo>
                <a:cubicBezTo>
                  <a:pt x="418909" y="372021"/>
                  <a:pt x="372021" y="418909"/>
                  <a:pt x="314182" y="418909"/>
                </a:cubicBezTo>
                <a:lnTo>
                  <a:pt x="104727" y="418909"/>
                </a:lnTo>
                <a:cubicBezTo>
                  <a:pt x="46888" y="418909"/>
                  <a:pt x="0" y="372021"/>
                  <a:pt x="0" y="314182"/>
                </a:cubicBezTo>
                <a:lnTo>
                  <a:pt x="0" y="104727"/>
                </a:lnTo>
                <a:cubicBezTo>
                  <a:pt x="0" y="46927"/>
                  <a:pt x="46927" y="0"/>
                  <a:pt x="10472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467"/>
              </a:gs>
              <a:gs pos="100000">
                <a:srgbClr val="FF690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54545" y="1736727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87273" y="174545"/>
                </a:moveTo>
                <a:cubicBezTo>
                  <a:pt x="135440" y="174545"/>
                  <a:pt x="174545" y="135440"/>
                  <a:pt x="174545" y="87273"/>
                </a:cubicBezTo>
                <a:cubicBezTo>
                  <a:pt x="174545" y="39106"/>
                  <a:pt x="135440" y="0"/>
                  <a:pt x="87273" y="0"/>
                </a:cubicBezTo>
                <a:cubicBezTo>
                  <a:pt x="39106" y="0"/>
                  <a:pt x="0" y="39106"/>
                  <a:pt x="0" y="87273"/>
                </a:cubicBezTo>
                <a:cubicBezTo>
                  <a:pt x="0" y="135440"/>
                  <a:pt x="39106" y="174545"/>
                  <a:pt x="87273" y="174545"/>
                </a:cubicBezTo>
                <a:close/>
                <a:moveTo>
                  <a:pt x="56932" y="56932"/>
                </a:moveTo>
                <a:cubicBezTo>
                  <a:pt x="60136" y="53727"/>
                  <a:pt x="65318" y="53727"/>
                  <a:pt x="68489" y="56932"/>
                </a:cubicBezTo>
                <a:lnTo>
                  <a:pt x="87239" y="75682"/>
                </a:lnTo>
                <a:lnTo>
                  <a:pt x="105989" y="56932"/>
                </a:lnTo>
                <a:cubicBezTo>
                  <a:pt x="109193" y="53727"/>
                  <a:pt x="114375" y="53727"/>
                  <a:pt x="117545" y="56932"/>
                </a:cubicBezTo>
                <a:cubicBezTo>
                  <a:pt x="120716" y="60136"/>
                  <a:pt x="120750" y="65318"/>
                  <a:pt x="117545" y="68489"/>
                </a:cubicBezTo>
                <a:lnTo>
                  <a:pt x="98795" y="87239"/>
                </a:lnTo>
                <a:lnTo>
                  <a:pt x="117545" y="105989"/>
                </a:lnTo>
                <a:cubicBezTo>
                  <a:pt x="120750" y="109193"/>
                  <a:pt x="120750" y="114375"/>
                  <a:pt x="117545" y="117545"/>
                </a:cubicBezTo>
                <a:cubicBezTo>
                  <a:pt x="114341" y="120716"/>
                  <a:pt x="109159" y="120750"/>
                  <a:pt x="105989" y="117545"/>
                </a:cubicBezTo>
                <a:lnTo>
                  <a:pt x="87239" y="98795"/>
                </a:lnTo>
                <a:lnTo>
                  <a:pt x="68489" y="117545"/>
                </a:lnTo>
                <a:cubicBezTo>
                  <a:pt x="65284" y="120750"/>
                  <a:pt x="60102" y="120750"/>
                  <a:pt x="56932" y="117545"/>
                </a:cubicBezTo>
                <a:cubicBezTo>
                  <a:pt x="53761" y="114341"/>
                  <a:pt x="53727" y="109159"/>
                  <a:pt x="56932" y="105989"/>
                </a:cubicBezTo>
                <a:lnTo>
                  <a:pt x="75682" y="87239"/>
                </a:lnTo>
                <a:lnTo>
                  <a:pt x="56932" y="68489"/>
                </a:lnTo>
                <a:cubicBezTo>
                  <a:pt x="53727" y="65284"/>
                  <a:pt x="53727" y="60102"/>
                  <a:pt x="56932" y="5693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56000" y="1684364"/>
            <a:ext cx="1719273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Situation Initiale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6727" y="2177455"/>
            <a:ext cx="3342545" cy="1265455"/>
          </a:xfrm>
          <a:custGeom>
            <a:avLst/>
            <a:gdLst/>
            <a:ahLst/>
            <a:cxnLst/>
            <a:rect l="l" t="t" r="r" b="b"/>
            <a:pathLst>
              <a:path w="3342545" h="1265455">
                <a:moveTo>
                  <a:pt x="69815" y="0"/>
                </a:moveTo>
                <a:lnTo>
                  <a:pt x="3272730" y="0"/>
                </a:lnTo>
                <a:cubicBezTo>
                  <a:pt x="3311288" y="0"/>
                  <a:pt x="3342545" y="31257"/>
                  <a:pt x="3342545" y="69815"/>
                </a:cubicBezTo>
                <a:lnTo>
                  <a:pt x="3342545" y="1195639"/>
                </a:lnTo>
                <a:cubicBezTo>
                  <a:pt x="3342545" y="1234197"/>
                  <a:pt x="3311288" y="1265455"/>
                  <a:pt x="3272730" y="1265455"/>
                </a:cubicBezTo>
                <a:lnTo>
                  <a:pt x="69815" y="1265455"/>
                </a:lnTo>
                <a:cubicBezTo>
                  <a:pt x="31283" y="1265455"/>
                  <a:pt x="0" y="1234171"/>
                  <a:pt x="0" y="1195639"/>
                </a:cubicBezTo>
                <a:lnTo>
                  <a:pt x="0" y="69815"/>
                </a:lnTo>
                <a:cubicBezTo>
                  <a:pt x="0" y="31283"/>
                  <a:pt x="31283" y="0"/>
                  <a:pt x="69815" y="0"/>
                </a:cubicBezTo>
                <a:close/>
              </a:path>
            </a:pathLst>
          </a:custGeom>
          <a:solidFill>
            <a:srgbClr val="460809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02545" y="2365091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78545" y="0"/>
                </a:moveTo>
                <a:cubicBezTo>
                  <a:pt x="83056" y="0"/>
                  <a:pt x="87198" y="2485"/>
                  <a:pt x="89345" y="6443"/>
                </a:cubicBezTo>
                <a:lnTo>
                  <a:pt x="155618" y="129170"/>
                </a:lnTo>
                <a:cubicBezTo>
                  <a:pt x="157674" y="132975"/>
                  <a:pt x="157582" y="137577"/>
                  <a:pt x="155373" y="141290"/>
                </a:cubicBezTo>
                <a:cubicBezTo>
                  <a:pt x="153164" y="145002"/>
                  <a:pt x="149144" y="147273"/>
                  <a:pt x="144818" y="147273"/>
                </a:cubicBezTo>
                <a:lnTo>
                  <a:pt x="12273" y="147273"/>
                </a:lnTo>
                <a:cubicBezTo>
                  <a:pt x="7947" y="147273"/>
                  <a:pt x="3958" y="145002"/>
                  <a:pt x="1718" y="141290"/>
                </a:cubicBezTo>
                <a:cubicBezTo>
                  <a:pt x="-522" y="137577"/>
                  <a:pt x="-583" y="132975"/>
                  <a:pt x="1473" y="129170"/>
                </a:cubicBezTo>
                <a:lnTo>
                  <a:pt x="67745" y="6443"/>
                </a:lnTo>
                <a:cubicBezTo>
                  <a:pt x="69893" y="2485"/>
                  <a:pt x="74035" y="0"/>
                  <a:pt x="78545" y="0"/>
                </a:cubicBezTo>
                <a:close/>
                <a:moveTo>
                  <a:pt x="78545" y="51545"/>
                </a:moveTo>
                <a:cubicBezTo>
                  <a:pt x="74465" y="51545"/>
                  <a:pt x="71182" y="54828"/>
                  <a:pt x="71182" y="58909"/>
                </a:cubicBezTo>
                <a:lnTo>
                  <a:pt x="71182" y="93273"/>
                </a:lnTo>
                <a:cubicBezTo>
                  <a:pt x="71182" y="97353"/>
                  <a:pt x="74465" y="100636"/>
                  <a:pt x="78545" y="100636"/>
                </a:cubicBezTo>
                <a:cubicBezTo>
                  <a:pt x="82626" y="100636"/>
                  <a:pt x="85909" y="97353"/>
                  <a:pt x="85909" y="93273"/>
                </a:cubicBezTo>
                <a:lnTo>
                  <a:pt x="85909" y="58909"/>
                </a:lnTo>
                <a:cubicBezTo>
                  <a:pt x="85909" y="54828"/>
                  <a:pt x="82626" y="51545"/>
                  <a:pt x="78545" y="51545"/>
                </a:cubicBezTo>
                <a:close/>
                <a:moveTo>
                  <a:pt x="86738" y="117818"/>
                </a:moveTo>
                <a:cubicBezTo>
                  <a:pt x="86924" y="114777"/>
                  <a:pt x="85407" y="111884"/>
                  <a:pt x="82801" y="110308"/>
                </a:cubicBezTo>
                <a:cubicBezTo>
                  <a:pt x="80194" y="108731"/>
                  <a:pt x="76928" y="108731"/>
                  <a:pt x="74321" y="110308"/>
                </a:cubicBezTo>
                <a:cubicBezTo>
                  <a:pt x="71714" y="111884"/>
                  <a:pt x="70198" y="114777"/>
                  <a:pt x="70384" y="117818"/>
                </a:cubicBezTo>
                <a:cubicBezTo>
                  <a:pt x="70198" y="120859"/>
                  <a:pt x="71714" y="123752"/>
                  <a:pt x="74321" y="125329"/>
                </a:cubicBezTo>
                <a:cubicBezTo>
                  <a:pt x="76928" y="126906"/>
                  <a:pt x="80194" y="126906"/>
                  <a:pt x="82801" y="125329"/>
                </a:cubicBezTo>
                <a:cubicBezTo>
                  <a:pt x="85407" y="123752"/>
                  <a:pt x="86924" y="120859"/>
                  <a:pt x="86738" y="117818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81455" y="2321455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Problèmes Critiques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455" y="2670545"/>
            <a:ext cx="91636" cy="122182"/>
          </a:xfrm>
          <a:custGeom>
            <a:avLst/>
            <a:gdLst/>
            <a:ahLst/>
            <a:cxnLst/>
            <a:rect l="l" t="t" r="r" b="b"/>
            <a:pathLst>
              <a:path w="91636" h="122182">
                <a:moveTo>
                  <a:pt x="13149" y="17516"/>
                </a:moveTo>
                <a:cubicBezTo>
                  <a:pt x="10166" y="14533"/>
                  <a:pt x="5322" y="14533"/>
                  <a:pt x="2339" y="17516"/>
                </a:cubicBezTo>
                <a:cubicBezTo>
                  <a:pt x="-644" y="20499"/>
                  <a:pt x="-644" y="25343"/>
                  <a:pt x="2339" y="28326"/>
                </a:cubicBezTo>
                <a:lnTo>
                  <a:pt x="35127" y="61091"/>
                </a:lnTo>
                <a:lnTo>
                  <a:pt x="2363" y="93880"/>
                </a:lnTo>
                <a:cubicBezTo>
                  <a:pt x="-620" y="96863"/>
                  <a:pt x="-620" y="101707"/>
                  <a:pt x="2363" y="104690"/>
                </a:cubicBezTo>
                <a:cubicBezTo>
                  <a:pt x="5345" y="107673"/>
                  <a:pt x="10190" y="107673"/>
                  <a:pt x="13173" y="104690"/>
                </a:cubicBezTo>
                <a:lnTo>
                  <a:pt x="45938" y="71901"/>
                </a:lnTo>
                <a:lnTo>
                  <a:pt x="78726" y="104666"/>
                </a:lnTo>
                <a:cubicBezTo>
                  <a:pt x="81709" y="107649"/>
                  <a:pt x="86553" y="107649"/>
                  <a:pt x="89536" y="104666"/>
                </a:cubicBezTo>
                <a:cubicBezTo>
                  <a:pt x="92519" y="101683"/>
                  <a:pt x="92519" y="96839"/>
                  <a:pt x="89536" y="93856"/>
                </a:cubicBezTo>
                <a:lnTo>
                  <a:pt x="56748" y="61091"/>
                </a:lnTo>
                <a:lnTo>
                  <a:pt x="89513" y="28302"/>
                </a:lnTo>
                <a:cubicBezTo>
                  <a:pt x="92495" y="25319"/>
                  <a:pt x="92495" y="20475"/>
                  <a:pt x="89513" y="17492"/>
                </a:cubicBezTo>
                <a:cubicBezTo>
                  <a:pt x="86530" y="14509"/>
                  <a:pt x="81685" y="14509"/>
                  <a:pt x="78702" y="17492"/>
                </a:cubicBezTo>
                <a:lnTo>
                  <a:pt x="45938" y="50281"/>
                </a:lnTo>
                <a:lnTo>
                  <a:pt x="13149" y="17516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03273" y="2635636"/>
            <a:ext cx="1527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de requête excessif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455" y="2914909"/>
            <a:ext cx="91636" cy="122182"/>
          </a:xfrm>
          <a:custGeom>
            <a:avLst/>
            <a:gdLst/>
            <a:ahLst/>
            <a:cxnLst/>
            <a:rect l="l" t="t" r="r" b="b"/>
            <a:pathLst>
              <a:path w="91636" h="122182">
                <a:moveTo>
                  <a:pt x="13149" y="17516"/>
                </a:moveTo>
                <a:cubicBezTo>
                  <a:pt x="10166" y="14533"/>
                  <a:pt x="5322" y="14533"/>
                  <a:pt x="2339" y="17516"/>
                </a:cubicBezTo>
                <a:cubicBezTo>
                  <a:pt x="-644" y="20499"/>
                  <a:pt x="-644" y="25343"/>
                  <a:pt x="2339" y="28326"/>
                </a:cubicBezTo>
                <a:lnTo>
                  <a:pt x="35127" y="61091"/>
                </a:lnTo>
                <a:lnTo>
                  <a:pt x="2363" y="93880"/>
                </a:lnTo>
                <a:cubicBezTo>
                  <a:pt x="-620" y="96863"/>
                  <a:pt x="-620" y="101707"/>
                  <a:pt x="2363" y="104690"/>
                </a:cubicBezTo>
                <a:cubicBezTo>
                  <a:pt x="5345" y="107673"/>
                  <a:pt x="10190" y="107673"/>
                  <a:pt x="13173" y="104690"/>
                </a:cubicBezTo>
                <a:lnTo>
                  <a:pt x="45938" y="71901"/>
                </a:lnTo>
                <a:lnTo>
                  <a:pt x="78726" y="104666"/>
                </a:lnTo>
                <a:cubicBezTo>
                  <a:pt x="81709" y="107649"/>
                  <a:pt x="86553" y="107649"/>
                  <a:pt x="89536" y="104666"/>
                </a:cubicBezTo>
                <a:cubicBezTo>
                  <a:pt x="92519" y="101683"/>
                  <a:pt x="92519" y="96839"/>
                  <a:pt x="89536" y="93856"/>
                </a:cubicBezTo>
                <a:lnTo>
                  <a:pt x="56748" y="61091"/>
                </a:lnTo>
                <a:lnTo>
                  <a:pt x="89513" y="28302"/>
                </a:lnTo>
                <a:cubicBezTo>
                  <a:pt x="92495" y="25319"/>
                  <a:pt x="92495" y="20475"/>
                  <a:pt x="89513" y="17492"/>
                </a:cubicBezTo>
                <a:cubicBezTo>
                  <a:pt x="86530" y="14509"/>
                  <a:pt x="81685" y="14509"/>
                  <a:pt x="78702" y="17492"/>
                </a:cubicBezTo>
                <a:lnTo>
                  <a:pt x="45938" y="50281"/>
                </a:lnTo>
                <a:lnTo>
                  <a:pt x="13149" y="17516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03273" y="2880000"/>
            <a:ext cx="1623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Explosion des coûts (6 mois)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455" y="3159273"/>
            <a:ext cx="91636" cy="122182"/>
          </a:xfrm>
          <a:custGeom>
            <a:avLst/>
            <a:gdLst/>
            <a:ahLst/>
            <a:cxnLst/>
            <a:rect l="l" t="t" r="r" b="b"/>
            <a:pathLst>
              <a:path w="91636" h="122182">
                <a:moveTo>
                  <a:pt x="13149" y="17516"/>
                </a:moveTo>
                <a:cubicBezTo>
                  <a:pt x="10166" y="14533"/>
                  <a:pt x="5322" y="14533"/>
                  <a:pt x="2339" y="17516"/>
                </a:cubicBezTo>
                <a:cubicBezTo>
                  <a:pt x="-644" y="20499"/>
                  <a:pt x="-644" y="25343"/>
                  <a:pt x="2339" y="28326"/>
                </a:cubicBezTo>
                <a:lnTo>
                  <a:pt x="35127" y="61091"/>
                </a:lnTo>
                <a:lnTo>
                  <a:pt x="2363" y="93880"/>
                </a:lnTo>
                <a:cubicBezTo>
                  <a:pt x="-620" y="96863"/>
                  <a:pt x="-620" y="101707"/>
                  <a:pt x="2363" y="104690"/>
                </a:cubicBezTo>
                <a:cubicBezTo>
                  <a:pt x="5345" y="107673"/>
                  <a:pt x="10190" y="107673"/>
                  <a:pt x="13173" y="104690"/>
                </a:cubicBezTo>
                <a:lnTo>
                  <a:pt x="45938" y="71901"/>
                </a:lnTo>
                <a:lnTo>
                  <a:pt x="78726" y="104666"/>
                </a:lnTo>
                <a:cubicBezTo>
                  <a:pt x="81709" y="107649"/>
                  <a:pt x="86553" y="107649"/>
                  <a:pt x="89536" y="104666"/>
                </a:cubicBezTo>
                <a:cubicBezTo>
                  <a:pt x="92519" y="101683"/>
                  <a:pt x="92519" y="96839"/>
                  <a:pt x="89536" y="93856"/>
                </a:cubicBezTo>
                <a:lnTo>
                  <a:pt x="56748" y="61091"/>
                </a:lnTo>
                <a:lnTo>
                  <a:pt x="89513" y="28302"/>
                </a:lnTo>
                <a:cubicBezTo>
                  <a:pt x="92495" y="25319"/>
                  <a:pt x="92495" y="20475"/>
                  <a:pt x="89513" y="17492"/>
                </a:cubicBezTo>
                <a:cubicBezTo>
                  <a:pt x="86530" y="14509"/>
                  <a:pt x="81685" y="14509"/>
                  <a:pt x="78702" y="17492"/>
                </a:cubicBezTo>
                <a:lnTo>
                  <a:pt x="45938" y="50281"/>
                </a:lnTo>
                <a:lnTo>
                  <a:pt x="13149" y="17516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03273" y="3124364"/>
            <a:ext cx="1335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Utilisateurs mécontents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6727" y="3556364"/>
            <a:ext cx="3342545" cy="1509818"/>
          </a:xfrm>
          <a:custGeom>
            <a:avLst/>
            <a:gdLst/>
            <a:ahLst/>
            <a:cxnLst/>
            <a:rect l="l" t="t" r="r" b="b"/>
            <a:pathLst>
              <a:path w="3342545" h="1509818">
                <a:moveTo>
                  <a:pt x="69814" y="0"/>
                </a:moveTo>
                <a:lnTo>
                  <a:pt x="3272731" y="0"/>
                </a:lnTo>
                <a:cubicBezTo>
                  <a:pt x="3311289" y="0"/>
                  <a:pt x="3342545" y="31257"/>
                  <a:pt x="3342545" y="69814"/>
                </a:cubicBezTo>
                <a:lnTo>
                  <a:pt x="3342545" y="1440004"/>
                </a:lnTo>
                <a:cubicBezTo>
                  <a:pt x="3342545" y="1478561"/>
                  <a:pt x="3311289" y="1509818"/>
                  <a:pt x="3272731" y="1509818"/>
                </a:cubicBezTo>
                <a:lnTo>
                  <a:pt x="69814" y="1509818"/>
                </a:lnTo>
                <a:cubicBezTo>
                  <a:pt x="31257" y="1509818"/>
                  <a:pt x="0" y="1478561"/>
                  <a:pt x="0" y="1440004"/>
                </a:cubicBezTo>
                <a:lnTo>
                  <a:pt x="0" y="69814"/>
                </a:lnTo>
                <a:cubicBezTo>
                  <a:pt x="0" y="31283"/>
                  <a:pt x="31283" y="0"/>
                  <a:pt x="69814" y="0"/>
                </a:cubicBezTo>
                <a:close/>
              </a:path>
            </a:pathLst>
          </a:custGeom>
          <a:solidFill>
            <a:srgbClr val="460809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02545" y="3744000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127636" y="63818"/>
                </a:moveTo>
                <a:cubicBezTo>
                  <a:pt x="127636" y="77901"/>
                  <a:pt x="123065" y="90910"/>
                  <a:pt x="115364" y="101465"/>
                </a:cubicBezTo>
                <a:lnTo>
                  <a:pt x="154207" y="140339"/>
                </a:lnTo>
                <a:cubicBezTo>
                  <a:pt x="158042" y="144174"/>
                  <a:pt x="158042" y="150402"/>
                  <a:pt x="154207" y="154237"/>
                </a:cubicBezTo>
                <a:cubicBezTo>
                  <a:pt x="150372" y="158073"/>
                  <a:pt x="144143" y="158073"/>
                  <a:pt x="140308" y="154237"/>
                </a:cubicBezTo>
                <a:lnTo>
                  <a:pt x="101465" y="115364"/>
                </a:lnTo>
                <a:cubicBezTo>
                  <a:pt x="90910" y="123065"/>
                  <a:pt x="77901" y="127636"/>
                  <a:pt x="63818" y="127636"/>
                </a:cubicBezTo>
                <a:cubicBezTo>
                  <a:pt x="28565" y="127636"/>
                  <a:pt x="0" y="99072"/>
                  <a:pt x="0" y="63818"/>
                </a:cubicBezTo>
                <a:cubicBezTo>
                  <a:pt x="0" y="28565"/>
                  <a:pt x="28565" y="0"/>
                  <a:pt x="63818" y="0"/>
                </a:cubicBezTo>
                <a:cubicBezTo>
                  <a:pt x="99072" y="0"/>
                  <a:pt x="127636" y="28565"/>
                  <a:pt x="127636" y="63818"/>
                </a:cubicBezTo>
                <a:close/>
                <a:moveTo>
                  <a:pt x="63818" y="108000"/>
                </a:moveTo>
                <a:cubicBezTo>
                  <a:pt x="88203" y="108000"/>
                  <a:pt x="108000" y="88203"/>
                  <a:pt x="108000" y="63818"/>
                </a:cubicBezTo>
                <a:cubicBezTo>
                  <a:pt x="108000" y="39434"/>
                  <a:pt x="88203" y="19636"/>
                  <a:pt x="63818" y="19636"/>
                </a:cubicBezTo>
                <a:cubicBezTo>
                  <a:pt x="39434" y="19636"/>
                  <a:pt x="19636" y="39434"/>
                  <a:pt x="19636" y="63818"/>
                </a:cubicBezTo>
                <a:cubicBezTo>
                  <a:pt x="19636" y="88203"/>
                  <a:pt x="39434" y="108000"/>
                  <a:pt x="63818" y="1080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81455" y="3700364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Causes Racines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3818" y="4066909"/>
            <a:ext cx="104727" cy="104727"/>
          </a:xfrm>
          <a:custGeom>
            <a:avLst/>
            <a:gdLst/>
            <a:ahLst/>
            <a:cxnLst/>
            <a:rect l="l" t="t" r="r" b="b"/>
            <a:pathLst>
              <a:path w="104727" h="104727">
                <a:moveTo>
                  <a:pt x="0" y="52364"/>
                </a:moveTo>
                <a:cubicBezTo>
                  <a:pt x="0" y="23463"/>
                  <a:pt x="23463" y="0"/>
                  <a:pt x="52364" y="0"/>
                </a:cubicBezTo>
                <a:cubicBezTo>
                  <a:pt x="81264" y="0"/>
                  <a:pt x="104727" y="23463"/>
                  <a:pt x="104727" y="52364"/>
                </a:cubicBezTo>
                <a:cubicBezTo>
                  <a:pt x="104727" y="81264"/>
                  <a:pt x="81264" y="104727"/>
                  <a:pt x="52364" y="104727"/>
                </a:cubicBezTo>
                <a:cubicBezTo>
                  <a:pt x="23463" y="104727"/>
                  <a:pt x="0" y="81264"/>
                  <a:pt x="0" y="5236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81455" y="4014545"/>
            <a:ext cx="2181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Scans complets (TB) à chaque requête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3818" y="4311273"/>
            <a:ext cx="104727" cy="104727"/>
          </a:xfrm>
          <a:custGeom>
            <a:avLst/>
            <a:gdLst/>
            <a:ahLst/>
            <a:cxnLst/>
            <a:rect l="l" t="t" r="r" b="b"/>
            <a:pathLst>
              <a:path w="104727" h="104727">
                <a:moveTo>
                  <a:pt x="0" y="52364"/>
                </a:moveTo>
                <a:cubicBezTo>
                  <a:pt x="0" y="23463"/>
                  <a:pt x="23463" y="0"/>
                  <a:pt x="52364" y="0"/>
                </a:cubicBezTo>
                <a:cubicBezTo>
                  <a:pt x="81264" y="0"/>
                  <a:pt x="104727" y="23463"/>
                  <a:pt x="104727" y="52364"/>
                </a:cubicBezTo>
                <a:cubicBezTo>
                  <a:pt x="104727" y="81264"/>
                  <a:pt x="81264" y="104727"/>
                  <a:pt x="52364" y="104727"/>
                </a:cubicBezTo>
                <a:cubicBezTo>
                  <a:pt x="23463" y="104727"/>
                  <a:pt x="0" y="81264"/>
                  <a:pt x="0" y="5236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81455" y="4258909"/>
            <a:ext cx="2181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Multiples jointures complexes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3818" y="4555636"/>
            <a:ext cx="104727" cy="104727"/>
          </a:xfrm>
          <a:custGeom>
            <a:avLst/>
            <a:gdLst/>
            <a:ahLst/>
            <a:cxnLst/>
            <a:rect l="l" t="t" r="r" b="b"/>
            <a:pathLst>
              <a:path w="104727" h="104727">
                <a:moveTo>
                  <a:pt x="0" y="52364"/>
                </a:moveTo>
                <a:cubicBezTo>
                  <a:pt x="0" y="23463"/>
                  <a:pt x="23463" y="0"/>
                  <a:pt x="52364" y="0"/>
                </a:cubicBezTo>
                <a:cubicBezTo>
                  <a:pt x="81264" y="0"/>
                  <a:pt x="104727" y="23463"/>
                  <a:pt x="104727" y="52364"/>
                </a:cubicBezTo>
                <a:cubicBezTo>
                  <a:pt x="104727" y="81264"/>
                  <a:pt x="81264" y="104727"/>
                  <a:pt x="52364" y="104727"/>
                </a:cubicBezTo>
                <a:cubicBezTo>
                  <a:pt x="23463" y="104727"/>
                  <a:pt x="0" y="81264"/>
                  <a:pt x="0" y="5236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81455" y="4503273"/>
            <a:ext cx="1893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Absence de partitionnement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3818" y="4800000"/>
            <a:ext cx="104727" cy="104727"/>
          </a:xfrm>
          <a:custGeom>
            <a:avLst/>
            <a:gdLst/>
            <a:ahLst/>
            <a:cxnLst/>
            <a:rect l="l" t="t" r="r" b="b"/>
            <a:pathLst>
              <a:path w="104727" h="104727">
                <a:moveTo>
                  <a:pt x="0" y="52364"/>
                </a:moveTo>
                <a:cubicBezTo>
                  <a:pt x="0" y="23463"/>
                  <a:pt x="23463" y="0"/>
                  <a:pt x="52364" y="0"/>
                </a:cubicBezTo>
                <a:cubicBezTo>
                  <a:pt x="81264" y="0"/>
                  <a:pt x="104727" y="23463"/>
                  <a:pt x="104727" y="52364"/>
                </a:cubicBezTo>
                <a:cubicBezTo>
                  <a:pt x="104727" y="81264"/>
                  <a:pt x="81264" y="104727"/>
                  <a:pt x="52364" y="104727"/>
                </a:cubicBezTo>
                <a:cubicBezTo>
                  <a:pt x="23463" y="104727"/>
                  <a:pt x="0" y="81264"/>
                  <a:pt x="0" y="5236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81455" y="4747636"/>
            <a:ext cx="1492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 d'auto-suspend activé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3773" y="1435636"/>
            <a:ext cx="3709091" cy="5070545"/>
          </a:xfrm>
          <a:custGeom>
            <a:avLst/>
            <a:gdLst/>
            <a:ahLst/>
            <a:cxnLst/>
            <a:rect l="l" t="t" r="r" b="b"/>
            <a:pathLst>
              <a:path w="3709091" h="5070545">
                <a:moveTo>
                  <a:pt x="139647" y="0"/>
                </a:moveTo>
                <a:lnTo>
                  <a:pt x="3569444" y="0"/>
                </a:lnTo>
                <a:cubicBezTo>
                  <a:pt x="3646569" y="0"/>
                  <a:pt x="3709091" y="62522"/>
                  <a:pt x="3709091" y="139647"/>
                </a:cubicBezTo>
                <a:lnTo>
                  <a:pt x="3709091" y="4930898"/>
                </a:lnTo>
                <a:cubicBezTo>
                  <a:pt x="3709091" y="5008023"/>
                  <a:pt x="3646569" y="5070545"/>
                  <a:pt x="3569444" y="5070545"/>
                </a:cubicBezTo>
                <a:lnTo>
                  <a:pt x="139647" y="5070545"/>
                </a:lnTo>
                <a:cubicBezTo>
                  <a:pt x="62522" y="5070545"/>
                  <a:pt x="0" y="5008023"/>
                  <a:pt x="0" y="4930898"/>
                </a:cubicBezTo>
                <a:lnTo>
                  <a:pt x="0" y="139647"/>
                </a:lnTo>
                <a:cubicBezTo>
                  <a:pt x="0" y="62574"/>
                  <a:pt x="62574" y="0"/>
                  <a:pt x="139647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422682" y="1614545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104727" y="0"/>
                </a:moveTo>
                <a:lnTo>
                  <a:pt x="314182" y="0"/>
                </a:lnTo>
                <a:cubicBezTo>
                  <a:pt x="372021" y="0"/>
                  <a:pt x="418909" y="46888"/>
                  <a:pt x="418909" y="104727"/>
                </a:cubicBezTo>
                <a:lnTo>
                  <a:pt x="418909" y="314182"/>
                </a:lnTo>
                <a:cubicBezTo>
                  <a:pt x="418909" y="372021"/>
                  <a:pt x="372021" y="418909"/>
                  <a:pt x="314182" y="418909"/>
                </a:cubicBezTo>
                <a:lnTo>
                  <a:pt x="104727" y="418909"/>
                </a:lnTo>
                <a:cubicBezTo>
                  <a:pt x="46888" y="418909"/>
                  <a:pt x="0" y="372021"/>
                  <a:pt x="0" y="314182"/>
                </a:cubicBezTo>
                <a:lnTo>
                  <a:pt x="0" y="104727"/>
                </a:lnTo>
                <a:cubicBezTo>
                  <a:pt x="0" y="46927"/>
                  <a:pt x="46927" y="0"/>
                  <a:pt x="10472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533955" y="1736727"/>
            <a:ext cx="196364" cy="174545"/>
          </a:xfrm>
          <a:custGeom>
            <a:avLst/>
            <a:gdLst/>
            <a:ahLst/>
            <a:cxnLst/>
            <a:rect l="l" t="t" r="r" b="b"/>
            <a:pathLst>
              <a:path w="196364" h="174545">
                <a:moveTo>
                  <a:pt x="173659" y="33614"/>
                </a:moveTo>
                <a:cubicBezTo>
                  <a:pt x="176250" y="31023"/>
                  <a:pt x="180580" y="31670"/>
                  <a:pt x="181875" y="35080"/>
                </a:cubicBezTo>
                <a:cubicBezTo>
                  <a:pt x="184193" y="41114"/>
                  <a:pt x="185455" y="47693"/>
                  <a:pt x="185455" y="54545"/>
                </a:cubicBezTo>
                <a:cubicBezTo>
                  <a:pt x="185455" y="84682"/>
                  <a:pt x="161045" y="109091"/>
                  <a:pt x="130909" y="109091"/>
                </a:cubicBezTo>
                <a:cubicBezTo>
                  <a:pt x="124943" y="109091"/>
                  <a:pt x="119182" y="108136"/>
                  <a:pt x="113795" y="106364"/>
                </a:cubicBezTo>
                <a:lnTo>
                  <a:pt x="50080" y="170080"/>
                </a:lnTo>
                <a:cubicBezTo>
                  <a:pt x="40500" y="179659"/>
                  <a:pt x="24955" y="179659"/>
                  <a:pt x="15375" y="170080"/>
                </a:cubicBezTo>
                <a:cubicBezTo>
                  <a:pt x="5795" y="160500"/>
                  <a:pt x="5795" y="144955"/>
                  <a:pt x="15375" y="135375"/>
                </a:cubicBezTo>
                <a:lnTo>
                  <a:pt x="79091" y="71659"/>
                </a:lnTo>
                <a:cubicBezTo>
                  <a:pt x="77318" y="66273"/>
                  <a:pt x="76364" y="60545"/>
                  <a:pt x="76364" y="54545"/>
                </a:cubicBezTo>
                <a:cubicBezTo>
                  <a:pt x="76364" y="24409"/>
                  <a:pt x="100773" y="0"/>
                  <a:pt x="130909" y="0"/>
                </a:cubicBezTo>
                <a:cubicBezTo>
                  <a:pt x="137761" y="0"/>
                  <a:pt x="144341" y="1261"/>
                  <a:pt x="150375" y="3580"/>
                </a:cubicBezTo>
                <a:cubicBezTo>
                  <a:pt x="153784" y="4875"/>
                  <a:pt x="154398" y="9205"/>
                  <a:pt x="151841" y="11795"/>
                </a:cubicBezTo>
                <a:lnTo>
                  <a:pt x="121602" y="42034"/>
                </a:lnTo>
                <a:cubicBezTo>
                  <a:pt x="120580" y="43057"/>
                  <a:pt x="120000" y="44455"/>
                  <a:pt x="120000" y="45886"/>
                </a:cubicBezTo>
                <a:lnTo>
                  <a:pt x="120000" y="60000"/>
                </a:lnTo>
                <a:cubicBezTo>
                  <a:pt x="120000" y="63000"/>
                  <a:pt x="122455" y="65455"/>
                  <a:pt x="125455" y="65455"/>
                </a:cubicBezTo>
                <a:lnTo>
                  <a:pt x="139568" y="65455"/>
                </a:lnTo>
                <a:cubicBezTo>
                  <a:pt x="141000" y="65455"/>
                  <a:pt x="142398" y="64875"/>
                  <a:pt x="143420" y="63852"/>
                </a:cubicBezTo>
                <a:lnTo>
                  <a:pt x="173659" y="3361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946318" y="1684364"/>
            <a:ext cx="2094545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Actions &amp; Solutions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27045" y="2177455"/>
            <a:ext cx="3342545" cy="951273"/>
          </a:xfrm>
          <a:custGeom>
            <a:avLst/>
            <a:gdLst/>
            <a:ahLst/>
            <a:cxnLst/>
            <a:rect l="l" t="t" r="r" b="b"/>
            <a:pathLst>
              <a:path w="3342545" h="951273">
                <a:moveTo>
                  <a:pt x="69814" y="0"/>
                </a:moveTo>
                <a:lnTo>
                  <a:pt x="3272732" y="0"/>
                </a:lnTo>
                <a:cubicBezTo>
                  <a:pt x="3311289" y="0"/>
                  <a:pt x="3342545" y="31257"/>
                  <a:pt x="3342545" y="69814"/>
                </a:cubicBezTo>
                <a:lnTo>
                  <a:pt x="3342545" y="881459"/>
                </a:lnTo>
                <a:cubicBezTo>
                  <a:pt x="3342545" y="920016"/>
                  <a:pt x="3311289" y="951273"/>
                  <a:pt x="3272732" y="951273"/>
                </a:cubicBezTo>
                <a:lnTo>
                  <a:pt x="69814" y="951273"/>
                </a:lnTo>
                <a:cubicBezTo>
                  <a:pt x="31257" y="951273"/>
                  <a:pt x="0" y="920016"/>
                  <a:pt x="0" y="881459"/>
                </a:cubicBezTo>
                <a:lnTo>
                  <a:pt x="0" y="69814"/>
                </a:lnTo>
                <a:cubicBezTo>
                  <a:pt x="0" y="31283"/>
                  <a:pt x="31283" y="0"/>
                  <a:pt x="6981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592864" y="2365091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58909" y="19636"/>
                </a:moveTo>
                <a:cubicBezTo>
                  <a:pt x="58909" y="14206"/>
                  <a:pt x="63297" y="9818"/>
                  <a:pt x="68727" y="9818"/>
                </a:cubicBezTo>
                <a:lnTo>
                  <a:pt x="88364" y="9818"/>
                </a:lnTo>
                <a:cubicBezTo>
                  <a:pt x="93794" y="9818"/>
                  <a:pt x="98182" y="14206"/>
                  <a:pt x="98182" y="19636"/>
                </a:cubicBezTo>
                <a:lnTo>
                  <a:pt x="98182" y="39273"/>
                </a:lnTo>
                <a:cubicBezTo>
                  <a:pt x="98182" y="44703"/>
                  <a:pt x="93794" y="49091"/>
                  <a:pt x="88364" y="49091"/>
                </a:cubicBezTo>
                <a:lnTo>
                  <a:pt x="85909" y="49091"/>
                </a:lnTo>
                <a:lnTo>
                  <a:pt x="85909" y="68727"/>
                </a:lnTo>
                <a:lnTo>
                  <a:pt x="122727" y="68727"/>
                </a:lnTo>
                <a:cubicBezTo>
                  <a:pt x="134939" y="68727"/>
                  <a:pt x="144818" y="78607"/>
                  <a:pt x="144818" y="90818"/>
                </a:cubicBezTo>
                <a:lnTo>
                  <a:pt x="144818" y="108000"/>
                </a:lnTo>
                <a:lnTo>
                  <a:pt x="147273" y="108000"/>
                </a:lnTo>
                <a:cubicBezTo>
                  <a:pt x="152703" y="108000"/>
                  <a:pt x="157091" y="112388"/>
                  <a:pt x="157091" y="117818"/>
                </a:cubicBezTo>
                <a:lnTo>
                  <a:pt x="157091" y="137455"/>
                </a:lnTo>
                <a:cubicBezTo>
                  <a:pt x="157091" y="142885"/>
                  <a:pt x="152703" y="147273"/>
                  <a:pt x="147273" y="147273"/>
                </a:cubicBezTo>
                <a:lnTo>
                  <a:pt x="127636" y="147273"/>
                </a:lnTo>
                <a:cubicBezTo>
                  <a:pt x="122206" y="147273"/>
                  <a:pt x="117818" y="142885"/>
                  <a:pt x="117818" y="137455"/>
                </a:cubicBezTo>
                <a:lnTo>
                  <a:pt x="117818" y="117818"/>
                </a:lnTo>
                <a:cubicBezTo>
                  <a:pt x="117818" y="112388"/>
                  <a:pt x="122206" y="108000"/>
                  <a:pt x="127636" y="108000"/>
                </a:cubicBezTo>
                <a:lnTo>
                  <a:pt x="130091" y="108000"/>
                </a:lnTo>
                <a:lnTo>
                  <a:pt x="130091" y="90818"/>
                </a:lnTo>
                <a:cubicBezTo>
                  <a:pt x="130091" y="86738"/>
                  <a:pt x="126808" y="83455"/>
                  <a:pt x="122727" y="83455"/>
                </a:cubicBezTo>
                <a:lnTo>
                  <a:pt x="85909" y="83455"/>
                </a:lnTo>
                <a:lnTo>
                  <a:pt x="85909" y="108000"/>
                </a:lnTo>
                <a:lnTo>
                  <a:pt x="88364" y="108000"/>
                </a:lnTo>
                <a:cubicBezTo>
                  <a:pt x="93794" y="108000"/>
                  <a:pt x="98182" y="112388"/>
                  <a:pt x="98182" y="117818"/>
                </a:cubicBezTo>
                <a:lnTo>
                  <a:pt x="98182" y="137455"/>
                </a:lnTo>
                <a:cubicBezTo>
                  <a:pt x="98182" y="142885"/>
                  <a:pt x="93794" y="147273"/>
                  <a:pt x="88364" y="147273"/>
                </a:cubicBezTo>
                <a:lnTo>
                  <a:pt x="68727" y="147273"/>
                </a:lnTo>
                <a:cubicBezTo>
                  <a:pt x="63297" y="147273"/>
                  <a:pt x="58909" y="142885"/>
                  <a:pt x="58909" y="137455"/>
                </a:cubicBezTo>
                <a:lnTo>
                  <a:pt x="58909" y="117818"/>
                </a:lnTo>
                <a:cubicBezTo>
                  <a:pt x="58909" y="112388"/>
                  <a:pt x="63297" y="108000"/>
                  <a:pt x="68727" y="108000"/>
                </a:cubicBezTo>
                <a:lnTo>
                  <a:pt x="71182" y="108000"/>
                </a:lnTo>
                <a:lnTo>
                  <a:pt x="71182" y="83455"/>
                </a:lnTo>
                <a:lnTo>
                  <a:pt x="34364" y="83455"/>
                </a:lnTo>
                <a:cubicBezTo>
                  <a:pt x="30283" y="83455"/>
                  <a:pt x="27000" y="86738"/>
                  <a:pt x="27000" y="90818"/>
                </a:cubicBezTo>
                <a:lnTo>
                  <a:pt x="27000" y="108000"/>
                </a:lnTo>
                <a:lnTo>
                  <a:pt x="29455" y="108000"/>
                </a:lnTo>
                <a:cubicBezTo>
                  <a:pt x="34885" y="108000"/>
                  <a:pt x="39273" y="112388"/>
                  <a:pt x="39273" y="117818"/>
                </a:cubicBezTo>
                <a:lnTo>
                  <a:pt x="39273" y="137455"/>
                </a:lnTo>
                <a:cubicBezTo>
                  <a:pt x="39273" y="142885"/>
                  <a:pt x="34885" y="147273"/>
                  <a:pt x="29455" y="147273"/>
                </a:cubicBezTo>
                <a:lnTo>
                  <a:pt x="9818" y="147273"/>
                </a:lnTo>
                <a:cubicBezTo>
                  <a:pt x="4388" y="147273"/>
                  <a:pt x="0" y="142885"/>
                  <a:pt x="0" y="137455"/>
                </a:cubicBezTo>
                <a:lnTo>
                  <a:pt x="0" y="117818"/>
                </a:lnTo>
                <a:cubicBezTo>
                  <a:pt x="0" y="112388"/>
                  <a:pt x="4388" y="108000"/>
                  <a:pt x="9818" y="108000"/>
                </a:cubicBezTo>
                <a:lnTo>
                  <a:pt x="12273" y="108000"/>
                </a:lnTo>
                <a:lnTo>
                  <a:pt x="12273" y="90818"/>
                </a:lnTo>
                <a:cubicBezTo>
                  <a:pt x="12273" y="78607"/>
                  <a:pt x="22152" y="68727"/>
                  <a:pt x="34364" y="68727"/>
                </a:cubicBezTo>
                <a:lnTo>
                  <a:pt x="71182" y="68727"/>
                </a:lnTo>
                <a:lnTo>
                  <a:pt x="71182" y="49091"/>
                </a:lnTo>
                <a:lnTo>
                  <a:pt x="68727" y="49091"/>
                </a:lnTo>
                <a:cubicBezTo>
                  <a:pt x="63297" y="49091"/>
                  <a:pt x="58909" y="44703"/>
                  <a:pt x="58909" y="39273"/>
                </a:cubicBezTo>
                <a:lnTo>
                  <a:pt x="58909" y="19636"/>
                </a:ln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53181" y="2330182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Modélisation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1045" y="2635636"/>
            <a:ext cx="3115636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Passage au schéma en étoile et pré-agrégations des indicateurs clés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27045" y="3242182"/>
            <a:ext cx="3342545" cy="951273"/>
          </a:xfrm>
          <a:custGeom>
            <a:avLst/>
            <a:gdLst/>
            <a:ahLst/>
            <a:cxnLst/>
            <a:rect l="l" t="t" r="r" b="b"/>
            <a:pathLst>
              <a:path w="3342545" h="951273">
                <a:moveTo>
                  <a:pt x="69814" y="0"/>
                </a:moveTo>
                <a:lnTo>
                  <a:pt x="3272732" y="0"/>
                </a:lnTo>
                <a:cubicBezTo>
                  <a:pt x="3311289" y="0"/>
                  <a:pt x="3342545" y="31257"/>
                  <a:pt x="3342545" y="69814"/>
                </a:cubicBezTo>
                <a:lnTo>
                  <a:pt x="3342545" y="881459"/>
                </a:lnTo>
                <a:cubicBezTo>
                  <a:pt x="3342545" y="920016"/>
                  <a:pt x="3311289" y="951273"/>
                  <a:pt x="3272732" y="951273"/>
                </a:cubicBezTo>
                <a:lnTo>
                  <a:pt x="69814" y="951273"/>
                </a:lnTo>
                <a:cubicBezTo>
                  <a:pt x="31257" y="951273"/>
                  <a:pt x="0" y="920016"/>
                  <a:pt x="0" y="881459"/>
                </a:cubicBezTo>
                <a:lnTo>
                  <a:pt x="0" y="69814"/>
                </a:lnTo>
                <a:cubicBezTo>
                  <a:pt x="0" y="31283"/>
                  <a:pt x="31283" y="0"/>
                  <a:pt x="6981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583045" y="3429818"/>
            <a:ext cx="176727" cy="157091"/>
          </a:xfrm>
          <a:custGeom>
            <a:avLst/>
            <a:gdLst/>
            <a:ahLst/>
            <a:cxnLst/>
            <a:rect l="l" t="t" r="r" b="b"/>
            <a:pathLst>
              <a:path w="176727" h="157091">
                <a:moveTo>
                  <a:pt x="110700" y="368"/>
                </a:moveTo>
                <a:cubicBezTo>
                  <a:pt x="105484" y="-1135"/>
                  <a:pt x="100053" y="1902"/>
                  <a:pt x="98550" y="7118"/>
                </a:cubicBezTo>
                <a:lnTo>
                  <a:pt x="59277" y="144573"/>
                </a:lnTo>
                <a:cubicBezTo>
                  <a:pt x="57774" y="149789"/>
                  <a:pt x="60811" y="155219"/>
                  <a:pt x="66027" y="156723"/>
                </a:cubicBezTo>
                <a:cubicBezTo>
                  <a:pt x="71243" y="158226"/>
                  <a:pt x="76674" y="155189"/>
                  <a:pt x="78177" y="149973"/>
                </a:cubicBezTo>
                <a:lnTo>
                  <a:pt x="117450" y="12518"/>
                </a:lnTo>
                <a:cubicBezTo>
                  <a:pt x="118953" y="7302"/>
                  <a:pt x="115916" y="1872"/>
                  <a:pt x="110700" y="368"/>
                </a:cubicBezTo>
                <a:close/>
                <a:moveTo>
                  <a:pt x="130520" y="42126"/>
                </a:moveTo>
                <a:cubicBezTo>
                  <a:pt x="126685" y="45961"/>
                  <a:pt x="126685" y="52190"/>
                  <a:pt x="130520" y="56025"/>
                </a:cubicBezTo>
                <a:lnTo>
                  <a:pt x="153041" y="78545"/>
                </a:lnTo>
                <a:lnTo>
                  <a:pt x="130520" y="101066"/>
                </a:lnTo>
                <a:cubicBezTo>
                  <a:pt x="126685" y="104901"/>
                  <a:pt x="126685" y="111130"/>
                  <a:pt x="130520" y="114965"/>
                </a:cubicBezTo>
                <a:cubicBezTo>
                  <a:pt x="134356" y="118800"/>
                  <a:pt x="140584" y="118800"/>
                  <a:pt x="144419" y="114965"/>
                </a:cubicBezTo>
                <a:lnTo>
                  <a:pt x="173874" y="85510"/>
                </a:lnTo>
                <a:cubicBezTo>
                  <a:pt x="177709" y="81675"/>
                  <a:pt x="177709" y="75447"/>
                  <a:pt x="173874" y="71611"/>
                </a:cubicBezTo>
                <a:lnTo>
                  <a:pt x="144419" y="42157"/>
                </a:lnTo>
                <a:cubicBezTo>
                  <a:pt x="140584" y="38322"/>
                  <a:pt x="134356" y="38322"/>
                  <a:pt x="130520" y="42157"/>
                </a:cubicBezTo>
                <a:close/>
                <a:moveTo>
                  <a:pt x="46237" y="42126"/>
                </a:moveTo>
                <a:cubicBezTo>
                  <a:pt x="42402" y="38291"/>
                  <a:pt x="36174" y="38291"/>
                  <a:pt x="32339" y="42126"/>
                </a:cubicBezTo>
                <a:lnTo>
                  <a:pt x="2884" y="71581"/>
                </a:lnTo>
                <a:cubicBezTo>
                  <a:pt x="-951" y="75416"/>
                  <a:pt x="-951" y="81644"/>
                  <a:pt x="2884" y="85480"/>
                </a:cubicBezTo>
                <a:lnTo>
                  <a:pt x="32339" y="114934"/>
                </a:lnTo>
                <a:cubicBezTo>
                  <a:pt x="36174" y="118769"/>
                  <a:pt x="42402" y="118769"/>
                  <a:pt x="46237" y="114934"/>
                </a:cubicBezTo>
                <a:cubicBezTo>
                  <a:pt x="50073" y="111099"/>
                  <a:pt x="50073" y="104870"/>
                  <a:pt x="46237" y="101035"/>
                </a:cubicBezTo>
                <a:lnTo>
                  <a:pt x="23717" y="78545"/>
                </a:lnTo>
                <a:lnTo>
                  <a:pt x="46207" y="56025"/>
                </a:lnTo>
                <a:cubicBezTo>
                  <a:pt x="50042" y="52190"/>
                  <a:pt x="50042" y="45961"/>
                  <a:pt x="46207" y="42126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853181" y="3386182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Refactoring SQL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1045" y="3700364"/>
            <a:ext cx="3115636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Réécriture des requêtes et filtres efficaces sur colonnes partitionnées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27045" y="4306909"/>
            <a:ext cx="3342545" cy="951273"/>
          </a:xfrm>
          <a:custGeom>
            <a:avLst/>
            <a:gdLst/>
            <a:ahLst/>
            <a:cxnLst/>
            <a:rect l="l" t="t" r="r" b="b"/>
            <a:pathLst>
              <a:path w="3342545" h="951273">
                <a:moveTo>
                  <a:pt x="69814" y="0"/>
                </a:moveTo>
                <a:lnTo>
                  <a:pt x="3272732" y="0"/>
                </a:lnTo>
                <a:cubicBezTo>
                  <a:pt x="3311289" y="0"/>
                  <a:pt x="3342545" y="31257"/>
                  <a:pt x="3342545" y="69814"/>
                </a:cubicBezTo>
                <a:lnTo>
                  <a:pt x="3342545" y="881459"/>
                </a:lnTo>
                <a:cubicBezTo>
                  <a:pt x="3342545" y="920016"/>
                  <a:pt x="3311289" y="951273"/>
                  <a:pt x="3272732" y="951273"/>
                </a:cubicBezTo>
                <a:lnTo>
                  <a:pt x="69814" y="951273"/>
                </a:lnTo>
                <a:cubicBezTo>
                  <a:pt x="31257" y="951273"/>
                  <a:pt x="0" y="920016"/>
                  <a:pt x="0" y="881459"/>
                </a:cubicBezTo>
                <a:lnTo>
                  <a:pt x="0" y="69814"/>
                </a:lnTo>
                <a:cubicBezTo>
                  <a:pt x="0" y="31283"/>
                  <a:pt x="31283" y="0"/>
                  <a:pt x="6981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573227" y="4494545"/>
            <a:ext cx="196364" cy="157091"/>
          </a:xfrm>
          <a:custGeom>
            <a:avLst/>
            <a:gdLst/>
            <a:ahLst/>
            <a:cxnLst/>
            <a:rect l="l" t="t" r="r" b="b"/>
            <a:pathLst>
              <a:path w="196364" h="157091">
                <a:moveTo>
                  <a:pt x="127606" y="64585"/>
                </a:moveTo>
                <a:cubicBezTo>
                  <a:pt x="131349" y="63573"/>
                  <a:pt x="135276" y="65352"/>
                  <a:pt x="136964" y="68819"/>
                </a:cubicBezTo>
                <a:lnTo>
                  <a:pt x="142670" y="80356"/>
                </a:lnTo>
                <a:cubicBezTo>
                  <a:pt x="145831" y="80785"/>
                  <a:pt x="148930" y="81644"/>
                  <a:pt x="151844" y="82841"/>
                </a:cubicBezTo>
                <a:lnTo>
                  <a:pt x="162583" y="75692"/>
                </a:lnTo>
                <a:cubicBezTo>
                  <a:pt x="165805" y="73544"/>
                  <a:pt x="170069" y="73974"/>
                  <a:pt x="172800" y="76705"/>
                </a:cubicBezTo>
                <a:lnTo>
                  <a:pt x="178691" y="82595"/>
                </a:lnTo>
                <a:cubicBezTo>
                  <a:pt x="181422" y="85326"/>
                  <a:pt x="181851" y="89622"/>
                  <a:pt x="179703" y="92813"/>
                </a:cubicBezTo>
                <a:lnTo>
                  <a:pt x="172555" y="103520"/>
                </a:lnTo>
                <a:cubicBezTo>
                  <a:pt x="173137" y="104962"/>
                  <a:pt x="173659" y="106466"/>
                  <a:pt x="174089" y="108031"/>
                </a:cubicBezTo>
                <a:cubicBezTo>
                  <a:pt x="174518" y="109595"/>
                  <a:pt x="174794" y="111130"/>
                  <a:pt x="175009" y="112694"/>
                </a:cubicBezTo>
                <a:lnTo>
                  <a:pt x="186576" y="118401"/>
                </a:lnTo>
                <a:cubicBezTo>
                  <a:pt x="190043" y="120119"/>
                  <a:pt x="191823" y="124047"/>
                  <a:pt x="190810" y="127759"/>
                </a:cubicBezTo>
                <a:lnTo>
                  <a:pt x="188663" y="135798"/>
                </a:lnTo>
                <a:cubicBezTo>
                  <a:pt x="187650" y="139510"/>
                  <a:pt x="184183" y="142026"/>
                  <a:pt x="180317" y="141781"/>
                </a:cubicBezTo>
                <a:lnTo>
                  <a:pt x="167431" y="140952"/>
                </a:lnTo>
                <a:cubicBezTo>
                  <a:pt x="165498" y="143437"/>
                  <a:pt x="163258" y="145739"/>
                  <a:pt x="160711" y="147702"/>
                </a:cubicBezTo>
                <a:lnTo>
                  <a:pt x="161540" y="160558"/>
                </a:lnTo>
                <a:cubicBezTo>
                  <a:pt x="161785" y="164424"/>
                  <a:pt x="159269" y="167922"/>
                  <a:pt x="155557" y="168903"/>
                </a:cubicBezTo>
                <a:lnTo>
                  <a:pt x="147518" y="171051"/>
                </a:lnTo>
                <a:cubicBezTo>
                  <a:pt x="143775" y="172064"/>
                  <a:pt x="139878" y="170284"/>
                  <a:pt x="138160" y="166817"/>
                </a:cubicBezTo>
                <a:lnTo>
                  <a:pt x="132453" y="155281"/>
                </a:lnTo>
                <a:cubicBezTo>
                  <a:pt x="129293" y="154851"/>
                  <a:pt x="126194" y="153992"/>
                  <a:pt x="123280" y="152795"/>
                </a:cubicBezTo>
                <a:lnTo>
                  <a:pt x="112541" y="159944"/>
                </a:lnTo>
                <a:cubicBezTo>
                  <a:pt x="109319" y="162092"/>
                  <a:pt x="105055" y="161663"/>
                  <a:pt x="102324" y="158932"/>
                </a:cubicBezTo>
                <a:lnTo>
                  <a:pt x="96433" y="153041"/>
                </a:lnTo>
                <a:cubicBezTo>
                  <a:pt x="93702" y="150310"/>
                  <a:pt x="93273" y="146045"/>
                  <a:pt x="95420" y="142824"/>
                </a:cubicBezTo>
                <a:lnTo>
                  <a:pt x="102569" y="132085"/>
                </a:lnTo>
                <a:cubicBezTo>
                  <a:pt x="101986" y="130643"/>
                  <a:pt x="101465" y="129140"/>
                  <a:pt x="101035" y="127575"/>
                </a:cubicBezTo>
                <a:cubicBezTo>
                  <a:pt x="100606" y="126010"/>
                  <a:pt x="100330" y="124445"/>
                  <a:pt x="100115" y="122911"/>
                </a:cubicBezTo>
                <a:lnTo>
                  <a:pt x="88548" y="117205"/>
                </a:lnTo>
                <a:cubicBezTo>
                  <a:pt x="85081" y="115486"/>
                  <a:pt x="83332" y="111559"/>
                  <a:pt x="84314" y="107847"/>
                </a:cubicBezTo>
                <a:lnTo>
                  <a:pt x="86461" y="99808"/>
                </a:lnTo>
                <a:cubicBezTo>
                  <a:pt x="87474" y="96095"/>
                  <a:pt x="90941" y="93580"/>
                  <a:pt x="94807" y="93825"/>
                </a:cubicBezTo>
                <a:lnTo>
                  <a:pt x="107662" y="94653"/>
                </a:lnTo>
                <a:cubicBezTo>
                  <a:pt x="109595" y="92168"/>
                  <a:pt x="111835" y="89867"/>
                  <a:pt x="114382" y="87903"/>
                </a:cubicBezTo>
                <a:lnTo>
                  <a:pt x="113553" y="75078"/>
                </a:lnTo>
                <a:cubicBezTo>
                  <a:pt x="113308" y="71212"/>
                  <a:pt x="115824" y="67715"/>
                  <a:pt x="119536" y="66733"/>
                </a:cubicBezTo>
                <a:lnTo>
                  <a:pt x="127575" y="64585"/>
                </a:lnTo>
                <a:close/>
                <a:moveTo>
                  <a:pt x="137577" y="104318"/>
                </a:moveTo>
                <a:cubicBezTo>
                  <a:pt x="130126" y="104327"/>
                  <a:pt x="124084" y="110383"/>
                  <a:pt x="124093" y="117834"/>
                </a:cubicBezTo>
                <a:cubicBezTo>
                  <a:pt x="124101" y="125284"/>
                  <a:pt x="130157" y="131327"/>
                  <a:pt x="137608" y="131318"/>
                </a:cubicBezTo>
                <a:cubicBezTo>
                  <a:pt x="145059" y="131310"/>
                  <a:pt x="151101" y="125254"/>
                  <a:pt x="151093" y="117803"/>
                </a:cubicBezTo>
                <a:cubicBezTo>
                  <a:pt x="151084" y="110352"/>
                  <a:pt x="145028" y="104310"/>
                  <a:pt x="137577" y="104318"/>
                </a:cubicBezTo>
                <a:close/>
                <a:moveTo>
                  <a:pt x="69003" y="-13960"/>
                </a:moveTo>
                <a:lnTo>
                  <a:pt x="77042" y="-11812"/>
                </a:lnTo>
                <a:cubicBezTo>
                  <a:pt x="80755" y="-10800"/>
                  <a:pt x="83270" y="-7302"/>
                  <a:pt x="83025" y="-3467"/>
                </a:cubicBezTo>
                <a:lnTo>
                  <a:pt x="82197" y="9358"/>
                </a:lnTo>
                <a:cubicBezTo>
                  <a:pt x="84743" y="11322"/>
                  <a:pt x="86983" y="13592"/>
                  <a:pt x="88916" y="16108"/>
                </a:cubicBezTo>
                <a:lnTo>
                  <a:pt x="101802" y="15280"/>
                </a:lnTo>
                <a:cubicBezTo>
                  <a:pt x="105638" y="15034"/>
                  <a:pt x="109135" y="17550"/>
                  <a:pt x="110148" y="21262"/>
                </a:cubicBezTo>
                <a:lnTo>
                  <a:pt x="112295" y="29301"/>
                </a:lnTo>
                <a:cubicBezTo>
                  <a:pt x="113277" y="33014"/>
                  <a:pt x="111528" y="36941"/>
                  <a:pt x="108061" y="38659"/>
                </a:cubicBezTo>
                <a:lnTo>
                  <a:pt x="96494" y="44366"/>
                </a:lnTo>
                <a:cubicBezTo>
                  <a:pt x="96280" y="45931"/>
                  <a:pt x="95973" y="47495"/>
                  <a:pt x="95574" y="49030"/>
                </a:cubicBezTo>
                <a:cubicBezTo>
                  <a:pt x="95175" y="50564"/>
                  <a:pt x="94623" y="52098"/>
                  <a:pt x="94040" y="53540"/>
                </a:cubicBezTo>
                <a:lnTo>
                  <a:pt x="101189" y="64278"/>
                </a:lnTo>
                <a:cubicBezTo>
                  <a:pt x="103336" y="67500"/>
                  <a:pt x="102907" y="71765"/>
                  <a:pt x="100176" y="74495"/>
                </a:cubicBezTo>
                <a:lnTo>
                  <a:pt x="94285" y="80386"/>
                </a:lnTo>
                <a:cubicBezTo>
                  <a:pt x="91555" y="83117"/>
                  <a:pt x="87290" y="83547"/>
                  <a:pt x="84068" y="81399"/>
                </a:cubicBezTo>
                <a:lnTo>
                  <a:pt x="73330" y="74250"/>
                </a:lnTo>
                <a:cubicBezTo>
                  <a:pt x="70415" y="75447"/>
                  <a:pt x="67316" y="76306"/>
                  <a:pt x="64156" y="76735"/>
                </a:cubicBezTo>
                <a:lnTo>
                  <a:pt x="58449" y="88272"/>
                </a:lnTo>
                <a:cubicBezTo>
                  <a:pt x="56731" y="91739"/>
                  <a:pt x="52803" y="93487"/>
                  <a:pt x="49091" y="92506"/>
                </a:cubicBezTo>
                <a:lnTo>
                  <a:pt x="41052" y="90358"/>
                </a:lnTo>
                <a:cubicBezTo>
                  <a:pt x="37309" y="89345"/>
                  <a:pt x="34824" y="85848"/>
                  <a:pt x="35069" y="82013"/>
                </a:cubicBezTo>
                <a:lnTo>
                  <a:pt x="35898" y="69157"/>
                </a:lnTo>
                <a:cubicBezTo>
                  <a:pt x="33351" y="67193"/>
                  <a:pt x="31111" y="64923"/>
                  <a:pt x="29178" y="62407"/>
                </a:cubicBezTo>
                <a:lnTo>
                  <a:pt x="16292" y="63235"/>
                </a:lnTo>
                <a:cubicBezTo>
                  <a:pt x="12457" y="63481"/>
                  <a:pt x="8959" y="60965"/>
                  <a:pt x="7947" y="57252"/>
                </a:cubicBezTo>
                <a:lnTo>
                  <a:pt x="5799" y="49214"/>
                </a:lnTo>
                <a:cubicBezTo>
                  <a:pt x="4817" y="45501"/>
                  <a:pt x="6566" y="41574"/>
                  <a:pt x="10033" y="39856"/>
                </a:cubicBezTo>
                <a:lnTo>
                  <a:pt x="21600" y="34149"/>
                </a:lnTo>
                <a:cubicBezTo>
                  <a:pt x="21815" y="32584"/>
                  <a:pt x="22122" y="31050"/>
                  <a:pt x="22520" y="29485"/>
                </a:cubicBezTo>
                <a:cubicBezTo>
                  <a:pt x="22950" y="27920"/>
                  <a:pt x="23441" y="26417"/>
                  <a:pt x="24055" y="24975"/>
                </a:cubicBezTo>
                <a:lnTo>
                  <a:pt x="16906" y="14267"/>
                </a:lnTo>
                <a:cubicBezTo>
                  <a:pt x="14758" y="11045"/>
                  <a:pt x="15187" y="6781"/>
                  <a:pt x="17918" y="4050"/>
                </a:cubicBezTo>
                <a:lnTo>
                  <a:pt x="23809" y="-1841"/>
                </a:lnTo>
                <a:cubicBezTo>
                  <a:pt x="26540" y="-4572"/>
                  <a:pt x="30805" y="-5001"/>
                  <a:pt x="34026" y="-2853"/>
                </a:cubicBezTo>
                <a:lnTo>
                  <a:pt x="44765" y="4295"/>
                </a:lnTo>
                <a:cubicBezTo>
                  <a:pt x="47680" y="3099"/>
                  <a:pt x="50778" y="2240"/>
                  <a:pt x="53939" y="1810"/>
                </a:cubicBezTo>
                <a:lnTo>
                  <a:pt x="59645" y="-9726"/>
                </a:lnTo>
                <a:cubicBezTo>
                  <a:pt x="61364" y="-13193"/>
                  <a:pt x="65260" y="-14942"/>
                  <a:pt x="69003" y="-13960"/>
                </a:cubicBezTo>
                <a:close/>
                <a:moveTo>
                  <a:pt x="59032" y="25773"/>
                </a:moveTo>
                <a:cubicBezTo>
                  <a:pt x="51581" y="25773"/>
                  <a:pt x="45532" y="31822"/>
                  <a:pt x="45532" y="39273"/>
                </a:cubicBezTo>
                <a:cubicBezTo>
                  <a:pt x="45532" y="46724"/>
                  <a:pt x="51581" y="52773"/>
                  <a:pt x="59032" y="52773"/>
                </a:cubicBezTo>
                <a:cubicBezTo>
                  <a:pt x="66483" y="52773"/>
                  <a:pt x="72532" y="46724"/>
                  <a:pt x="72532" y="39273"/>
                </a:cubicBezTo>
                <a:cubicBezTo>
                  <a:pt x="72532" y="31822"/>
                  <a:pt x="66483" y="25773"/>
                  <a:pt x="59032" y="25773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803408" y="4450909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1045" y="4765091"/>
            <a:ext cx="3115636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Activation Auto-scaling &amp; Auto-suspend, clustering et vues matérialisées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27045" y="5371636"/>
            <a:ext cx="3342545" cy="951273"/>
          </a:xfrm>
          <a:custGeom>
            <a:avLst/>
            <a:gdLst/>
            <a:ahLst/>
            <a:cxnLst/>
            <a:rect l="l" t="t" r="r" b="b"/>
            <a:pathLst>
              <a:path w="3342545" h="951273">
                <a:moveTo>
                  <a:pt x="69814" y="0"/>
                </a:moveTo>
                <a:lnTo>
                  <a:pt x="3272732" y="0"/>
                </a:lnTo>
                <a:cubicBezTo>
                  <a:pt x="3311289" y="0"/>
                  <a:pt x="3342545" y="31257"/>
                  <a:pt x="3342545" y="69814"/>
                </a:cubicBezTo>
                <a:lnTo>
                  <a:pt x="3342545" y="881459"/>
                </a:lnTo>
                <a:cubicBezTo>
                  <a:pt x="3342545" y="920016"/>
                  <a:pt x="3311289" y="951273"/>
                  <a:pt x="3272732" y="951273"/>
                </a:cubicBezTo>
                <a:lnTo>
                  <a:pt x="69814" y="951273"/>
                </a:lnTo>
                <a:cubicBezTo>
                  <a:pt x="31257" y="951273"/>
                  <a:pt x="0" y="920016"/>
                  <a:pt x="0" y="881459"/>
                </a:cubicBezTo>
                <a:lnTo>
                  <a:pt x="0" y="69814"/>
                </a:lnTo>
                <a:cubicBezTo>
                  <a:pt x="0" y="31283"/>
                  <a:pt x="31283" y="0"/>
                  <a:pt x="6981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4602682" y="5559273"/>
            <a:ext cx="137455" cy="157091"/>
          </a:xfrm>
          <a:custGeom>
            <a:avLst/>
            <a:gdLst/>
            <a:ahLst/>
            <a:cxnLst/>
            <a:rect l="l" t="t" r="r" b="b"/>
            <a:pathLst>
              <a:path w="137455" h="157091">
                <a:moveTo>
                  <a:pt x="137455" y="63143"/>
                </a:moveTo>
                <a:cubicBezTo>
                  <a:pt x="132914" y="66150"/>
                  <a:pt x="127698" y="68574"/>
                  <a:pt x="122267" y="70507"/>
                </a:cubicBezTo>
                <a:cubicBezTo>
                  <a:pt x="107847" y="75661"/>
                  <a:pt x="88916" y="78545"/>
                  <a:pt x="68727" y="78545"/>
                </a:cubicBezTo>
                <a:cubicBezTo>
                  <a:pt x="48539" y="78545"/>
                  <a:pt x="29577" y="75631"/>
                  <a:pt x="15187" y="70507"/>
                </a:cubicBezTo>
                <a:cubicBezTo>
                  <a:pt x="9787" y="68574"/>
                  <a:pt x="4541" y="66150"/>
                  <a:pt x="0" y="63143"/>
                </a:cubicBezTo>
                <a:lnTo>
                  <a:pt x="0" y="88364"/>
                </a:lnTo>
                <a:cubicBezTo>
                  <a:pt x="0" y="101925"/>
                  <a:pt x="30774" y="112909"/>
                  <a:pt x="68727" y="112909"/>
                </a:cubicBezTo>
                <a:cubicBezTo>
                  <a:pt x="106681" y="112909"/>
                  <a:pt x="137455" y="101925"/>
                  <a:pt x="137455" y="88364"/>
                </a:cubicBezTo>
                <a:lnTo>
                  <a:pt x="137455" y="63143"/>
                </a:lnTo>
                <a:close/>
                <a:moveTo>
                  <a:pt x="137455" y="39273"/>
                </a:moveTo>
                <a:lnTo>
                  <a:pt x="137455" y="24545"/>
                </a:lnTo>
                <a:cubicBezTo>
                  <a:pt x="137455" y="10984"/>
                  <a:pt x="106681" y="0"/>
                  <a:pt x="68727" y="0"/>
                </a:cubicBezTo>
                <a:cubicBezTo>
                  <a:pt x="30774" y="0"/>
                  <a:pt x="0" y="10984"/>
                  <a:pt x="0" y="24545"/>
                </a:cubicBezTo>
                <a:lnTo>
                  <a:pt x="0" y="39273"/>
                </a:lnTo>
                <a:cubicBezTo>
                  <a:pt x="0" y="52834"/>
                  <a:pt x="30774" y="63818"/>
                  <a:pt x="68727" y="63818"/>
                </a:cubicBezTo>
                <a:cubicBezTo>
                  <a:pt x="106681" y="63818"/>
                  <a:pt x="137455" y="52834"/>
                  <a:pt x="137455" y="39273"/>
                </a:cubicBezTo>
                <a:close/>
                <a:moveTo>
                  <a:pt x="122267" y="119598"/>
                </a:moveTo>
                <a:cubicBezTo>
                  <a:pt x="107877" y="124722"/>
                  <a:pt x="88947" y="127636"/>
                  <a:pt x="68727" y="127636"/>
                </a:cubicBezTo>
                <a:cubicBezTo>
                  <a:pt x="48508" y="127636"/>
                  <a:pt x="29577" y="124722"/>
                  <a:pt x="15187" y="119598"/>
                </a:cubicBezTo>
                <a:cubicBezTo>
                  <a:pt x="9787" y="117665"/>
                  <a:pt x="4541" y="115241"/>
                  <a:pt x="0" y="112234"/>
                </a:cubicBezTo>
                <a:lnTo>
                  <a:pt x="0" y="132545"/>
                </a:lnTo>
                <a:cubicBezTo>
                  <a:pt x="0" y="146107"/>
                  <a:pt x="30774" y="157091"/>
                  <a:pt x="68727" y="157091"/>
                </a:cubicBezTo>
                <a:cubicBezTo>
                  <a:pt x="106681" y="157091"/>
                  <a:pt x="137455" y="146107"/>
                  <a:pt x="137455" y="132545"/>
                </a:cubicBezTo>
                <a:lnTo>
                  <a:pt x="137455" y="112234"/>
                </a:lnTo>
                <a:cubicBezTo>
                  <a:pt x="132914" y="115241"/>
                  <a:pt x="127698" y="117665"/>
                  <a:pt x="122267" y="119598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803408" y="5508368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Stockage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71045" y="5829818"/>
            <a:ext cx="3115636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Partitionnement par date, compression et tiered storage pour données froides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34227" y="1435636"/>
            <a:ext cx="3709091" cy="5070545"/>
          </a:xfrm>
          <a:custGeom>
            <a:avLst/>
            <a:gdLst/>
            <a:ahLst/>
            <a:cxnLst/>
            <a:rect l="l" t="t" r="r" b="b"/>
            <a:pathLst>
              <a:path w="3709091" h="5070545">
                <a:moveTo>
                  <a:pt x="139647" y="0"/>
                </a:moveTo>
                <a:lnTo>
                  <a:pt x="3569444" y="0"/>
                </a:lnTo>
                <a:cubicBezTo>
                  <a:pt x="3646569" y="0"/>
                  <a:pt x="3709091" y="62522"/>
                  <a:pt x="3709091" y="139647"/>
                </a:cubicBezTo>
                <a:lnTo>
                  <a:pt x="3709091" y="4930898"/>
                </a:lnTo>
                <a:cubicBezTo>
                  <a:pt x="3709091" y="5008023"/>
                  <a:pt x="3646569" y="5070545"/>
                  <a:pt x="3569444" y="5070545"/>
                </a:cubicBezTo>
                <a:lnTo>
                  <a:pt x="139647" y="5070545"/>
                </a:lnTo>
                <a:cubicBezTo>
                  <a:pt x="62522" y="5070545"/>
                  <a:pt x="0" y="5008023"/>
                  <a:pt x="0" y="4930898"/>
                </a:cubicBezTo>
                <a:lnTo>
                  <a:pt x="0" y="139647"/>
                </a:lnTo>
                <a:cubicBezTo>
                  <a:pt x="0" y="62574"/>
                  <a:pt x="62574" y="0"/>
                  <a:pt x="139647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313136" y="1614545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104727" y="0"/>
                </a:moveTo>
                <a:lnTo>
                  <a:pt x="314182" y="0"/>
                </a:lnTo>
                <a:cubicBezTo>
                  <a:pt x="372021" y="0"/>
                  <a:pt x="418909" y="46888"/>
                  <a:pt x="418909" y="104727"/>
                </a:cubicBezTo>
                <a:lnTo>
                  <a:pt x="418909" y="314182"/>
                </a:lnTo>
                <a:cubicBezTo>
                  <a:pt x="418909" y="372021"/>
                  <a:pt x="372021" y="418909"/>
                  <a:pt x="314182" y="418909"/>
                </a:cubicBezTo>
                <a:lnTo>
                  <a:pt x="104727" y="418909"/>
                </a:lnTo>
                <a:cubicBezTo>
                  <a:pt x="46888" y="418909"/>
                  <a:pt x="0" y="372021"/>
                  <a:pt x="0" y="314182"/>
                </a:cubicBezTo>
                <a:lnTo>
                  <a:pt x="0" y="104727"/>
                </a:lnTo>
                <a:cubicBezTo>
                  <a:pt x="0" y="46927"/>
                  <a:pt x="46927" y="0"/>
                  <a:pt x="104727" y="0"/>
                </a:cubicBezTo>
                <a:close/>
              </a:path>
            </a:pathLst>
          </a:custGeom>
          <a:gradFill flip="none" rotWithShape="1">
            <a:gsLst>
              <a:gs pos="0">
                <a:srgbClr val="05DF72"/>
              </a:gs>
              <a:gs pos="100000">
                <a:srgbClr val="00BC7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435318" y="1736727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87273" y="174545"/>
                </a:moveTo>
                <a:cubicBezTo>
                  <a:pt x="135440" y="174545"/>
                  <a:pt x="174545" y="135440"/>
                  <a:pt x="174545" y="87273"/>
                </a:cubicBezTo>
                <a:cubicBezTo>
                  <a:pt x="174545" y="39106"/>
                  <a:pt x="135440" y="0"/>
                  <a:pt x="87273" y="0"/>
                </a:cubicBezTo>
                <a:cubicBezTo>
                  <a:pt x="39106" y="0"/>
                  <a:pt x="0" y="39106"/>
                  <a:pt x="0" y="87273"/>
                </a:cubicBezTo>
                <a:cubicBezTo>
                  <a:pt x="0" y="135440"/>
                  <a:pt x="39106" y="174545"/>
                  <a:pt x="87273" y="174545"/>
                </a:cubicBezTo>
                <a:close/>
                <a:moveTo>
                  <a:pt x="116045" y="72511"/>
                </a:moveTo>
                <a:lnTo>
                  <a:pt x="88773" y="116148"/>
                </a:lnTo>
                <a:cubicBezTo>
                  <a:pt x="87341" y="118432"/>
                  <a:pt x="84886" y="119864"/>
                  <a:pt x="82193" y="120000"/>
                </a:cubicBezTo>
                <a:cubicBezTo>
                  <a:pt x="79500" y="120136"/>
                  <a:pt x="76909" y="118909"/>
                  <a:pt x="75307" y="116727"/>
                </a:cubicBezTo>
                <a:lnTo>
                  <a:pt x="58943" y="94909"/>
                </a:lnTo>
                <a:cubicBezTo>
                  <a:pt x="56216" y="91295"/>
                  <a:pt x="56966" y="86182"/>
                  <a:pt x="60580" y="83455"/>
                </a:cubicBezTo>
                <a:cubicBezTo>
                  <a:pt x="64193" y="80727"/>
                  <a:pt x="69307" y="81477"/>
                  <a:pt x="72034" y="85091"/>
                </a:cubicBezTo>
                <a:lnTo>
                  <a:pt x="81239" y="97364"/>
                </a:lnTo>
                <a:lnTo>
                  <a:pt x="102170" y="63852"/>
                </a:lnTo>
                <a:cubicBezTo>
                  <a:pt x="104557" y="60034"/>
                  <a:pt x="109602" y="58841"/>
                  <a:pt x="113455" y="61261"/>
                </a:cubicBezTo>
                <a:cubicBezTo>
                  <a:pt x="117307" y="63682"/>
                  <a:pt x="118466" y="68693"/>
                  <a:pt x="116045" y="7254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836773" y="1684364"/>
            <a:ext cx="178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Résultats Finaux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17500" y="2177455"/>
            <a:ext cx="3342545" cy="1213091"/>
          </a:xfrm>
          <a:custGeom>
            <a:avLst/>
            <a:gdLst/>
            <a:ahLst/>
            <a:cxnLst/>
            <a:rect l="l" t="t" r="r" b="b"/>
            <a:pathLst>
              <a:path w="3342545" h="1213091">
                <a:moveTo>
                  <a:pt x="69813" y="0"/>
                </a:moveTo>
                <a:lnTo>
                  <a:pt x="3272732" y="0"/>
                </a:lnTo>
                <a:cubicBezTo>
                  <a:pt x="3311289" y="0"/>
                  <a:pt x="3342545" y="31257"/>
                  <a:pt x="3342545" y="69813"/>
                </a:cubicBezTo>
                <a:lnTo>
                  <a:pt x="3342545" y="1143278"/>
                </a:lnTo>
                <a:cubicBezTo>
                  <a:pt x="3342545" y="1181834"/>
                  <a:pt x="3311289" y="1213091"/>
                  <a:pt x="3272732" y="1213091"/>
                </a:cubicBezTo>
                <a:lnTo>
                  <a:pt x="69813" y="1213091"/>
                </a:lnTo>
                <a:cubicBezTo>
                  <a:pt x="31257" y="1213091"/>
                  <a:pt x="0" y="1181834"/>
                  <a:pt x="0" y="1143278"/>
                </a:cubicBezTo>
                <a:lnTo>
                  <a:pt x="0" y="69813"/>
                </a:lnTo>
                <a:cubicBezTo>
                  <a:pt x="0" y="31282"/>
                  <a:pt x="31282" y="0"/>
                  <a:pt x="69813" y="0"/>
                </a:cubicBezTo>
                <a:close/>
              </a:path>
            </a:pathLst>
          </a:custGeom>
          <a:solidFill>
            <a:srgbClr val="032E15">
              <a:alpha val="6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483318" y="2365091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0" y="78545"/>
                </a:moveTo>
                <a:cubicBezTo>
                  <a:pt x="0" y="35195"/>
                  <a:pt x="35195" y="0"/>
                  <a:pt x="78545" y="0"/>
                </a:cubicBezTo>
                <a:cubicBezTo>
                  <a:pt x="121896" y="0"/>
                  <a:pt x="157091" y="35195"/>
                  <a:pt x="157091" y="78545"/>
                </a:cubicBezTo>
                <a:cubicBezTo>
                  <a:pt x="157091" y="121896"/>
                  <a:pt x="121896" y="157091"/>
                  <a:pt x="78545" y="157091"/>
                </a:cubicBezTo>
                <a:cubicBezTo>
                  <a:pt x="35195" y="157091"/>
                  <a:pt x="0" y="121896"/>
                  <a:pt x="0" y="78545"/>
                </a:cubicBezTo>
                <a:close/>
                <a:moveTo>
                  <a:pt x="88364" y="29455"/>
                </a:moveTo>
                <a:cubicBezTo>
                  <a:pt x="88364" y="24036"/>
                  <a:pt x="83964" y="19636"/>
                  <a:pt x="78545" y="19636"/>
                </a:cubicBezTo>
                <a:cubicBezTo>
                  <a:pt x="73127" y="19636"/>
                  <a:pt x="68727" y="24036"/>
                  <a:pt x="68727" y="29455"/>
                </a:cubicBezTo>
                <a:cubicBezTo>
                  <a:pt x="68727" y="34873"/>
                  <a:pt x="73127" y="39273"/>
                  <a:pt x="78545" y="39273"/>
                </a:cubicBezTo>
                <a:cubicBezTo>
                  <a:pt x="83964" y="39273"/>
                  <a:pt x="88364" y="34873"/>
                  <a:pt x="88364" y="29455"/>
                </a:cubicBezTo>
                <a:close/>
                <a:moveTo>
                  <a:pt x="78545" y="127636"/>
                </a:moveTo>
                <a:cubicBezTo>
                  <a:pt x="89376" y="127636"/>
                  <a:pt x="98182" y="118831"/>
                  <a:pt x="98182" y="108000"/>
                </a:cubicBezTo>
                <a:cubicBezTo>
                  <a:pt x="98182" y="103030"/>
                  <a:pt x="96341" y="98458"/>
                  <a:pt x="93273" y="95022"/>
                </a:cubicBezTo>
                <a:lnTo>
                  <a:pt x="114597" y="52405"/>
                </a:lnTo>
                <a:cubicBezTo>
                  <a:pt x="116407" y="48753"/>
                  <a:pt x="114934" y="44335"/>
                  <a:pt x="111314" y="42525"/>
                </a:cubicBezTo>
                <a:cubicBezTo>
                  <a:pt x="107693" y="40715"/>
                  <a:pt x="103244" y="42187"/>
                  <a:pt x="101434" y="45808"/>
                </a:cubicBezTo>
                <a:lnTo>
                  <a:pt x="80110" y="88425"/>
                </a:lnTo>
                <a:cubicBezTo>
                  <a:pt x="79589" y="88394"/>
                  <a:pt x="79067" y="88364"/>
                  <a:pt x="78545" y="88364"/>
                </a:cubicBezTo>
                <a:cubicBezTo>
                  <a:pt x="67715" y="88364"/>
                  <a:pt x="58909" y="97169"/>
                  <a:pt x="58909" y="108000"/>
                </a:cubicBezTo>
                <a:cubicBezTo>
                  <a:pt x="58909" y="118831"/>
                  <a:pt x="67715" y="127636"/>
                  <a:pt x="78545" y="127636"/>
                </a:cubicBezTo>
                <a:close/>
                <a:moveTo>
                  <a:pt x="54000" y="44182"/>
                </a:moveTo>
                <a:cubicBezTo>
                  <a:pt x="54000" y="38763"/>
                  <a:pt x="49601" y="34364"/>
                  <a:pt x="44182" y="34364"/>
                </a:cubicBezTo>
                <a:cubicBezTo>
                  <a:pt x="38763" y="34364"/>
                  <a:pt x="34364" y="38763"/>
                  <a:pt x="34364" y="44182"/>
                </a:cubicBezTo>
                <a:cubicBezTo>
                  <a:pt x="34364" y="49601"/>
                  <a:pt x="38763" y="54000"/>
                  <a:pt x="44182" y="54000"/>
                </a:cubicBezTo>
                <a:cubicBezTo>
                  <a:pt x="49601" y="54000"/>
                  <a:pt x="54000" y="49601"/>
                  <a:pt x="54000" y="44182"/>
                </a:cubicBezTo>
                <a:close/>
                <a:moveTo>
                  <a:pt x="29455" y="88364"/>
                </a:moveTo>
                <a:cubicBezTo>
                  <a:pt x="34873" y="88364"/>
                  <a:pt x="39273" y="83964"/>
                  <a:pt x="39273" y="78545"/>
                </a:cubicBezTo>
                <a:cubicBezTo>
                  <a:pt x="39273" y="73127"/>
                  <a:pt x="34873" y="68727"/>
                  <a:pt x="29455" y="68727"/>
                </a:cubicBezTo>
                <a:cubicBezTo>
                  <a:pt x="24036" y="68727"/>
                  <a:pt x="19636" y="73127"/>
                  <a:pt x="19636" y="78545"/>
                </a:cubicBezTo>
                <a:cubicBezTo>
                  <a:pt x="19636" y="83964"/>
                  <a:pt x="24036" y="88364"/>
                  <a:pt x="29455" y="88364"/>
                </a:cubicBezTo>
                <a:close/>
                <a:moveTo>
                  <a:pt x="137455" y="78545"/>
                </a:moveTo>
                <a:cubicBezTo>
                  <a:pt x="137455" y="73127"/>
                  <a:pt x="133055" y="68727"/>
                  <a:pt x="127636" y="68727"/>
                </a:cubicBezTo>
                <a:cubicBezTo>
                  <a:pt x="122218" y="68727"/>
                  <a:pt x="117818" y="73127"/>
                  <a:pt x="117818" y="78545"/>
                </a:cubicBezTo>
                <a:cubicBezTo>
                  <a:pt x="117818" y="83964"/>
                  <a:pt x="122218" y="88364"/>
                  <a:pt x="127636" y="88364"/>
                </a:cubicBezTo>
                <a:cubicBezTo>
                  <a:pt x="133055" y="88364"/>
                  <a:pt x="137455" y="83964"/>
                  <a:pt x="137455" y="78545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662227" y="2321455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61500" y="2688000"/>
            <a:ext cx="1125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de Réponse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392682" y="2670545"/>
            <a:ext cx="514909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 min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922318" y="2705455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137073" y="75982"/>
                </a:moveTo>
                <a:cubicBezTo>
                  <a:pt x="140482" y="72573"/>
                  <a:pt x="140482" y="67036"/>
                  <a:pt x="137073" y="63627"/>
                </a:cubicBezTo>
                <a:lnTo>
                  <a:pt x="93436" y="19991"/>
                </a:lnTo>
                <a:cubicBezTo>
                  <a:pt x="90027" y="16582"/>
                  <a:pt x="84491" y="16582"/>
                  <a:pt x="81082" y="19991"/>
                </a:cubicBezTo>
                <a:cubicBezTo>
                  <a:pt x="77673" y="23400"/>
                  <a:pt x="77673" y="28936"/>
                  <a:pt x="81082" y="32345"/>
                </a:cubicBezTo>
                <a:lnTo>
                  <a:pt x="109827" y="61091"/>
                </a:lnTo>
                <a:lnTo>
                  <a:pt x="8727" y="61091"/>
                </a:lnTo>
                <a:cubicBezTo>
                  <a:pt x="3900" y="61091"/>
                  <a:pt x="0" y="64991"/>
                  <a:pt x="0" y="69818"/>
                </a:cubicBezTo>
                <a:cubicBezTo>
                  <a:pt x="0" y="74645"/>
                  <a:pt x="3900" y="78545"/>
                  <a:pt x="8727" y="78545"/>
                </a:cubicBezTo>
                <a:lnTo>
                  <a:pt x="109827" y="78545"/>
                </a:lnTo>
                <a:lnTo>
                  <a:pt x="81082" y="107291"/>
                </a:lnTo>
                <a:cubicBezTo>
                  <a:pt x="77673" y="110700"/>
                  <a:pt x="77673" y="116236"/>
                  <a:pt x="81082" y="119645"/>
                </a:cubicBezTo>
                <a:cubicBezTo>
                  <a:pt x="84491" y="123055"/>
                  <a:pt x="90027" y="123055"/>
                  <a:pt x="93436" y="119645"/>
                </a:cubicBezTo>
                <a:lnTo>
                  <a:pt x="137073" y="76009"/>
                </a:lnTo>
                <a:close/>
              </a:path>
            </a:pathLst>
          </a:custGeom>
          <a:solidFill>
            <a:srgbClr val="6A72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1149227" y="2670545"/>
            <a:ext cx="436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min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61500" y="2949818"/>
            <a:ext cx="3054545" cy="87273"/>
          </a:xfrm>
          <a:custGeom>
            <a:avLst/>
            <a:gdLst/>
            <a:ahLst/>
            <a:cxnLst/>
            <a:rect l="l" t="t" r="r" b="b"/>
            <a:pathLst>
              <a:path w="3054545" h="87273">
                <a:moveTo>
                  <a:pt x="43636" y="0"/>
                </a:moveTo>
                <a:lnTo>
                  <a:pt x="3010909" y="0"/>
                </a:lnTo>
                <a:cubicBezTo>
                  <a:pt x="3035009" y="0"/>
                  <a:pt x="3054545" y="19537"/>
                  <a:pt x="3054545" y="43636"/>
                </a:cubicBezTo>
                <a:lnTo>
                  <a:pt x="3054545" y="43636"/>
                </a:lnTo>
                <a:cubicBezTo>
                  <a:pt x="3054545" y="67736"/>
                  <a:pt x="3035009" y="87273"/>
                  <a:pt x="3010909" y="87273"/>
                </a:cubicBezTo>
                <a:lnTo>
                  <a:pt x="43636" y="87273"/>
                </a:lnTo>
                <a:cubicBezTo>
                  <a:pt x="19553" y="87273"/>
                  <a:pt x="0" y="67720"/>
                  <a:pt x="0" y="43636"/>
                </a:cubicBezTo>
                <a:lnTo>
                  <a:pt x="0" y="43636"/>
                </a:lnTo>
                <a:cubicBezTo>
                  <a:pt x="0" y="19553"/>
                  <a:pt x="19553" y="0"/>
                  <a:pt x="43636" y="0"/>
                </a:cubicBezTo>
                <a:close/>
              </a:path>
            </a:pathLst>
          </a:custGeom>
          <a:solidFill>
            <a:srgbClr val="36415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8461500" y="2949818"/>
            <a:ext cx="2592000" cy="87273"/>
          </a:xfrm>
          <a:custGeom>
            <a:avLst/>
            <a:gdLst/>
            <a:ahLst/>
            <a:cxnLst/>
            <a:rect l="l" t="t" r="r" b="b"/>
            <a:pathLst>
              <a:path w="2592000" h="87273">
                <a:moveTo>
                  <a:pt x="43636" y="0"/>
                </a:moveTo>
                <a:lnTo>
                  <a:pt x="2548364" y="0"/>
                </a:lnTo>
                <a:cubicBezTo>
                  <a:pt x="2572463" y="0"/>
                  <a:pt x="2592000" y="19537"/>
                  <a:pt x="2592000" y="43636"/>
                </a:cubicBezTo>
                <a:lnTo>
                  <a:pt x="2592000" y="43636"/>
                </a:lnTo>
                <a:cubicBezTo>
                  <a:pt x="2592000" y="67736"/>
                  <a:pt x="2572463" y="87273"/>
                  <a:pt x="2548364" y="87273"/>
                </a:cubicBezTo>
                <a:lnTo>
                  <a:pt x="43636" y="87273"/>
                </a:lnTo>
                <a:cubicBezTo>
                  <a:pt x="19553" y="87273"/>
                  <a:pt x="0" y="67720"/>
                  <a:pt x="0" y="43636"/>
                </a:cubicBezTo>
                <a:lnTo>
                  <a:pt x="0" y="43636"/>
                </a:lnTo>
                <a:cubicBezTo>
                  <a:pt x="0" y="19553"/>
                  <a:pt x="19553" y="0"/>
                  <a:pt x="43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00C950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8430955" y="3072000"/>
            <a:ext cx="3115636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-85% de temps de réponse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17500" y="3504000"/>
            <a:ext cx="3342545" cy="1213091"/>
          </a:xfrm>
          <a:custGeom>
            <a:avLst/>
            <a:gdLst/>
            <a:ahLst/>
            <a:cxnLst/>
            <a:rect l="l" t="t" r="r" b="b"/>
            <a:pathLst>
              <a:path w="3342545" h="1213091">
                <a:moveTo>
                  <a:pt x="69813" y="0"/>
                </a:moveTo>
                <a:lnTo>
                  <a:pt x="3272732" y="0"/>
                </a:lnTo>
                <a:cubicBezTo>
                  <a:pt x="3311289" y="0"/>
                  <a:pt x="3342545" y="31257"/>
                  <a:pt x="3342545" y="69813"/>
                </a:cubicBezTo>
                <a:lnTo>
                  <a:pt x="3342545" y="1143278"/>
                </a:lnTo>
                <a:cubicBezTo>
                  <a:pt x="3342545" y="1181834"/>
                  <a:pt x="3311289" y="1213091"/>
                  <a:pt x="3272732" y="1213091"/>
                </a:cubicBezTo>
                <a:lnTo>
                  <a:pt x="69813" y="1213091"/>
                </a:lnTo>
                <a:cubicBezTo>
                  <a:pt x="31257" y="1213091"/>
                  <a:pt x="0" y="1181834"/>
                  <a:pt x="0" y="1143278"/>
                </a:cubicBezTo>
                <a:lnTo>
                  <a:pt x="0" y="69813"/>
                </a:lnTo>
                <a:cubicBezTo>
                  <a:pt x="0" y="31282"/>
                  <a:pt x="31282" y="0"/>
                  <a:pt x="69813" y="0"/>
                </a:cubicBezTo>
                <a:close/>
              </a:path>
            </a:pathLst>
          </a:custGeom>
          <a:solidFill>
            <a:srgbClr val="032E15">
              <a:alpha val="6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8512773" y="3691636"/>
            <a:ext cx="98182" cy="157091"/>
          </a:xfrm>
          <a:custGeom>
            <a:avLst/>
            <a:gdLst/>
            <a:ahLst/>
            <a:cxnLst/>
            <a:rect l="l" t="t" r="r" b="b"/>
            <a:pathLst>
              <a:path w="98182" h="157091">
                <a:moveTo>
                  <a:pt x="41727" y="7364"/>
                </a:moveTo>
                <a:cubicBezTo>
                  <a:pt x="41727" y="3283"/>
                  <a:pt x="45010" y="0"/>
                  <a:pt x="49091" y="0"/>
                </a:cubicBezTo>
                <a:cubicBezTo>
                  <a:pt x="53172" y="0"/>
                  <a:pt x="56455" y="3283"/>
                  <a:pt x="56455" y="7364"/>
                </a:cubicBezTo>
                <a:lnTo>
                  <a:pt x="56455" y="19636"/>
                </a:lnTo>
                <a:lnTo>
                  <a:pt x="73636" y="19636"/>
                </a:lnTo>
                <a:cubicBezTo>
                  <a:pt x="79067" y="19636"/>
                  <a:pt x="83455" y="24024"/>
                  <a:pt x="83455" y="29455"/>
                </a:cubicBezTo>
                <a:cubicBezTo>
                  <a:pt x="83455" y="34885"/>
                  <a:pt x="79067" y="39273"/>
                  <a:pt x="73636" y="39273"/>
                </a:cubicBezTo>
                <a:lnTo>
                  <a:pt x="38383" y="39273"/>
                </a:lnTo>
                <a:cubicBezTo>
                  <a:pt x="30743" y="39273"/>
                  <a:pt x="24545" y="45470"/>
                  <a:pt x="24545" y="53110"/>
                </a:cubicBezTo>
                <a:cubicBezTo>
                  <a:pt x="24545" y="60014"/>
                  <a:pt x="29608" y="65843"/>
                  <a:pt x="36419" y="66825"/>
                </a:cubicBezTo>
                <a:lnTo>
                  <a:pt x="64524" y="70844"/>
                </a:lnTo>
                <a:cubicBezTo>
                  <a:pt x="81031" y="73207"/>
                  <a:pt x="93273" y="87320"/>
                  <a:pt x="93273" y="103981"/>
                </a:cubicBezTo>
                <a:cubicBezTo>
                  <a:pt x="93273" y="122482"/>
                  <a:pt x="78269" y="137455"/>
                  <a:pt x="59799" y="137455"/>
                </a:cubicBezTo>
                <a:lnTo>
                  <a:pt x="56455" y="137455"/>
                </a:lnTo>
                <a:lnTo>
                  <a:pt x="56455" y="149727"/>
                </a:lnTo>
                <a:cubicBezTo>
                  <a:pt x="56455" y="153808"/>
                  <a:pt x="53172" y="157091"/>
                  <a:pt x="49091" y="157091"/>
                </a:cubicBezTo>
                <a:cubicBezTo>
                  <a:pt x="45010" y="157091"/>
                  <a:pt x="41727" y="153808"/>
                  <a:pt x="41727" y="149727"/>
                </a:cubicBezTo>
                <a:lnTo>
                  <a:pt x="41727" y="137455"/>
                </a:lnTo>
                <a:lnTo>
                  <a:pt x="19636" y="137455"/>
                </a:lnTo>
                <a:cubicBezTo>
                  <a:pt x="14206" y="137455"/>
                  <a:pt x="9818" y="133067"/>
                  <a:pt x="9818" y="127636"/>
                </a:cubicBezTo>
                <a:cubicBezTo>
                  <a:pt x="9818" y="122206"/>
                  <a:pt x="14206" y="117818"/>
                  <a:pt x="19636" y="117818"/>
                </a:cubicBezTo>
                <a:lnTo>
                  <a:pt x="59799" y="117818"/>
                </a:lnTo>
                <a:cubicBezTo>
                  <a:pt x="67439" y="117818"/>
                  <a:pt x="73636" y="111620"/>
                  <a:pt x="73636" y="103981"/>
                </a:cubicBezTo>
                <a:cubicBezTo>
                  <a:pt x="73636" y="97077"/>
                  <a:pt x="68574" y="91248"/>
                  <a:pt x="61762" y="90266"/>
                </a:cubicBezTo>
                <a:lnTo>
                  <a:pt x="33658" y="86247"/>
                </a:lnTo>
                <a:cubicBezTo>
                  <a:pt x="17151" y="83915"/>
                  <a:pt x="4909" y="69770"/>
                  <a:pt x="4909" y="53110"/>
                </a:cubicBezTo>
                <a:cubicBezTo>
                  <a:pt x="4909" y="34640"/>
                  <a:pt x="19913" y="19636"/>
                  <a:pt x="38383" y="19636"/>
                </a:cubicBezTo>
                <a:lnTo>
                  <a:pt x="41727" y="19636"/>
                </a:lnTo>
                <a:lnTo>
                  <a:pt x="41727" y="7364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8662227" y="3648000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Budget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461500" y="4014545"/>
            <a:ext cx="811636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Mensuel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512682" y="3997091"/>
            <a:ext cx="42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+65%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961045" y="4032000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137073" y="75982"/>
                </a:moveTo>
                <a:cubicBezTo>
                  <a:pt x="140482" y="72573"/>
                  <a:pt x="140482" y="67036"/>
                  <a:pt x="137073" y="63627"/>
                </a:cubicBezTo>
                <a:lnTo>
                  <a:pt x="93436" y="19991"/>
                </a:lnTo>
                <a:cubicBezTo>
                  <a:pt x="90027" y="16582"/>
                  <a:pt x="84491" y="16582"/>
                  <a:pt x="81082" y="19991"/>
                </a:cubicBezTo>
                <a:cubicBezTo>
                  <a:pt x="77673" y="23400"/>
                  <a:pt x="77673" y="28936"/>
                  <a:pt x="81082" y="32345"/>
                </a:cubicBezTo>
                <a:lnTo>
                  <a:pt x="109827" y="61091"/>
                </a:lnTo>
                <a:lnTo>
                  <a:pt x="8727" y="61091"/>
                </a:lnTo>
                <a:cubicBezTo>
                  <a:pt x="3900" y="61091"/>
                  <a:pt x="0" y="64991"/>
                  <a:pt x="0" y="69818"/>
                </a:cubicBezTo>
                <a:cubicBezTo>
                  <a:pt x="0" y="74645"/>
                  <a:pt x="3900" y="78545"/>
                  <a:pt x="8727" y="78545"/>
                </a:cubicBezTo>
                <a:lnTo>
                  <a:pt x="109827" y="78545"/>
                </a:lnTo>
                <a:lnTo>
                  <a:pt x="81082" y="107291"/>
                </a:lnTo>
                <a:cubicBezTo>
                  <a:pt x="77673" y="110700"/>
                  <a:pt x="77673" y="116236"/>
                  <a:pt x="81082" y="119645"/>
                </a:cubicBezTo>
                <a:cubicBezTo>
                  <a:pt x="84491" y="123055"/>
                  <a:pt x="90027" y="123055"/>
                  <a:pt x="93436" y="119645"/>
                </a:cubicBezTo>
                <a:lnTo>
                  <a:pt x="137073" y="76009"/>
                </a:lnTo>
                <a:close/>
              </a:path>
            </a:pathLst>
          </a:custGeom>
          <a:solidFill>
            <a:srgbClr val="6A72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11187955" y="3997091"/>
            <a:ext cx="392727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-40%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61500" y="4276364"/>
            <a:ext cx="3054545" cy="87273"/>
          </a:xfrm>
          <a:custGeom>
            <a:avLst/>
            <a:gdLst/>
            <a:ahLst/>
            <a:cxnLst/>
            <a:rect l="l" t="t" r="r" b="b"/>
            <a:pathLst>
              <a:path w="3054545" h="87273">
                <a:moveTo>
                  <a:pt x="43636" y="0"/>
                </a:moveTo>
                <a:lnTo>
                  <a:pt x="3010909" y="0"/>
                </a:lnTo>
                <a:cubicBezTo>
                  <a:pt x="3035009" y="0"/>
                  <a:pt x="3054545" y="19537"/>
                  <a:pt x="3054545" y="43636"/>
                </a:cubicBezTo>
                <a:lnTo>
                  <a:pt x="3054545" y="43636"/>
                </a:lnTo>
                <a:cubicBezTo>
                  <a:pt x="3054545" y="67736"/>
                  <a:pt x="3035009" y="87273"/>
                  <a:pt x="3010909" y="87273"/>
                </a:cubicBezTo>
                <a:lnTo>
                  <a:pt x="43636" y="87273"/>
                </a:lnTo>
                <a:cubicBezTo>
                  <a:pt x="19553" y="87273"/>
                  <a:pt x="0" y="67720"/>
                  <a:pt x="0" y="43636"/>
                </a:cubicBezTo>
                <a:lnTo>
                  <a:pt x="0" y="43636"/>
                </a:lnTo>
                <a:cubicBezTo>
                  <a:pt x="0" y="19553"/>
                  <a:pt x="19553" y="0"/>
                  <a:pt x="43636" y="0"/>
                </a:cubicBezTo>
                <a:close/>
              </a:path>
            </a:pathLst>
          </a:custGeom>
          <a:solidFill>
            <a:srgbClr val="36415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8461500" y="4276364"/>
            <a:ext cx="1981091" cy="87273"/>
          </a:xfrm>
          <a:custGeom>
            <a:avLst/>
            <a:gdLst/>
            <a:ahLst/>
            <a:cxnLst/>
            <a:rect l="l" t="t" r="r" b="b"/>
            <a:pathLst>
              <a:path w="1981091" h="87273">
                <a:moveTo>
                  <a:pt x="43636" y="0"/>
                </a:moveTo>
                <a:lnTo>
                  <a:pt x="1937455" y="0"/>
                </a:lnTo>
                <a:cubicBezTo>
                  <a:pt x="1961554" y="0"/>
                  <a:pt x="1981091" y="19537"/>
                  <a:pt x="1981091" y="43636"/>
                </a:cubicBezTo>
                <a:lnTo>
                  <a:pt x="1981091" y="43636"/>
                </a:lnTo>
                <a:cubicBezTo>
                  <a:pt x="1981091" y="67736"/>
                  <a:pt x="1961554" y="87273"/>
                  <a:pt x="1937455" y="87273"/>
                </a:cubicBezTo>
                <a:lnTo>
                  <a:pt x="43636" y="87273"/>
                </a:lnTo>
                <a:cubicBezTo>
                  <a:pt x="19553" y="87273"/>
                  <a:pt x="0" y="67720"/>
                  <a:pt x="0" y="43636"/>
                </a:cubicBezTo>
                <a:lnTo>
                  <a:pt x="0" y="43636"/>
                </a:lnTo>
                <a:cubicBezTo>
                  <a:pt x="0" y="19553"/>
                  <a:pt x="19553" y="0"/>
                  <a:pt x="43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00C950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8430955" y="4398545"/>
            <a:ext cx="3115636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-40% de coûts mensuels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17500" y="4830545"/>
            <a:ext cx="3342545" cy="811636"/>
          </a:xfrm>
          <a:custGeom>
            <a:avLst/>
            <a:gdLst/>
            <a:ahLst/>
            <a:cxnLst/>
            <a:rect l="l" t="t" r="r" b="b"/>
            <a:pathLst>
              <a:path w="3342545" h="811636">
                <a:moveTo>
                  <a:pt x="69817" y="0"/>
                </a:moveTo>
                <a:lnTo>
                  <a:pt x="3272728" y="0"/>
                </a:lnTo>
                <a:cubicBezTo>
                  <a:pt x="3311287" y="0"/>
                  <a:pt x="3342545" y="31258"/>
                  <a:pt x="3342545" y="69817"/>
                </a:cubicBezTo>
                <a:lnTo>
                  <a:pt x="3342545" y="741819"/>
                </a:lnTo>
                <a:cubicBezTo>
                  <a:pt x="3342545" y="780378"/>
                  <a:pt x="3311287" y="811636"/>
                  <a:pt x="3272728" y="811636"/>
                </a:cubicBezTo>
                <a:lnTo>
                  <a:pt x="69817" y="811636"/>
                </a:lnTo>
                <a:cubicBezTo>
                  <a:pt x="31284" y="811636"/>
                  <a:pt x="0" y="780352"/>
                  <a:pt x="0" y="741819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>
                  <a:alpha val="20000"/>
                </a:srgbClr>
              </a:gs>
              <a:gs pos="100000">
                <a:srgbClr val="00BC7D">
                  <a:alpha val="20000"/>
                </a:srgbClr>
              </a:gs>
            </a:gsLst>
            <a:lin ang="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8483318" y="5018182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19636" y="19636"/>
                </a:moveTo>
                <a:cubicBezTo>
                  <a:pt x="19636" y="14206"/>
                  <a:pt x="15249" y="9818"/>
                  <a:pt x="9818" y="9818"/>
                </a:cubicBezTo>
                <a:cubicBezTo>
                  <a:pt x="4387" y="9818"/>
                  <a:pt x="0" y="14206"/>
                  <a:pt x="0" y="19636"/>
                </a:cubicBezTo>
                <a:lnTo>
                  <a:pt x="0" y="122727"/>
                </a:lnTo>
                <a:cubicBezTo>
                  <a:pt x="0" y="136289"/>
                  <a:pt x="10984" y="147273"/>
                  <a:pt x="24545" y="147273"/>
                </a:cubicBezTo>
                <a:lnTo>
                  <a:pt x="147273" y="147273"/>
                </a:lnTo>
                <a:cubicBezTo>
                  <a:pt x="152703" y="147273"/>
                  <a:pt x="157091" y="142885"/>
                  <a:pt x="157091" y="137455"/>
                </a:cubicBezTo>
                <a:cubicBezTo>
                  <a:pt x="157091" y="132024"/>
                  <a:pt x="152703" y="127636"/>
                  <a:pt x="147273" y="127636"/>
                </a:cubicBezTo>
                <a:lnTo>
                  <a:pt x="24545" y="127636"/>
                </a:lnTo>
                <a:cubicBezTo>
                  <a:pt x="21845" y="127636"/>
                  <a:pt x="19636" y="125427"/>
                  <a:pt x="19636" y="122727"/>
                </a:cubicBezTo>
                <a:lnTo>
                  <a:pt x="19636" y="19636"/>
                </a:lnTo>
                <a:close/>
                <a:moveTo>
                  <a:pt x="144389" y="46207"/>
                </a:moveTo>
                <a:cubicBezTo>
                  <a:pt x="148224" y="42372"/>
                  <a:pt x="148224" y="36143"/>
                  <a:pt x="144389" y="32308"/>
                </a:cubicBezTo>
                <a:cubicBezTo>
                  <a:pt x="140553" y="28473"/>
                  <a:pt x="134325" y="28473"/>
                  <a:pt x="130490" y="32308"/>
                </a:cubicBezTo>
                <a:lnTo>
                  <a:pt x="98182" y="64647"/>
                </a:lnTo>
                <a:lnTo>
                  <a:pt x="80570" y="47066"/>
                </a:lnTo>
                <a:cubicBezTo>
                  <a:pt x="76735" y="43231"/>
                  <a:pt x="70507" y="43231"/>
                  <a:pt x="66672" y="47066"/>
                </a:cubicBezTo>
                <a:lnTo>
                  <a:pt x="37217" y="76520"/>
                </a:lnTo>
                <a:cubicBezTo>
                  <a:pt x="33382" y="80356"/>
                  <a:pt x="33382" y="86584"/>
                  <a:pt x="37217" y="90419"/>
                </a:cubicBezTo>
                <a:cubicBezTo>
                  <a:pt x="41052" y="94255"/>
                  <a:pt x="47281" y="94255"/>
                  <a:pt x="51116" y="90419"/>
                </a:cubicBezTo>
                <a:lnTo>
                  <a:pt x="73636" y="67899"/>
                </a:lnTo>
                <a:lnTo>
                  <a:pt x="91248" y="85510"/>
                </a:lnTo>
                <a:cubicBezTo>
                  <a:pt x="95083" y="89345"/>
                  <a:pt x="101311" y="89345"/>
                  <a:pt x="105147" y="85510"/>
                </a:cubicBezTo>
                <a:lnTo>
                  <a:pt x="144419" y="46237"/>
                </a:ln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8662227" y="4974545"/>
            <a:ext cx="293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Retour sur Investissement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26591" y="5288727"/>
            <a:ext cx="3124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 atteint en 3 mois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>
            <a:extLst>
              <a:ext uri="{FF2B5EF4-FFF2-40B4-BE49-F238E27FC236}">
                <a16:creationId xmlns:a16="http://schemas.microsoft.com/office/drawing/2014/main" id="{0DA38146-FB5F-C027-D899-AA577FB58419}"/>
              </a:ext>
            </a:extLst>
          </p:cNvPr>
          <p:cNvSpPr/>
          <p:nvPr/>
        </p:nvSpPr>
        <p:spPr>
          <a:xfrm>
            <a:off x="0" y="10274"/>
            <a:ext cx="12192000" cy="7143250"/>
          </a:xfrm>
          <a:custGeom>
            <a:avLst/>
            <a:gdLst/>
            <a:ahLst/>
            <a:cxnLst/>
            <a:rect l="l" t="t" r="r" b="b"/>
            <a:pathLst>
              <a:path w="12192000" h="7143250">
                <a:moveTo>
                  <a:pt x="0" y="0"/>
                </a:moveTo>
                <a:lnTo>
                  <a:pt x="12192000" y="0"/>
                </a:lnTo>
                <a:lnTo>
                  <a:pt x="12192000" y="7143250"/>
                </a:lnTo>
                <a:lnTo>
                  <a:pt x="0" y="71432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GUIDE D'EXCELLENCE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Bonnes Pratiques &amp; Recommandations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4 piliers essentiels pour garantir une gestion optimale, performante et rentable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04963"/>
            <a:ext cx="2705100" cy="3409950"/>
          </a:xfrm>
          <a:custGeom>
            <a:avLst/>
            <a:gdLst/>
            <a:ahLst/>
            <a:cxnLst/>
            <a:rect l="l" t="t" r="r" b="b"/>
            <a:pathLst>
              <a:path w="2705100" h="3409950">
                <a:moveTo>
                  <a:pt x="152405" y="0"/>
                </a:moveTo>
                <a:lnTo>
                  <a:pt x="2552695" y="0"/>
                </a:lnTo>
                <a:cubicBezTo>
                  <a:pt x="2636866" y="0"/>
                  <a:pt x="2705100" y="68234"/>
                  <a:pt x="2705100" y="152405"/>
                </a:cubicBezTo>
                <a:lnTo>
                  <a:pt x="2705100" y="3257545"/>
                </a:lnTo>
                <a:cubicBezTo>
                  <a:pt x="2705100" y="3341716"/>
                  <a:pt x="2636866" y="3409950"/>
                  <a:pt x="2552695" y="3409950"/>
                </a:cubicBezTo>
                <a:lnTo>
                  <a:pt x="152405" y="3409950"/>
                </a:lnTo>
                <a:cubicBezTo>
                  <a:pt x="68234" y="3409950"/>
                  <a:pt x="0" y="3341716"/>
                  <a:pt x="0" y="32575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8102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3425" y="1952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5009" y="25003"/>
                </a:moveTo>
                <a:lnTo>
                  <a:pt x="75009" y="42863"/>
                </a:lnTo>
                <a:lnTo>
                  <a:pt x="40139" y="42863"/>
                </a:lnTo>
                <a:cubicBezTo>
                  <a:pt x="33754" y="42863"/>
                  <a:pt x="28575" y="48042"/>
                  <a:pt x="28575" y="54426"/>
                </a:cubicBezTo>
                <a:cubicBezTo>
                  <a:pt x="28575" y="56212"/>
                  <a:pt x="28977" y="57998"/>
                  <a:pt x="29781" y="59606"/>
                </a:cubicBezTo>
                <a:lnTo>
                  <a:pt x="44693" y="89431"/>
                </a:lnTo>
                <a:cubicBezTo>
                  <a:pt x="39603" y="90234"/>
                  <a:pt x="35674" y="94655"/>
                  <a:pt x="35674" y="100013"/>
                </a:cubicBezTo>
                <a:cubicBezTo>
                  <a:pt x="35674" y="105951"/>
                  <a:pt x="40451" y="110728"/>
                  <a:pt x="46390" y="110728"/>
                </a:cubicBezTo>
                <a:lnTo>
                  <a:pt x="48890" y="110728"/>
                </a:lnTo>
                <a:lnTo>
                  <a:pt x="42818" y="171450"/>
                </a:lnTo>
                <a:lnTo>
                  <a:pt x="17725" y="202838"/>
                </a:lnTo>
                <a:cubicBezTo>
                  <a:pt x="15493" y="205651"/>
                  <a:pt x="14243" y="209133"/>
                  <a:pt x="14243" y="212750"/>
                </a:cubicBezTo>
                <a:cubicBezTo>
                  <a:pt x="14243" y="221501"/>
                  <a:pt x="21342" y="228600"/>
                  <a:pt x="30093" y="228600"/>
                </a:cubicBezTo>
                <a:lnTo>
                  <a:pt x="141223" y="228600"/>
                </a:lnTo>
                <a:cubicBezTo>
                  <a:pt x="149974" y="228600"/>
                  <a:pt x="157073" y="221501"/>
                  <a:pt x="157073" y="212750"/>
                </a:cubicBezTo>
                <a:cubicBezTo>
                  <a:pt x="157073" y="209133"/>
                  <a:pt x="155868" y="205651"/>
                  <a:pt x="153591" y="202838"/>
                </a:cubicBezTo>
                <a:lnTo>
                  <a:pt x="128588" y="171450"/>
                </a:lnTo>
                <a:lnTo>
                  <a:pt x="122515" y="110728"/>
                </a:lnTo>
                <a:lnTo>
                  <a:pt x="125016" y="110728"/>
                </a:lnTo>
                <a:cubicBezTo>
                  <a:pt x="130954" y="110728"/>
                  <a:pt x="135731" y="105951"/>
                  <a:pt x="135731" y="100013"/>
                </a:cubicBezTo>
                <a:cubicBezTo>
                  <a:pt x="135731" y="94699"/>
                  <a:pt x="131847" y="90234"/>
                  <a:pt x="126712" y="89431"/>
                </a:cubicBezTo>
                <a:lnTo>
                  <a:pt x="141625" y="59606"/>
                </a:lnTo>
                <a:cubicBezTo>
                  <a:pt x="142429" y="57998"/>
                  <a:pt x="142830" y="56212"/>
                  <a:pt x="142830" y="54426"/>
                </a:cubicBezTo>
                <a:cubicBezTo>
                  <a:pt x="142830" y="48042"/>
                  <a:pt x="137651" y="42863"/>
                  <a:pt x="131266" y="42863"/>
                </a:cubicBezTo>
                <a:lnTo>
                  <a:pt x="96396" y="42863"/>
                </a:lnTo>
                <a:lnTo>
                  <a:pt x="96396" y="25003"/>
                </a:lnTo>
                <a:lnTo>
                  <a:pt x="103540" y="25003"/>
                </a:lnTo>
                <a:cubicBezTo>
                  <a:pt x="109478" y="25003"/>
                  <a:pt x="114255" y="20226"/>
                  <a:pt x="114255" y="14288"/>
                </a:cubicBezTo>
                <a:cubicBezTo>
                  <a:pt x="114255" y="8349"/>
                  <a:pt x="109523" y="3572"/>
                  <a:pt x="103584" y="3572"/>
                </a:cubicBezTo>
                <a:lnTo>
                  <a:pt x="96441" y="3572"/>
                </a:lnTo>
                <a:lnTo>
                  <a:pt x="96441" y="-3572"/>
                </a:lnTo>
                <a:cubicBezTo>
                  <a:pt x="96441" y="-9510"/>
                  <a:pt x="91663" y="-14287"/>
                  <a:pt x="85725" y="-14287"/>
                </a:cubicBezTo>
                <a:cubicBezTo>
                  <a:pt x="79787" y="-14287"/>
                  <a:pt x="75009" y="-9510"/>
                  <a:pt x="75009" y="-3572"/>
                </a:cubicBezTo>
                <a:lnTo>
                  <a:pt x="75009" y="3572"/>
                </a:lnTo>
                <a:lnTo>
                  <a:pt x="67866" y="3572"/>
                </a:lnTo>
                <a:cubicBezTo>
                  <a:pt x="61927" y="3572"/>
                  <a:pt x="57150" y="8349"/>
                  <a:pt x="57150" y="14288"/>
                </a:cubicBezTo>
                <a:cubicBezTo>
                  <a:pt x="57150" y="20226"/>
                  <a:pt x="61927" y="25003"/>
                  <a:pt x="67866" y="25003"/>
                </a:cubicBezTo>
                <a:lnTo>
                  <a:pt x="75009" y="25003"/>
                </a:lnTo>
                <a:close/>
                <a:moveTo>
                  <a:pt x="145465" y="124837"/>
                </a:moveTo>
                <a:lnTo>
                  <a:pt x="149260" y="163011"/>
                </a:lnTo>
                <a:lnTo>
                  <a:pt x="170423" y="189443"/>
                </a:lnTo>
                <a:lnTo>
                  <a:pt x="172298" y="191988"/>
                </a:lnTo>
                <a:cubicBezTo>
                  <a:pt x="176406" y="198105"/>
                  <a:pt x="178594" y="205338"/>
                  <a:pt x="178594" y="212750"/>
                </a:cubicBezTo>
                <a:cubicBezTo>
                  <a:pt x="178594" y="218420"/>
                  <a:pt x="177344" y="223823"/>
                  <a:pt x="175067" y="228600"/>
                </a:cubicBezTo>
                <a:lnTo>
                  <a:pt x="212169" y="228600"/>
                </a:lnTo>
                <a:cubicBezTo>
                  <a:pt x="221233" y="228600"/>
                  <a:pt x="228600" y="221233"/>
                  <a:pt x="228600" y="212169"/>
                </a:cubicBezTo>
                <a:cubicBezTo>
                  <a:pt x="228600" y="208910"/>
                  <a:pt x="227618" y="205740"/>
                  <a:pt x="225832" y="203061"/>
                </a:cubicBezTo>
                <a:lnTo>
                  <a:pt x="214313" y="185782"/>
                </a:lnTo>
                <a:lnTo>
                  <a:pt x="214313" y="157207"/>
                </a:lnTo>
                <a:lnTo>
                  <a:pt x="220251" y="151269"/>
                </a:lnTo>
                <a:cubicBezTo>
                  <a:pt x="225609" y="145911"/>
                  <a:pt x="228600" y="138633"/>
                  <a:pt x="228600" y="131043"/>
                </a:cubicBezTo>
                <a:lnTo>
                  <a:pt x="228600" y="85725"/>
                </a:lnTo>
                <a:cubicBezTo>
                  <a:pt x="228600" y="77822"/>
                  <a:pt x="222215" y="71438"/>
                  <a:pt x="214313" y="71438"/>
                </a:cubicBezTo>
                <a:cubicBezTo>
                  <a:pt x="206410" y="71438"/>
                  <a:pt x="200025" y="77822"/>
                  <a:pt x="200025" y="85725"/>
                </a:cubicBezTo>
                <a:lnTo>
                  <a:pt x="200025" y="92869"/>
                </a:lnTo>
                <a:lnTo>
                  <a:pt x="185738" y="92869"/>
                </a:lnTo>
                <a:lnTo>
                  <a:pt x="185738" y="85725"/>
                </a:lnTo>
                <a:cubicBezTo>
                  <a:pt x="185738" y="77822"/>
                  <a:pt x="179353" y="71438"/>
                  <a:pt x="171450" y="71438"/>
                </a:cubicBezTo>
                <a:cubicBezTo>
                  <a:pt x="163547" y="71438"/>
                  <a:pt x="157163" y="77822"/>
                  <a:pt x="157163" y="85725"/>
                </a:cubicBezTo>
                <a:lnTo>
                  <a:pt x="157163" y="100013"/>
                </a:lnTo>
                <a:cubicBezTo>
                  <a:pt x="157163" y="110014"/>
                  <a:pt x="152608" y="118943"/>
                  <a:pt x="145465" y="12483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28725" y="1933575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Stratégie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49078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04850" y="260985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Choix Plateforme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850" y="28765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Aligner aux cas d'usage réels et évaluer le ratio Performance/Coût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350043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4850" y="36195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850" y="38862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Valider par POC sur données réelles avant migration complète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4510088"/>
            <a:ext cx="2314575" cy="9525"/>
          </a:xfrm>
          <a:custGeom>
            <a:avLst/>
            <a:gdLst/>
            <a:ahLst/>
            <a:cxnLst/>
            <a:rect l="l" t="t" r="r" b="b"/>
            <a:pathLst>
              <a:path w="2314575" h="9525">
                <a:moveTo>
                  <a:pt x="0" y="0"/>
                </a:moveTo>
                <a:lnTo>
                  <a:pt x="2314575" y="0"/>
                </a:lnTo>
                <a:lnTo>
                  <a:pt x="23145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2B7FFF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7688" y="46291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Fondation solide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0888" y="1604963"/>
            <a:ext cx="2705100" cy="3409950"/>
          </a:xfrm>
          <a:custGeom>
            <a:avLst/>
            <a:gdLst/>
            <a:ahLst/>
            <a:cxnLst/>
            <a:rect l="l" t="t" r="r" b="b"/>
            <a:pathLst>
              <a:path w="2705100" h="3409950">
                <a:moveTo>
                  <a:pt x="152405" y="0"/>
                </a:moveTo>
                <a:lnTo>
                  <a:pt x="2552695" y="0"/>
                </a:lnTo>
                <a:cubicBezTo>
                  <a:pt x="2636866" y="0"/>
                  <a:pt x="2705100" y="68234"/>
                  <a:pt x="2705100" y="152405"/>
                </a:cubicBezTo>
                <a:lnTo>
                  <a:pt x="2705100" y="3257545"/>
                </a:lnTo>
                <a:cubicBezTo>
                  <a:pt x="2705100" y="3341716"/>
                  <a:pt x="2636866" y="3409950"/>
                  <a:pt x="2552695" y="3409950"/>
                </a:cubicBezTo>
                <a:lnTo>
                  <a:pt x="152405" y="3409950"/>
                </a:lnTo>
                <a:cubicBezTo>
                  <a:pt x="68234" y="3409950"/>
                  <a:pt x="0" y="3341716"/>
                  <a:pt x="0" y="32575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486150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38550" y="1952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133850" y="193357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90913" y="249078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609975" y="260985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Surveillance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09975" y="28765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Configurer des alertes budgétaires et suivre les quotas d'utilisation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90913" y="350043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609975" y="36195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09975" y="38862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Analyser les logs d'audit pour identifier les requêtes coûteuses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86150" y="4510088"/>
            <a:ext cx="2314575" cy="9525"/>
          </a:xfrm>
          <a:custGeom>
            <a:avLst/>
            <a:gdLst/>
            <a:ahLst/>
            <a:cxnLst/>
            <a:rect l="l" t="t" r="r" b="b"/>
            <a:pathLst>
              <a:path w="2314575" h="9525">
                <a:moveTo>
                  <a:pt x="0" y="0"/>
                </a:moveTo>
                <a:lnTo>
                  <a:pt x="2314575" y="0"/>
                </a:lnTo>
                <a:lnTo>
                  <a:pt x="23145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D46FF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452813" y="46291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Contrôle proactif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6013" y="1604963"/>
            <a:ext cx="2705100" cy="3409950"/>
          </a:xfrm>
          <a:custGeom>
            <a:avLst/>
            <a:gdLst/>
            <a:ahLst/>
            <a:cxnLst/>
            <a:rect l="l" t="t" r="r" b="b"/>
            <a:pathLst>
              <a:path w="2705100" h="3409950">
                <a:moveTo>
                  <a:pt x="152405" y="0"/>
                </a:moveTo>
                <a:lnTo>
                  <a:pt x="2552695" y="0"/>
                </a:lnTo>
                <a:cubicBezTo>
                  <a:pt x="2636866" y="0"/>
                  <a:pt x="2705100" y="68234"/>
                  <a:pt x="2705100" y="152405"/>
                </a:cubicBezTo>
                <a:lnTo>
                  <a:pt x="2705100" y="3257545"/>
                </a:lnTo>
                <a:cubicBezTo>
                  <a:pt x="2705100" y="3341716"/>
                  <a:pt x="2636866" y="3409950"/>
                  <a:pt x="2552695" y="3409950"/>
                </a:cubicBezTo>
                <a:lnTo>
                  <a:pt x="152405" y="3409950"/>
                </a:lnTo>
                <a:cubicBezTo>
                  <a:pt x="68234" y="3409950"/>
                  <a:pt x="0" y="3341716"/>
                  <a:pt x="0" y="32575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BC7D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39127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529388" y="19526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038975" y="193357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Compétences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6038" y="249078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15100" y="260985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Formation Équipes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5100" y="28765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Formation modèle de données et bonnes pratiques SQL avancées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6038" y="350043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515100" y="36195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Sensibilisation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15100" y="38862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Sensibilisation aux coûts (FinOps) pour tous les utilisateurs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1275" y="4510088"/>
            <a:ext cx="2314575" cy="9525"/>
          </a:xfrm>
          <a:custGeom>
            <a:avLst/>
            <a:gdLst/>
            <a:ahLst/>
            <a:cxnLst/>
            <a:rect l="l" t="t" r="r" b="b"/>
            <a:pathLst>
              <a:path w="2314575" h="9525">
                <a:moveTo>
                  <a:pt x="0" y="0"/>
                </a:moveTo>
                <a:lnTo>
                  <a:pt x="2314575" y="0"/>
                </a:lnTo>
                <a:lnTo>
                  <a:pt x="23145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BC7D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357938" y="46291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Capital humain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01138" y="1604963"/>
            <a:ext cx="2705100" cy="3409950"/>
          </a:xfrm>
          <a:custGeom>
            <a:avLst/>
            <a:gdLst/>
            <a:ahLst/>
            <a:cxnLst/>
            <a:rect l="l" t="t" r="r" b="b"/>
            <a:pathLst>
              <a:path w="2705100" h="3409950">
                <a:moveTo>
                  <a:pt x="152405" y="0"/>
                </a:moveTo>
                <a:lnTo>
                  <a:pt x="2552695" y="0"/>
                </a:lnTo>
                <a:cubicBezTo>
                  <a:pt x="2636866" y="0"/>
                  <a:pt x="2705100" y="68234"/>
                  <a:pt x="2705100" y="152405"/>
                </a:cubicBezTo>
                <a:lnTo>
                  <a:pt x="2705100" y="3257545"/>
                </a:lnTo>
                <a:cubicBezTo>
                  <a:pt x="2705100" y="3341716"/>
                  <a:pt x="2636866" y="3409950"/>
                  <a:pt x="2552695" y="3409950"/>
                </a:cubicBezTo>
                <a:lnTo>
                  <a:pt x="152405" y="3409950"/>
                </a:lnTo>
                <a:cubicBezTo>
                  <a:pt x="68234" y="3409950"/>
                  <a:pt x="0" y="3341716"/>
                  <a:pt x="0" y="32575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2D00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296400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448800" y="1952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9944100" y="1933575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Cycle de Vie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301163" y="249078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420225" y="260985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Amélioration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420225" y="28765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Audit de performance trimestriel et tuning récurrent des requêtes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301163" y="3500438"/>
            <a:ext cx="2305050" cy="885825"/>
          </a:xfrm>
          <a:custGeom>
            <a:avLst/>
            <a:gdLst/>
            <a:ahLst/>
            <a:cxnLst/>
            <a:rect l="l" t="t" r="r" b="b"/>
            <a:pathLst>
              <a:path w="2305050" h="885825">
                <a:moveTo>
                  <a:pt x="76199" y="0"/>
                </a:moveTo>
                <a:lnTo>
                  <a:pt x="2228851" y="0"/>
                </a:lnTo>
                <a:cubicBezTo>
                  <a:pt x="2270935" y="0"/>
                  <a:pt x="2305050" y="34115"/>
                  <a:pt x="2305050" y="76199"/>
                </a:cubicBezTo>
                <a:lnTo>
                  <a:pt x="2305050" y="809626"/>
                </a:lnTo>
                <a:cubicBezTo>
                  <a:pt x="2305050" y="851710"/>
                  <a:pt x="2270935" y="885825"/>
                  <a:pt x="22288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9420225" y="36195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420225" y="38862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Nettoyage régulier des données obsolètes et optimisation continue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296400" y="4510088"/>
            <a:ext cx="2314575" cy="9525"/>
          </a:xfrm>
          <a:custGeom>
            <a:avLst/>
            <a:gdLst/>
            <a:ahLst/>
            <a:cxnLst/>
            <a:rect l="l" t="t" r="r" b="b"/>
            <a:pathLst>
              <a:path w="2314575" h="9525">
                <a:moveTo>
                  <a:pt x="0" y="0"/>
                </a:moveTo>
                <a:lnTo>
                  <a:pt x="2314575" y="0"/>
                </a:lnTo>
                <a:lnTo>
                  <a:pt x="23145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6900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263063" y="46291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Processus itératif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5763" y="5176838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114301" y="0"/>
                </a:moveTo>
                <a:lnTo>
                  <a:pt x="11306174" y="0"/>
                </a:lnTo>
                <a:cubicBezTo>
                  <a:pt x="11369301" y="0"/>
                  <a:pt x="11420475" y="51174"/>
                  <a:pt x="11420475" y="114301"/>
                </a:cubicBezTo>
                <a:lnTo>
                  <a:pt x="11420475" y="657224"/>
                </a:lnTo>
                <a:cubicBezTo>
                  <a:pt x="11420475" y="720351"/>
                  <a:pt x="11369301" y="771525"/>
                  <a:pt x="113061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>
                  <a:alpha val="20000"/>
                </a:srgbClr>
              </a:gs>
              <a:gs pos="100000">
                <a:srgbClr val="2B7FFF">
                  <a:alpha val="2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789236" y="5372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52475" y="5334000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Recommendation Clé: 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Optimization est un processus continu, pas une action ponctuelle. Impliquez tous les stakeholders et mesurez régulièrement les progrès.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7jfxhgtxieze/slide18_kpis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MESURE &amp; CONTRÔLE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Métriques et KPIs Essentiels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Indicateurs clés pour surveiller et optimiser vos Data Warehouses Cloud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604963"/>
            <a:ext cx="3676650" cy="4162425"/>
          </a:xfrm>
          <a:custGeom>
            <a:avLst/>
            <a:gdLst/>
            <a:ahLst/>
            <a:cxnLst/>
            <a:rect l="l" t="t" r="r" b="b"/>
            <a:pathLst>
              <a:path w="3676650" h="4162425">
                <a:moveTo>
                  <a:pt x="152397" y="0"/>
                </a:moveTo>
                <a:lnTo>
                  <a:pt x="3524253" y="0"/>
                </a:lnTo>
                <a:cubicBezTo>
                  <a:pt x="3608363" y="0"/>
                  <a:pt x="3676650" y="68287"/>
                  <a:pt x="3676650" y="152397"/>
                </a:cubicBezTo>
                <a:lnTo>
                  <a:pt x="3676650" y="4010028"/>
                </a:lnTo>
                <a:cubicBezTo>
                  <a:pt x="3676650" y="4094138"/>
                  <a:pt x="3608363" y="4162425"/>
                  <a:pt x="3524253" y="4162425"/>
                </a:cubicBezTo>
                <a:lnTo>
                  <a:pt x="152397" y="4162425"/>
                </a:lnTo>
                <a:cubicBezTo>
                  <a:pt x="68287" y="4162425"/>
                  <a:pt x="0" y="4094138"/>
                  <a:pt x="0" y="40100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81025" y="1800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14375" y="1933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152525" y="18954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5788" y="241458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04850" y="253365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de Réponse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39120" y="253365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5s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850" y="280035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Objectif pour 95% des requêtes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5788" y="323373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04850" y="3352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Débit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041154" y="335280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100/min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850" y="36195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Requêtes par minute supportées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5788" y="405288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04850" y="41719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Disponibilité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307854" y="4171950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4850" y="443865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Uptime mensuel requis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5788" y="487203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04850" y="499110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 Hit Rate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03687" y="49911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3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80%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4850" y="52578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Taux de réutilisation du cache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59163" y="1604963"/>
            <a:ext cx="3676650" cy="4162425"/>
          </a:xfrm>
          <a:custGeom>
            <a:avLst/>
            <a:gdLst/>
            <a:ahLst/>
            <a:cxnLst/>
            <a:rect l="l" t="t" r="r" b="b"/>
            <a:pathLst>
              <a:path w="3676650" h="4162425">
                <a:moveTo>
                  <a:pt x="152397" y="0"/>
                </a:moveTo>
                <a:lnTo>
                  <a:pt x="3524253" y="0"/>
                </a:lnTo>
                <a:cubicBezTo>
                  <a:pt x="3608363" y="0"/>
                  <a:pt x="3676650" y="68287"/>
                  <a:pt x="3676650" y="152397"/>
                </a:cubicBezTo>
                <a:lnTo>
                  <a:pt x="3676650" y="4010028"/>
                </a:lnTo>
                <a:cubicBezTo>
                  <a:pt x="3676650" y="4094138"/>
                  <a:pt x="3608363" y="4162425"/>
                  <a:pt x="3524253" y="4162425"/>
                </a:cubicBezTo>
                <a:lnTo>
                  <a:pt x="152397" y="4162425"/>
                </a:lnTo>
                <a:cubicBezTo>
                  <a:pt x="68287" y="4162425"/>
                  <a:pt x="0" y="4094138"/>
                  <a:pt x="0" y="40100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2D00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4454426" y="1800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904"/>
              </a:gs>
              <a:gs pos="100000">
                <a:srgbClr val="FB2C3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4623495" y="193357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5025926" y="1895475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Coûts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59188" y="241458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4578251" y="2533650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par Requête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100888" y="2533650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0.10$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78251" y="280035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Moyenne par requête analytique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59188" y="323373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4578251" y="33528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par TB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227987" y="3352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50$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578251" y="36195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 mensuel de stockage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459188" y="405288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4578251" y="41719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Budget Mensuel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257752" y="4171950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-10%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578251" y="443865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Réduction cible annuelle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459188" y="487203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4578251" y="49911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Utilisation Ressources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177236" y="49911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70%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578251" y="52578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Taux d'utilisation optimal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132713" y="1604963"/>
            <a:ext cx="3676650" cy="4162425"/>
          </a:xfrm>
          <a:custGeom>
            <a:avLst/>
            <a:gdLst/>
            <a:ahLst/>
            <a:cxnLst/>
            <a:rect l="l" t="t" r="r" b="b"/>
            <a:pathLst>
              <a:path w="3676650" h="4162425">
                <a:moveTo>
                  <a:pt x="152397" y="0"/>
                </a:moveTo>
                <a:lnTo>
                  <a:pt x="3524253" y="0"/>
                </a:lnTo>
                <a:cubicBezTo>
                  <a:pt x="3608363" y="0"/>
                  <a:pt x="3676650" y="68287"/>
                  <a:pt x="3676650" y="152397"/>
                </a:cubicBezTo>
                <a:lnTo>
                  <a:pt x="3676650" y="4010028"/>
                </a:lnTo>
                <a:cubicBezTo>
                  <a:pt x="3676650" y="4094138"/>
                  <a:pt x="3608363" y="4162425"/>
                  <a:pt x="3524253" y="4162425"/>
                </a:cubicBezTo>
                <a:lnTo>
                  <a:pt x="152397" y="4162425"/>
                </a:lnTo>
                <a:cubicBezTo>
                  <a:pt x="68287" y="4162425"/>
                  <a:pt x="0" y="4094138"/>
                  <a:pt x="0" y="40100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BC7D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5"/>
          <p:cNvSpPr/>
          <p:nvPr/>
        </p:nvSpPr>
        <p:spPr>
          <a:xfrm>
            <a:off x="8327975" y="1800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9" name="Shape 46"/>
          <p:cNvSpPr/>
          <p:nvPr/>
        </p:nvSpPr>
        <p:spPr>
          <a:xfrm>
            <a:off x="8449419" y="1933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8899475" y="1895475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Utilisation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332738" y="241458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8451800" y="253365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Utilisateurs Actifs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1101388" y="25336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100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451800" y="280035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Utilisateurs simultanés supportés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332738" y="323373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3"/>
          <p:cNvSpPr/>
          <p:nvPr/>
        </p:nvSpPr>
        <p:spPr>
          <a:xfrm>
            <a:off x="8451800" y="33528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Requêtes/Jour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076087" y="33528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10K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8451800" y="36195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 de requêtes quotidiennes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332738" y="405288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7"/>
          <p:cNvSpPr/>
          <p:nvPr/>
        </p:nvSpPr>
        <p:spPr>
          <a:xfrm>
            <a:off x="8451800" y="417195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Temps d'Inactivité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11050637" y="417195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20%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451800" y="443865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activation auto-suspend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332738" y="4872038"/>
            <a:ext cx="3276600" cy="695325"/>
          </a:xfrm>
          <a:custGeom>
            <a:avLst/>
            <a:gdLst/>
            <a:ahLst/>
            <a:cxnLst/>
            <a:rect l="l" t="t" r="r" b="b"/>
            <a:pathLst>
              <a:path w="3276600" h="695325">
                <a:moveTo>
                  <a:pt x="76201" y="0"/>
                </a:moveTo>
                <a:lnTo>
                  <a:pt x="3200399" y="0"/>
                </a:lnTo>
                <a:cubicBezTo>
                  <a:pt x="3242484" y="0"/>
                  <a:pt x="3276600" y="34116"/>
                  <a:pt x="3276600" y="76201"/>
                </a:cubicBezTo>
                <a:lnTo>
                  <a:pt x="3276600" y="619124"/>
                </a:lnTo>
                <a:cubicBezTo>
                  <a:pt x="3276600" y="661209"/>
                  <a:pt x="3242484" y="695325"/>
                  <a:pt x="32003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1"/>
          <p:cNvSpPr/>
          <p:nvPr/>
        </p:nvSpPr>
        <p:spPr>
          <a:xfrm>
            <a:off x="8451800" y="49911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Satisfaction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11016704" y="499110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4.5/5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8451800" y="52578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 satisfaction utilisateurs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385763" y="5929313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114301" y="0"/>
                </a:moveTo>
                <a:lnTo>
                  <a:pt x="11306174" y="0"/>
                </a:lnTo>
                <a:cubicBezTo>
                  <a:pt x="11369301" y="0"/>
                  <a:pt x="11420475" y="51174"/>
                  <a:pt x="11420475" y="114301"/>
                </a:cubicBezTo>
                <a:lnTo>
                  <a:pt x="11420475" y="657224"/>
                </a:lnTo>
                <a:cubicBezTo>
                  <a:pt x="11420475" y="720351"/>
                  <a:pt x="11369301" y="771525"/>
                  <a:pt x="113061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>
                  <a:alpha val="20000"/>
                </a:srgbClr>
              </a:gs>
              <a:gs pos="100000">
                <a:srgbClr val="2B7FFF">
                  <a:alpha val="2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5"/>
          <p:cNvSpPr/>
          <p:nvPr/>
        </p:nvSpPr>
        <p:spPr>
          <a:xfrm>
            <a:off x="649486" y="6124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6"/>
          <p:cNvSpPr/>
          <p:nvPr/>
        </p:nvSpPr>
        <p:spPr>
          <a:xfrm>
            <a:off x="752475" y="6086475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de Monitoring : </a:t>
            </a:r>
            <a:r>
              <a:rPr lang="en-US" sz="12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Configurez</a:t>
            </a: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 tableau de bord centralisé pour suivre ces KPIs en temps réel et recevoir des alertes en cas de dépassement des seuils.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7jfxhgtxieze/slide19_monitoring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773" b="773"/>
          <a:stretch/>
        </p:blipFill>
        <p:spPr>
          <a:xfrm>
            <a:off x="0" y="0"/>
            <a:ext cx="12192000" cy="685912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10274"/>
            <a:ext cx="12192000" cy="6859122"/>
          </a:xfrm>
          <a:custGeom>
            <a:avLst/>
            <a:gdLst/>
            <a:ahLst/>
            <a:cxnLst/>
            <a:rect l="l" t="t" r="r" b="b"/>
            <a:pathLst>
              <a:path w="12192000" h="6859122">
                <a:moveTo>
                  <a:pt x="0" y="0"/>
                </a:moveTo>
                <a:lnTo>
                  <a:pt x="12192000" y="0"/>
                </a:lnTo>
                <a:lnTo>
                  <a:pt x="12192000" y="6859122"/>
                </a:lnTo>
                <a:lnTo>
                  <a:pt x="0" y="685912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8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359116" y="359116"/>
            <a:ext cx="115455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kern="0" spc="57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SURVEILLANCE &amp; OBSERVABILITÉ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9116" y="646409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Outils de Monitoring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9116" y="1077349"/>
            <a:ext cx="1155456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Solutions pour surveiller, analyser et optimiser vos Data Warehouses Cloud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3605" y="1512778"/>
            <a:ext cx="3698898" cy="4318374"/>
          </a:xfrm>
          <a:custGeom>
            <a:avLst/>
            <a:gdLst/>
            <a:ahLst/>
            <a:cxnLst/>
            <a:rect l="l" t="t" r="r" b="b"/>
            <a:pathLst>
              <a:path w="3698898" h="4318374">
                <a:moveTo>
                  <a:pt x="143628" y="0"/>
                </a:moveTo>
                <a:lnTo>
                  <a:pt x="3555270" y="0"/>
                </a:lnTo>
                <a:cubicBezTo>
                  <a:pt x="3634594" y="0"/>
                  <a:pt x="3698898" y="64305"/>
                  <a:pt x="3698898" y="143628"/>
                </a:cubicBezTo>
                <a:lnTo>
                  <a:pt x="3698898" y="4174746"/>
                </a:lnTo>
                <a:cubicBezTo>
                  <a:pt x="3698898" y="4254070"/>
                  <a:pt x="3634594" y="4318374"/>
                  <a:pt x="3555270" y="4318374"/>
                </a:cubicBezTo>
                <a:lnTo>
                  <a:pt x="143628" y="4318374"/>
                </a:lnTo>
                <a:cubicBezTo>
                  <a:pt x="64305" y="4318374"/>
                  <a:pt x="0" y="4254070"/>
                  <a:pt x="0" y="4174746"/>
                </a:cubicBezTo>
                <a:lnTo>
                  <a:pt x="0" y="143628"/>
                </a:lnTo>
                <a:cubicBezTo>
                  <a:pt x="0" y="64358"/>
                  <a:pt x="64358" y="0"/>
                  <a:pt x="143628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47652" y="1696825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107735" y="0"/>
                </a:moveTo>
                <a:lnTo>
                  <a:pt x="323205" y="0"/>
                </a:lnTo>
                <a:cubicBezTo>
                  <a:pt x="382705" y="0"/>
                  <a:pt x="430940" y="48235"/>
                  <a:pt x="430940" y="107735"/>
                </a:cubicBezTo>
                <a:lnTo>
                  <a:pt x="430940" y="323205"/>
                </a:lnTo>
                <a:cubicBezTo>
                  <a:pt x="430940" y="382705"/>
                  <a:pt x="382705" y="430940"/>
                  <a:pt x="323205" y="430940"/>
                </a:cubicBezTo>
                <a:lnTo>
                  <a:pt x="107735" y="430940"/>
                </a:lnTo>
                <a:cubicBezTo>
                  <a:pt x="48235" y="430940"/>
                  <a:pt x="0" y="382705"/>
                  <a:pt x="0" y="32320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62121" y="1822515"/>
            <a:ext cx="202003" cy="179558"/>
          </a:xfrm>
          <a:custGeom>
            <a:avLst/>
            <a:gdLst/>
            <a:ahLst/>
            <a:cxnLst/>
            <a:rect l="l" t="t" r="r" b="b"/>
            <a:pathLst>
              <a:path w="202003" h="179558">
                <a:moveTo>
                  <a:pt x="0" y="117835"/>
                </a:moveTo>
                <a:cubicBezTo>
                  <a:pt x="0" y="145716"/>
                  <a:pt x="22620" y="168336"/>
                  <a:pt x="50501" y="168336"/>
                </a:cubicBezTo>
                <a:lnTo>
                  <a:pt x="157113" y="168336"/>
                </a:lnTo>
                <a:cubicBezTo>
                  <a:pt x="181908" y="168336"/>
                  <a:pt x="202003" y="148241"/>
                  <a:pt x="202003" y="123446"/>
                </a:cubicBezTo>
                <a:cubicBezTo>
                  <a:pt x="202003" y="105350"/>
                  <a:pt x="191307" y="89744"/>
                  <a:pt x="175876" y="82660"/>
                </a:cubicBezTo>
                <a:cubicBezTo>
                  <a:pt x="178226" y="78066"/>
                  <a:pt x="179558" y="72840"/>
                  <a:pt x="179558" y="67334"/>
                </a:cubicBezTo>
                <a:cubicBezTo>
                  <a:pt x="179558" y="48747"/>
                  <a:pt x="164478" y="33667"/>
                  <a:pt x="145891" y="33667"/>
                </a:cubicBezTo>
                <a:cubicBezTo>
                  <a:pt x="139684" y="33667"/>
                  <a:pt x="133897" y="35351"/>
                  <a:pt x="128917" y="38261"/>
                </a:cubicBezTo>
                <a:cubicBezTo>
                  <a:pt x="120465" y="22199"/>
                  <a:pt x="103597" y="11222"/>
                  <a:pt x="84168" y="11222"/>
                </a:cubicBezTo>
                <a:cubicBezTo>
                  <a:pt x="56287" y="11222"/>
                  <a:pt x="33667" y="33843"/>
                  <a:pt x="33667" y="61723"/>
                </a:cubicBezTo>
                <a:cubicBezTo>
                  <a:pt x="33667" y="64529"/>
                  <a:pt x="33913" y="67299"/>
                  <a:pt x="34333" y="69965"/>
                </a:cubicBezTo>
                <a:cubicBezTo>
                  <a:pt x="14379" y="76698"/>
                  <a:pt x="0" y="95601"/>
                  <a:pt x="0" y="11783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86327" y="1786604"/>
            <a:ext cx="170580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Outils Natifs Cloud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2141" y="2275900"/>
            <a:ext cx="3321826" cy="834946"/>
          </a:xfrm>
          <a:custGeom>
            <a:avLst/>
            <a:gdLst/>
            <a:ahLst/>
            <a:cxnLst/>
            <a:rect l="l" t="t" r="r" b="b"/>
            <a:pathLst>
              <a:path w="3321826" h="834946">
                <a:moveTo>
                  <a:pt x="71822" y="0"/>
                </a:moveTo>
                <a:lnTo>
                  <a:pt x="3250004" y="0"/>
                </a:lnTo>
                <a:cubicBezTo>
                  <a:pt x="3289670" y="0"/>
                  <a:pt x="3321826" y="32156"/>
                  <a:pt x="3321826" y="71822"/>
                </a:cubicBezTo>
                <a:lnTo>
                  <a:pt x="3321826" y="763123"/>
                </a:lnTo>
                <a:cubicBezTo>
                  <a:pt x="3321826" y="802790"/>
                  <a:pt x="3289670" y="834946"/>
                  <a:pt x="3250004" y="834946"/>
                </a:cubicBezTo>
                <a:lnTo>
                  <a:pt x="71822" y="834946"/>
                </a:lnTo>
                <a:cubicBezTo>
                  <a:pt x="32156" y="834946"/>
                  <a:pt x="0" y="802790"/>
                  <a:pt x="0" y="763123"/>
                </a:cubicBezTo>
                <a:lnTo>
                  <a:pt x="0" y="71822"/>
                </a:lnTo>
                <a:cubicBezTo>
                  <a:pt x="0" y="32182"/>
                  <a:pt x="32182" y="0"/>
                  <a:pt x="71822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64365" y="23881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 CloudWatch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4365" y="2639505"/>
            <a:ext cx="3160224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Redshift, métriques de performance et alertes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2141" y="3227558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64365" y="3339782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Cloud Monitoring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4365" y="3591163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Surveillance BigQuery, analyse des coûts et requêtes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2141" y="3999658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64365" y="4111882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Azure Monitor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4365" y="4363264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Insights Synapse, métriques DWU et performances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52141" y="4771758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64365" y="4883982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Snowflake Account Usage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4365" y="5135364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Vues système pour analyser l'utilisation et les coûts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48655" y="1512778"/>
            <a:ext cx="3698898" cy="4318374"/>
          </a:xfrm>
          <a:custGeom>
            <a:avLst/>
            <a:gdLst/>
            <a:ahLst/>
            <a:cxnLst/>
            <a:rect l="l" t="t" r="r" b="b"/>
            <a:pathLst>
              <a:path w="3698898" h="4318374">
                <a:moveTo>
                  <a:pt x="143628" y="0"/>
                </a:moveTo>
                <a:lnTo>
                  <a:pt x="3555270" y="0"/>
                </a:lnTo>
                <a:cubicBezTo>
                  <a:pt x="3634594" y="0"/>
                  <a:pt x="3698898" y="64305"/>
                  <a:pt x="3698898" y="143628"/>
                </a:cubicBezTo>
                <a:lnTo>
                  <a:pt x="3698898" y="4174746"/>
                </a:lnTo>
                <a:cubicBezTo>
                  <a:pt x="3698898" y="4254070"/>
                  <a:pt x="3634594" y="4318374"/>
                  <a:pt x="3555270" y="4318374"/>
                </a:cubicBezTo>
                <a:lnTo>
                  <a:pt x="143628" y="4318374"/>
                </a:lnTo>
                <a:cubicBezTo>
                  <a:pt x="64305" y="4318374"/>
                  <a:pt x="0" y="4254070"/>
                  <a:pt x="0" y="4174746"/>
                </a:cubicBezTo>
                <a:lnTo>
                  <a:pt x="0" y="143628"/>
                </a:lnTo>
                <a:cubicBezTo>
                  <a:pt x="0" y="64358"/>
                  <a:pt x="64358" y="0"/>
                  <a:pt x="143628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60000"/>
                </a:srgbClr>
              </a:gs>
              <a:gs pos="100000">
                <a:srgbClr val="6E11B0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4432702" y="1696825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107735" y="0"/>
                </a:moveTo>
                <a:lnTo>
                  <a:pt x="323205" y="0"/>
                </a:lnTo>
                <a:cubicBezTo>
                  <a:pt x="382705" y="0"/>
                  <a:pt x="430940" y="48235"/>
                  <a:pt x="430940" y="107735"/>
                </a:cubicBezTo>
                <a:lnTo>
                  <a:pt x="430940" y="323205"/>
                </a:lnTo>
                <a:cubicBezTo>
                  <a:pt x="430940" y="382705"/>
                  <a:pt x="382705" y="430940"/>
                  <a:pt x="323205" y="430940"/>
                </a:cubicBezTo>
                <a:lnTo>
                  <a:pt x="107735" y="430940"/>
                </a:lnTo>
                <a:cubicBezTo>
                  <a:pt x="48235" y="430940"/>
                  <a:pt x="0" y="382705"/>
                  <a:pt x="0" y="32320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gradFill flip="none" rotWithShape="1">
            <a:gsLst>
              <a:gs pos="0">
                <a:srgbClr val="C27AFF"/>
              </a:gs>
              <a:gs pos="100000">
                <a:srgbClr val="F6339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4558393" y="1822515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78557" y="0"/>
                </a:moveTo>
                <a:cubicBezTo>
                  <a:pt x="90936" y="0"/>
                  <a:pt x="101001" y="7540"/>
                  <a:pt x="101001" y="16834"/>
                </a:cubicBezTo>
                <a:cubicBezTo>
                  <a:pt x="101001" y="20481"/>
                  <a:pt x="99458" y="23848"/>
                  <a:pt x="96793" y="26618"/>
                </a:cubicBezTo>
                <a:cubicBezTo>
                  <a:pt x="94478" y="29038"/>
                  <a:pt x="92585" y="31984"/>
                  <a:pt x="92585" y="35351"/>
                </a:cubicBezTo>
                <a:cubicBezTo>
                  <a:pt x="92585" y="40611"/>
                  <a:pt x="96863" y="44890"/>
                  <a:pt x="102124" y="44890"/>
                </a:cubicBezTo>
                <a:lnTo>
                  <a:pt x="117835" y="44890"/>
                </a:lnTo>
                <a:cubicBezTo>
                  <a:pt x="127129" y="44890"/>
                  <a:pt x="134669" y="52430"/>
                  <a:pt x="134669" y="61723"/>
                </a:cubicBezTo>
                <a:lnTo>
                  <a:pt x="134669" y="77434"/>
                </a:lnTo>
                <a:cubicBezTo>
                  <a:pt x="134669" y="82695"/>
                  <a:pt x="138947" y="86973"/>
                  <a:pt x="144208" y="86973"/>
                </a:cubicBezTo>
                <a:cubicBezTo>
                  <a:pt x="147539" y="86973"/>
                  <a:pt x="150520" y="85080"/>
                  <a:pt x="152940" y="82765"/>
                </a:cubicBezTo>
                <a:cubicBezTo>
                  <a:pt x="155711" y="80135"/>
                  <a:pt x="159077" y="78557"/>
                  <a:pt x="162725" y="78557"/>
                </a:cubicBezTo>
                <a:cubicBezTo>
                  <a:pt x="172018" y="78557"/>
                  <a:pt x="179558" y="88622"/>
                  <a:pt x="179558" y="101001"/>
                </a:cubicBezTo>
                <a:cubicBezTo>
                  <a:pt x="179558" y="113381"/>
                  <a:pt x="172018" y="123446"/>
                  <a:pt x="162725" y="123446"/>
                </a:cubicBezTo>
                <a:cubicBezTo>
                  <a:pt x="159077" y="123446"/>
                  <a:pt x="155676" y="121903"/>
                  <a:pt x="152940" y="119238"/>
                </a:cubicBezTo>
                <a:cubicBezTo>
                  <a:pt x="150520" y="116923"/>
                  <a:pt x="147574" y="115029"/>
                  <a:pt x="144208" y="115029"/>
                </a:cubicBezTo>
                <a:cubicBezTo>
                  <a:pt x="138947" y="115029"/>
                  <a:pt x="134669" y="119308"/>
                  <a:pt x="134669" y="124568"/>
                </a:cubicBezTo>
                <a:lnTo>
                  <a:pt x="134669" y="162725"/>
                </a:lnTo>
                <a:cubicBezTo>
                  <a:pt x="134669" y="172018"/>
                  <a:pt x="127129" y="179558"/>
                  <a:pt x="117835" y="179558"/>
                </a:cubicBezTo>
                <a:lnTo>
                  <a:pt x="97915" y="179558"/>
                </a:lnTo>
                <a:cubicBezTo>
                  <a:pt x="93426" y="179558"/>
                  <a:pt x="89779" y="175911"/>
                  <a:pt x="89779" y="171422"/>
                </a:cubicBezTo>
                <a:cubicBezTo>
                  <a:pt x="89779" y="168196"/>
                  <a:pt x="91813" y="165355"/>
                  <a:pt x="94408" y="163426"/>
                </a:cubicBezTo>
                <a:cubicBezTo>
                  <a:pt x="98476" y="160375"/>
                  <a:pt x="101001" y="156167"/>
                  <a:pt x="101001" y="151502"/>
                </a:cubicBezTo>
                <a:cubicBezTo>
                  <a:pt x="101001" y="142209"/>
                  <a:pt x="90936" y="134669"/>
                  <a:pt x="78557" y="134669"/>
                </a:cubicBezTo>
                <a:cubicBezTo>
                  <a:pt x="66177" y="134669"/>
                  <a:pt x="56112" y="142209"/>
                  <a:pt x="56112" y="151502"/>
                </a:cubicBezTo>
                <a:cubicBezTo>
                  <a:pt x="56112" y="156167"/>
                  <a:pt x="58637" y="160375"/>
                  <a:pt x="62705" y="163426"/>
                </a:cubicBezTo>
                <a:cubicBezTo>
                  <a:pt x="65300" y="165355"/>
                  <a:pt x="67334" y="168160"/>
                  <a:pt x="67334" y="171422"/>
                </a:cubicBezTo>
                <a:cubicBezTo>
                  <a:pt x="67334" y="175911"/>
                  <a:pt x="63687" y="179558"/>
                  <a:pt x="59198" y="179558"/>
                </a:cubicBezTo>
                <a:lnTo>
                  <a:pt x="16834" y="179558"/>
                </a:lnTo>
                <a:cubicBezTo>
                  <a:pt x="7540" y="179558"/>
                  <a:pt x="0" y="172018"/>
                  <a:pt x="0" y="162725"/>
                </a:cubicBezTo>
                <a:lnTo>
                  <a:pt x="0" y="120360"/>
                </a:lnTo>
                <a:cubicBezTo>
                  <a:pt x="0" y="115871"/>
                  <a:pt x="3647" y="112224"/>
                  <a:pt x="8136" y="112224"/>
                </a:cubicBezTo>
                <a:cubicBezTo>
                  <a:pt x="11363" y="112224"/>
                  <a:pt x="14203" y="114258"/>
                  <a:pt x="16132" y="116853"/>
                </a:cubicBezTo>
                <a:cubicBezTo>
                  <a:pt x="19183" y="120921"/>
                  <a:pt x="23392" y="123446"/>
                  <a:pt x="28056" y="123446"/>
                </a:cubicBezTo>
                <a:cubicBezTo>
                  <a:pt x="37350" y="123446"/>
                  <a:pt x="44890" y="113381"/>
                  <a:pt x="44890" y="101001"/>
                </a:cubicBezTo>
                <a:cubicBezTo>
                  <a:pt x="44890" y="88622"/>
                  <a:pt x="37350" y="78557"/>
                  <a:pt x="28056" y="78557"/>
                </a:cubicBezTo>
                <a:cubicBezTo>
                  <a:pt x="23392" y="78557"/>
                  <a:pt x="19183" y="81082"/>
                  <a:pt x="16132" y="85150"/>
                </a:cubicBezTo>
                <a:cubicBezTo>
                  <a:pt x="14203" y="87745"/>
                  <a:pt x="11398" y="89779"/>
                  <a:pt x="8136" y="89779"/>
                </a:cubicBezTo>
                <a:cubicBezTo>
                  <a:pt x="3647" y="89779"/>
                  <a:pt x="0" y="86132"/>
                  <a:pt x="0" y="81643"/>
                </a:cubicBezTo>
                <a:lnTo>
                  <a:pt x="0" y="61723"/>
                </a:lnTo>
                <a:cubicBezTo>
                  <a:pt x="0" y="52430"/>
                  <a:pt x="7540" y="44890"/>
                  <a:pt x="16834" y="44890"/>
                </a:cubicBezTo>
                <a:lnTo>
                  <a:pt x="54990" y="44890"/>
                </a:lnTo>
                <a:cubicBezTo>
                  <a:pt x="60250" y="44890"/>
                  <a:pt x="64529" y="40611"/>
                  <a:pt x="64529" y="35351"/>
                </a:cubicBezTo>
                <a:cubicBezTo>
                  <a:pt x="64529" y="32019"/>
                  <a:pt x="62635" y="29038"/>
                  <a:pt x="60320" y="26618"/>
                </a:cubicBezTo>
                <a:cubicBezTo>
                  <a:pt x="57690" y="23848"/>
                  <a:pt x="56112" y="20481"/>
                  <a:pt x="56112" y="16834"/>
                </a:cubicBezTo>
                <a:cubicBezTo>
                  <a:pt x="56112" y="7540"/>
                  <a:pt x="66177" y="0"/>
                  <a:pt x="7855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4971377" y="1786604"/>
            <a:ext cx="107734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Outils Tiers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37191" y="2275900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4549415" y="23881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Datadog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49415" y="2639505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unifié, dashboards personnalisés et alertes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37191" y="3048000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4549415" y="31602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Relic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549415" y="3411605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Observabilité complète, tracing des requêtes lentes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37191" y="3820100"/>
            <a:ext cx="3321826" cy="834946"/>
          </a:xfrm>
          <a:custGeom>
            <a:avLst/>
            <a:gdLst/>
            <a:ahLst/>
            <a:cxnLst/>
            <a:rect l="l" t="t" r="r" b="b"/>
            <a:pathLst>
              <a:path w="3321826" h="834946">
                <a:moveTo>
                  <a:pt x="71822" y="0"/>
                </a:moveTo>
                <a:lnTo>
                  <a:pt x="3250004" y="0"/>
                </a:lnTo>
                <a:cubicBezTo>
                  <a:pt x="3289670" y="0"/>
                  <a:pt x="3321826" y="32156"/>
                  <a:pt x="3321826" y="71822"/>
                </a:cubicBezTo>
                <a:lnTo>
                  <a:pt x="3321826" y="763123"/>
                </a:lnTo>
                <a:cubicBezTo>
                  <a:pt x="3321826" y="802790"/>
                  <a:pt x="3289670" y="834946"/>
                  <a:pt x="3250004" y="834946"/>
                </a:cubicBezTo>
                <a:lnTo>
                  <a:pt x="71822" y="834946"/>
                </a:lnTo>
                <a:cubicBezTo>
                  <a:pt x="32156" y="834946"/>
                  <a:pt x="0" y="802790"/>
                  <a:pt x="0" y="763123"/>
                </a:cubicBezTo>
                <a:lnTo>
                  <a:pt x="0" y="71822"/>
                </a:lnTo>
                <a:cubicBezTo>
                  <a:pt x="0" y="32182"/>
                  <a:pt x="32182" y="0"/>
                  <a:pt x="71822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4549415" y="39323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Monte Carlo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549415" y="4183705"/>
            <a:ext cx="3160224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observability, détection des anomalies de données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37191" y="4771758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3C0366">
              <a:alpha val="6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4549415" y="4883982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Star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549415" y="5135364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catalog, lineage et analyse d'impact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133705" y="1512778"/>
            <a:ext cx="3698898" cy="4318374"/>
          </a:xfrm>
          <a:custGeom>
            <a:avLst/>
            <a:gdLst/>
            <a:ahLst/>
            <a:cxnLst/>
            <a:rect l="l" t="t" r="r" b="b"/>
            <a:pathLst>
              <a:path w="3698898" h="4318374">
                <a:moveTo>
                  <a:pt x="143628" y="0"/>
                </a:moveTo>
                <a:lnTo>
                  <a:pt x="3555270" y="0"/>
                </a:lnTo>
                <a:cubicBezTo>
                  <a:pt x="3634594" y="0"/>
                  <a:pt x="3698898" y="64305"/>
                  <a:pt x="3698898" y="143628"/>
                </a:cubicBezTo>
                <a:lnTo>
                  <a:pt x="3698898" y="4174746"/>
                </a:lnTo>
                <a:cubicBezTo>
                  <a:pt x="3698898" y="4254070"/>
                  <a:pt x="3634594" y="4318374"/>
                  <a:pt x="3555270" y="4318374"/>
                </a:cubicBezTo>
                <a:lnTo>
                  <a:pt x="143628" y="4318374"/>
                </a:lnTo>
                <a:cubicBezTo>
                  <a:pt x="64305" y="4318374"/>
                  <a:pt x="0" y="4254070"/>
                  <a:pt x="0" y="4174746"/>
                </a:cubicBezTo>
                <a:lnTo>
                  <a:pt x="0" y="143628"/>
                </a:lnTo>
                <a:cubicBezTo>
                  <a:pt x="0" y="64358"/>
                  <a:pt x="64358" y="0"/>
                  <a:pt x="14362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F3B">
                  <a:alpha val="60000"/>
                </a:srgbClr>
              </a:gs>
              <a:gs pos="100000">
                <a:srgbClr val="006045">
                  <a:alpha val="40000"/>
                </a:srgbClr>
              </a:gs>
            </a:gsLst>
            <a:lin ang="2700000" scaled="1"/>
          </a:gradFill>
          <a:ln w="12700">
            <a:solidFill>
              <a:srgbClr val="00BC7D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8317752" y="1696825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107735" y="0"/>
                </a:moveTo>
                <a:lnTo>
                  <a:pt x="323205" y="0"/>
                </a:lnTo>
                <a:cubicBezTo>
                  <a:pt x="382705" y="0"/>
                  <a:pt x="430940" y="48235"/>
                  <a:pt x="430940" y="107735"/>
                </a:cubicBezTo>
                <a:lnTo>
                  <a:pt x="430940" y="323205"/>
                </a:lnTo>
                <a:cubicBezTo>
                  <a:pt x="430940" y="382705"/>
                  <a:pt x="382705" y="430940"/>
                  <a:pt x="323205" y="430940"/>
                </a:cubicBezTo>
                <a:lnTo>
                  <a:pt x="107735" y="430940"/>
                </a:lnTo>
                <a:cubicBezTo>
                  <a:pt x="48235" y="430940"/>
                  <a:pt x="0" y="382705"/>
                  <a:pt x="0" y="323205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492"/>
              </a:gs>
              <a:gs pos="100000">
                <a:srgbClr val="00C95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8443443" y="1822515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11222" y="11222"/>
                </a:moveTo>
                <a:cubicBezTo>
                  <a:pt x="17430" y="11222"/>
                  <a:pt x="22445" y="16237"/>
                  <a:pt x="22445" y="22445"/>
                </a:cubicBezTo>
                <a:lnTo>
                  <a:pt x="22445" y="140280"/>
                </a:lnTo>
                <a:cubicBezTo>
                  <a:pt x="22445" y="143366"/>
                  <a:pt x="24970" y="145891"/>
                  <a:pt x="28056" y="145891"/>
                </a:cubicBezTo>
                <a:lnTo>
                  <a:pt x="168336" y="145891"/>
                </a:lnTo>
                <a:cubicBezTo>
                  <a:pt x="174543" y="145891"/>
                  <a:pt x="179558" y="150906"/>
                  <a:pt x="179558" y="157113"/>
                </a:cubicBezTo>
                <a:cubicBezTo>
                  <a:pt x="179558" y="163321"/>
                  <a:pt x="174543" y="168336"/>
                  <a:pt x="168336" y="168336"/>
                </a:cubicBezTo>
                <a:lnTo>
                  <a:pt x="28056" y="168336"/>
                </a:lnTo>
                <a:cubicBezTo>
                  <a:pt x="12555" y="168336"/>
                  <a:pt x="0" y="155781"/>
                  <a:pt x="0" y="140280"/>
                </a:cubicBezTo>
                <a:lnTo>
                  <a:pt x="0" y="22445"/>
                </a:lnTo>
                <a:cubicBezTo>
                  <a:pt x="0" y="16237"/>
                  <a:pt x="5015" y="11222"/>
                  <a:pt x="11222" y="11222"/>
                </a:cubicBezTo>
                <a:close/>
                <a:moveTo>
                  <a:pt x="44890" y="33667"/>
                </a:moveTo>
                <a:cubicBezTo>
                  <a:pt x="44890" y="27460"/>
                  <a:pt x="49905" y="22445"/>
                  <a:pt x="56112" y="22445"/>
                </a:cubicBezTo>
                <a:lnTo>
                  <a:pt x="123446" y="22445"/>
                </a:lnTo>
                <a:cubicBezTo>
                  <a:pt x="129654" y="22445"/>
                  <a:pt x="134669" y="27460"/>
                  <a:pt x="134669" y="33667"/>
                </a:cubicBezTo>
                <a:cubicBezTo>
                  <a:pt x="134669" y="39875"/>
                  <a:pt x="129654" y="44890"/>
                  <a:pt x="123446" y="44890"/>
                </a:cubicBezTo>
                <a:lnTo>
                  <a:pt x="56112" y="44890"/>
                </a:lnTo>
                <a:cubicBezTo>
                  <a:pt x="49905" y="44890"/>
                  <a:pt x="44890" y="39875"/>
                  <a:pt x="44890" y="33667"/>
                </a:cubicBezTo>
                <a:close/>
                <a:moveTo>
                  <a:pt x="56112" y="61723"/>
                </a:moveTo>
                <a:lnTo>
                  <a:pt x="101001" y="61723"/>
                </a:lnTo>
                <a:cubicBezTo>
                  <a:pt x="107209" y="61723"/>
                  <a:pt x="112224" y="66738"/>
                  <a:pt x="112224" y="72946"/>
                </a:cubicBezTo>
                <a:cubicBezTo>
                  <a:pt x="112224" y="79153"/>
                  <a:pt x="107209" y="84168"/>
                  <a:pt x="101001" y="84168"/>
                </a:cubicBezTo>
                <a:lnTo>
                  <a:pt x="56112" y="84168"/>
                </a:lnTo>
                <a:cubicBezTo>
                  <a:pt x="49905" y="84168"/>
                  <a:pt x="44890" y="79153"/>
                  <a:pt x="44890" y="72946"/>
                </a:cubicBezTo>
                <a:cubicBezTo>
                  <a:pt x="44890" y="66738"/>
                  <a:pt x="49905" y="61723"/>
                  <a:pt x="56112" y="61723"/>
                </a:cubicBezTo>
                <a:close/>
                <a:moveTo>
                  <a:pt x="56112" y="101001"/>
                </a:moveTo>
                <a:lnTo>
                  <a:pt x="145891" y="101001"/>
                </a:lnTo>
                <a:cubicBezTo>
                  <a:pt x="152098" y="101001"/>
                  <a:pt x="157113" y="106016"/>
                  <a:pt x="157113" y="112224"/>
                </a:cubicBezTo>
                <a:cubicBezTo>
                  <a:pt x="157113" y="118431"/>
                  <a:pt x="152098" y="123446"/>
                  <a:pt x="145891" y="123446"/>
                </a:cubicBezTo>
                <a:lnTo>
                  <a:pt x="56112" y="123446"/>
                </a:lnTo>
                <a:cubicBezTo>
                  <a:pt x="49905" y="123446"/>
                  <a:pt x="44890" y="118431"/>
                  <a:pt x="44890" y="112224"/>
                </a:cubicBezTo>
                <a:cubicBezTo>
                  <a:pt x="44890" y="106016"/>
                  <a:pt x="49905" y="101001"/>
                  <a:pt x="56112" y="10100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8856426" y="1786604"/>
            <a:ext cx="1265885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Outils FinOps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322241" y="2275900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8434465" y="23881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CloudHealth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434465" y="2639505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Gouvernance cloud, optimisation des coûts multi-cloud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322241" y="3048000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4"/>
          <p:cNvSpPr/>
          <p:nvPr/>
        </p:nvSpPr>
        <p:spPr>
          <a:xfrm>
            <a:off x="8434465" y="31602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Spot.io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434465" y="3411605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Optimisation automatique des ressources et coûts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322241" y="3820100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8434465" y="39323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Cloudability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434465" y="4183705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Analyse budgétaire, allocation des coûts par équipe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322241" y="4592200"/>
            <a:ext cx="3321826" cy="655387"/>
          </a:xfrm>
          <a:custGeom>
            <a:avLst/>
            <a:gdLst/>
            <a:ahLst/>
            <a:cxnLst/>
            <a:rect l="l" t="t" r="r" b="b"/>
            <a:pathLst>
              <a:path w="3321826" h="655387">
                <a:moveTo>
                  <a:pt x="71824" y="0"/>
                </a:moveTo>
                <a:lnTo>
                  <a:pt x="3250002" y="0"/>
                </a:lnTo>
                <a:cubicBezTo>
                  <a:pt x="3289670" y="0"/>
                  <a:pt x="3321826" y="32157"/>
                  <a:pt x="3321826" y="71824"/>
                </a:cubicBezTo>
                <a:lnTo>
                  <a:pt x="3321826" y="583563"/>
                </a:lnTo>
                <a:cubicBezTo>
                  <a:pt x="3321826" y="623231"/>
                  <a:pt x="3289670" y="655387"/>
                  <a:pt x="3250002" y="655387"/>
                </a:cubicBezTo>
                <a:lnTo>
                  <a:pt x="71824" y="655387"/>
                </a:lnTo>
                <a:cubicBezTo>
                  <a:pt x="32157" y="655387"/>
                  <a:pt x="0" y="623231"/>
                  <a:pt x="0" y="583563"/>
                </a:cubicBezTo>
                <a:lnTo>
                  <a:pt x="0" y="71824"/>
                </a:lnTo>
                <a:cubicBezTo>
                  <a:pt x="0" y="32183"/>
                  <a:pt x="32183" y="0"/>
                  <a:pt x="71824" y="0"/>
                </a:cubicBezTo>
                <a:close/>
              </a:path>
            </a:pathLst>
          </a:custGeom>
          <a:solidFill>
            <a:srgbClr val="002C22">
              <a:alpha val="60000"/>
            </a:srgbClr>
          </a:solidFill>
          <a:ln w="12700">
            <a:solidFill>
              <a:srgbClr val="00BC7D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0"/>
          <p:cNvSpPr/>
          <p:nvPr/>
        </p:nvSpPr>
        <p:spPr>
          <a:xfrm>
            <a:off x="8434465" y="4704424"/>
            <a:ext cx="316920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Kubecost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434465" y="4955806"/>
            <a:ext cx="31602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Monitoring des coûts Kubernetes et workloads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363605" y="5983776"/>
            <a:ext cx="11464789" cy="511741"/>
          </a:xfrm>
          <a:custGeom>
            <a:avLst/>
            <a:gdLst/>
            <a:ahLst/>
            <a:cxnLst/>
            <a:rect l="l" t="t" r="r" b="b"/>
            <a:pathLst>
              <a:path w="11464789" h="511741">
                <a:moveTo>
                  <a:pt x="107737" y="0"/>
                </a:moveTo>
                <a:lnTo>
                  <a:pt x="11357053" y="0"/>
                </a:lnTo>
                <a:cubicBezTo>
                  <a:pt x="11416554" y="0"/>
                  <a:pt x="11464789" y="48235"/>
                  <a:pt x="11464789" y="107737"/>
                </a:cubicBezTo>
                <a:lnTo>
                  <a:pt x="11464789" y="404004"/>
                </a:lnTo>
                <a:cubicBezTo>
                  <a:pt x="11464789" y="463505"/>
                  <a:pt x="11416554" y="511741"/>
                  <a:pt x="11357053" y="511741"/>
                </a:cubicBezTo>
                <a:lnTo>
                  <a:pt x="107737" y="511741"/>
                </a:lnTo>
                <a:cubicBezTo>
                  <a:pt x="48235" y="511741"/>
                  <a:pt x="0" y="463505"/>
                  <a:pt x="0" y="404004"/>
                </a:cubicBezTo>
                <a:lnTo>
                  <a:pt x="0" y="107737"/>
                </a:lnTo>
                <a:cubicBezTo>
                  <a:pt x="0" y="48275"/>
                  <a:pt x="48275" y="0"/>
                  <a:pt x="107737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>
                  <a:alpha val="20000"/>
                </a:srgbClr>
              </a:gs>
              <a:gs pos="100000">
                <a:srgbClr val="F6339A">
                  <a:alpha val="20000"/>
                </a:srgbClr>
              </a:gs>
            </a:gsLst>
            <a:lin ang="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3"/>
          <p:cNvSpPr/>
          <p:nvPr/>
        </p:nvSpPr>
        <p:spPr>
          <a:xfrm>
            <a:off x="753738" y="6167823"/>
            <a:ext cx="107735" cy="143647"/>
          </a:xfrm>
          <a:custGeom>
            <a:avLst/>
            <a:gdLst/>
            <a:ahLst/>
            <a:cxnLst/>
            <a:rect l="l" t="t" r="r" b="b"/>
            <a:pathLst>
              <a:path w="107735" h="143647">
                <a:moveTo>
                  <a:pt x="82176" y="107735"/>
                </a:moveTo>
                <a:cubicBezTo>
                  <a:pt x="84224" y="101478"/>
                  <a:pt x="88320" y="95811"/>
                  <a:pt x="92949" y="90929"/>
                </a:cubicBezTo>
                <a:cubicBezTo>
                  <a:pt x="102124" y="81278"/>
                  <a:pt x="107735" y="68232"/>
                  <a:pt x="107735" y="53867"/>
                </a:cubicBezTo>
                <a:cubicBezTo>
                  <a:pt x="107735" y="24128"/>
                  <a:pt x="83607" y="0"/>
                  <a:pt x="53867" y="0"/>
                </a:cubicBezTo>
                <a:cubicBezTo>
                  <a:pt x="24128" y="0"/>
                  <a:pt x="0" y="24128"/>
                  <a:pt x="0" y="53867"/>
                </a:cubicBezTo>
                <a:cubicBezTo>
                  <a:pt x="0" y="68232"/>
                  <a:pt x="5611" y="81278"/>
                  <a:pt x="14785" y="90929"/>
                </a:cubicBezTo>
                <a:cubicBezTo>
                  <a:pt x="19415" y="95811"/>
                  <a:pt x="23539" y="101478"/>
                  <a:pt x="25559" y="107735"/>
                </a:cubicBezTo>
                <a:lnTo>
                  <a:pt x="82148" y="107735"/>
                </a:lnTo>
                <a:close/>
                <a:moveTo>
                  <a:pt x="80801" y="121202"/>
                </a:moveTo>
                <a:lnTo>
                  <a:pt x="26934" y="121202"/>
                </a:lnTo>
                <a:lnTo>
                  <a:pt x="26934" y="125691"/>
                </a:lnTo>
                <a:cubicBezTo>
                  <a:pt x="26934" y="138091"/>
                  <a:pt x="36978" y="148135"/>
                  <a:pt x="49378" y="148135"/>
                </a:cubicBezTo>
                <a:lnTo>
                  <a:pt x="58356" y="148135"/>
                </a:lnTo>
                <a:cubicBezTo>
                  <a:pt x="70757" y="148135"/>
                  <a:pt x="80801" y="138091"/>
                  <a:pt x="80801" y="125691"/>
                </a:cubicBezTo>
                <a:lnTo>
                  <a:pt x="80801" y="121202"/>
                </a:lnTo>
                <a:close/>
                <a:moveTo>
                  <a:pt x="51623" y="31423"/>
                </a:moveTo>
                <a:cubicBezTo>
                  <a:pt x="40457" y="31423"/>
                  <a:pt x="31423" y="40457"/>
                  <a:pt x="31423" y="51623"/>
                </a:cubicBezTo>
                <a:cubicBezTo>
                  <a:pt x="31423" y="55354"/>
                  <a:pt x="28421" y="58356"/>
                  <a:pt x="24689" y="58356"/>
                </a:cubicBezTo>
                <a:cubicBezTo>
                  <a:pt x="20958" y="58356"/>
                  <a:pt x="17956" y="55354"/>
                  <a:pt x="17956" y="51623"/>
                </a:cubicBezTo>
                <a:cubicBezTo>
                  <a:pt x="17956" y="33022"/>
                  <a:pt x="33022" y="17956"/>
                  <a:pt x="51623" y="17956"/>
                </a:cubicBezTo>
                <a:cubicBezTo>
                  <a:pt x="55354" y="17956"/>
                  <a:pt x="58356" y="20958"/>
                  <a:pt x="58356" y="24689"/>
                </a:cubicBezTo>
                <a:cubicBezTo>
                  <a:pt x="58356" y="28421"/>
                  <a:pt x="55354" y="31423"/>
                  <a:pt x="51623" y="31423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4"/>
          <p:cNvSpPr/>
          <p:nvPr/>
        </p:nvSpPr>
        <p:spPr>
          <a:xfrm>
            <a:off x="706161" y="6131912"/>
            <a:ext cx="1101001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Recommandation</a:t>
            </a:r>
            <a:r>
              <a:rPr lang="en-US" sz="113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</a:t>
            </a:r>
            <a:r>
              <a:rPr lang="en-US" sz="1131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Combinez</a:t>
            </a:r>
            <a:r>
              <a:rPr lang="en-US" sz="113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les outils natifs pour le monitoring technique avec des solutions FinOps pour une gestion complète des coûts et de la performance.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0d12035198611b327594b0add3ed00c652cc85f7"/>
          <p:cNvPicPr>
            <a:picLocks noChangeAspect="1"/>
          </p:cNvPicPr>
          <p:nvPr/>
        </p:nvPicPr>
        <p:blipFill>
          <a:blip r:embed="rId3">
            <a:alphaModFix amt="30000"/>
          </a:blip>
          <a:srcRect t="21254" b="21254"/>
          <a:stretch/>
        </p:blipFill>
        <p:spPr>
          <a:xfrm>
            <a:off x="0" y="0"/>
            <a:ext cx="12192000" cy="700946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009468"/>
          </a:xfrm>
          <a:custGeom>
            <a:avLst/>
            <a:gdLst/>
            <a:ahLst/>
            <a:cxnLst/>
            <a:rect l="l" t="t" r="r" b="b"/>
            <a:pathLst>
              <a:path w="12192000" h="7009468">
                <a:moveTo>
                  <a:pt x="0" y="0"/>
                </a:moveTo>
                <a:lnTo>
                  <a:pt x="12192000" y="0"/>
                </a:lnTo>
                <a:lnTo>
                  <a:pt x="12192000" y="7009468"/>
                </a:lnTo>
                <a:lnTo>
                  <a:pt x="0" y="7009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0E27">
                  <a:alpha val="90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A0E27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dirty="0"/>
          </a:p>
        </p:txBody>
      </p:sp>
      <p:sp>
        <p:nvSpPr>
          <p:cNvPr id="4" name="Text 1"/>
          <p:cNvSpPr/>
          <p:nvPr/>
        </p:nvSpPr>
        <p:spPr>
          <a:xfrm>
            <a:off x="372844" y="372844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72844" y="932110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59759" y="1469181"/>
            <a:ext cx="10627366" cy="3569982"/>
          </a:xfrm>
          <a:custGeom>
            <a:avLst/>
            <a:gdLst/>
            <a:ahLst/>
            <a:cxnLst/>
            <a:rect l="l" t="t" r="r" b="b"/>
            <a:pathLst>
              <a:path w="5601982" h="3569982">
                <a:moveTo>
                  <a:pt x="149154" y="0"/>
                </a:moveTo>
                <a:lnTo>
                  <a:pt x="5452828" y="0"/>
                </a:lnTo>
                <a:cubicBezTo>
                  <a:pt x="5535203" y="0"/>
                  <a:pt x="5601982" y="66778"/>
                  <a:pt x="5601982" y="149154"/>
                </a:cubicBezTo>
                <a:lnTo>
                  <a:pt x="5601982" y="3420828"/>
                </a:lnTo>
                <a:cubicBezTo>
                  <a:pt x="5601982" y="3503203"/>
                  <a:pt x="5535203" y="3569982"/>
                  <a:pt x="5452828" y="3569982"/>
                </a:cubicBezTo>
                <a:lnTo>
                  <a:pt x="149154" y="3569982"/>
                </a:lnTo>
                <a:cubicBezTo>
                  <a:pt x="66778" y="3569982"/>
                  <a:pt x="0" y="3503203"/>
                  <a:pt x="0" y="3420828"/>
                </a:cubicBezTo>
                <a:lnTo>
                  <a:pt x="0" y="149154"/>
                </a:lnTo>
                <a:cubicBezTo>
                  <a:pt x="0" y="66834"/>
                  <a:pt x="66834" y="0"/>
                  <a:pt x="149154" y="0"/>
                </a:cubicBezTo>
                <a:close/>
              </a:path>
            </a:pathLst>
          </a:custGeom>
          <a:gradFill flip="none" rotWithShape="1">
            <a:gsLst>
              <a:gs pos="0">
                <a:srgbClr val="1C398E">
                  <a:alpha val="60000"/>
                </a:srgbClr>
              </a:gs>
              <a:gs pos="100000">
                <a:srgbClr val="193CB8">
                  <a:alpha val="40000"/>
                </a:srgbClr>
              </a:gs>
            </a:gsLst>
            <a:lin ang="2700000" scaled="1"/>
          </a:gradFill>
          <a:ln w="12700">
            <a:solidFill>
              <a:srgbClr val="2B7F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878747" y="1687120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46807" y="153798"/>
                </a:moveTo>
                <a:cubicBezTo>
                  <a:pt x="189277" y="153798"/>
                  <a:pt x="223706" y="119368"/>
                  <a:pt x="223706" y="76899"/>
                </a:cubicBezTo>
                <a:cubicBezTo>
                  <a:pt x="223706" y="34430"/>
                  <a:pt x="189277" y="0"/>
                  <a:pt x="146807" y="0"/>
                </a:cubicBezTo>
                <a:cubicBezTo>
                  <a:pt x="104338" y="0"/>
                  <a:pt x="69908" y="34430"/>
                  <a:pt x="69908" y="76899"/>
                </a:cubicBezTo>
                <a:cubicBezTo>
                  <a:pt x="69908" y="85070"/>
                  <a:pt x="71175" y="92978"/>
                  <a:pt x="73535" y="100362"/>
                </a:cubicBezTo>
                <a:lnTo>
                  <a:pt x="3058" y="170838"/>
                </a:lnTo>
                <a:cubicBezTo>
                  <a:pt x="1092" y="172804"/>
                  <a:pt x="0" y="175470"/>
                  <a:pt x="0" y="178266"/>
                </a:cubicBezTo>
                <a:lnTo>
                  <a:pt x="0" y="213220"/>
                </a:lnTo>
                <a:cubicBezTo>
                  <a:pt x="0" y="219031"/>
                  <a:pt x="4675" y="223706"/>
                  <a:pt x="10486" y="223706"/>
                </a:cubicBezTo>
                <a:lnTo>
                  <a:pt x="45440" y="223706"/>
                </a:lnTo>
                <a:cubicBezTo>
                  <a:pt x="51251" y="223706"/>
                  <a:pt x="55927" y="219031"/>
                  <a:pt x="55927" y="213220"/>
                </a:cubicBezTo>
                <a:lnTo>
                  <a:pt x="55927" y="195743"/>
                </a:lnTo>
                <a:lnTo>
                  <a:pt x="73404" y="195743"/>
                </a:lnTo>
                <a:cubicBezTo>
                  <a:pt x="79215" y="195743"/>
                  <a:pt x="83890" y="191068"/>
                  <a:pt x="83890" y="185257"/>
                </a:cubicBezTo>
                <a:lnTo>
                  <a:pt x="83890" y="167780"/>
                </a:lnTo>
                <a:lnTo>
                  <a:pt x="101367" y="167780"/>
                </a:lnTo>
                <a:cubicBezTo>
                  <a:pt x="104163" y="167780"/>
                  <a:pt x="106829" y="166688"/>
                  <a:pt x="108795" y="164721"/>
                </a:cubicBezTo>
                <a:lnTo>
                  <a:pt x="123344" y="150172"/>
                </a:lnTo>
                <a:cubicBezTo>
                  <a:pt x="130728" y="152531"/>
                  <a:pt x="138637" y="153798"/>
                  <a:pt x="146807" y="153798"/>
                </a:cubicBezTo>
                <a:close/>
                <a:moveTo>
                  <a:pt x="164284" y="41945"/>
                </a:moveTo>
                <a:cubicBezTo>
                  <a:pt x="173930" y="41945"/>
                  <a:pt x="181761" y="49776"/>
                  <a:pt x="181761" y="59422"/>
                </a:cubicBezTo>
                <a:cubicBezTo>
                  <a:pt x="181761" y="69068"/>
                  <a:pt x="173930" y="76899"/>
                  <a:pt x="164284" y="76899"/>
                </a:cubicBezTo>
                <a:cubicBezTo>
                  <a:pt x="154639" y="76899"/>
                  <a:pt x="146807" y="69068"/>
                  <a:pt x="146807" y="59422"/>
                </a:cubicBezTo>
                <a:cubicBezTo>
                  <a:pt x="146807" y="49776"/>
                  <a:pt x="154639" y="41945"/>
                  <a:pt x="164284" y="41945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9" name="Text 6"/>
          <p:cNvSpPr/>
          <p:nvPr/>
        </p:nvSpPr>
        <p:spPr>
          <a:xfrm>
            <a:off x="1207373" y="1631222"/>
            <a:ext cx="5052037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Points Clés à Retenir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67670" y="2140648"/>
            <a:ext cx="7433577" cy="829578"/>
          </a:xfrm>
          <a:custGeom>
            <a:avLst/>
            <a:gdLst/>
            <a:ahLst/>
            <a:cxnLst/>
            <a:rect l="l" t="t" r="r" b="b"/>
            <a:pathLst>
              <a:path w="5210495" h="829578">
                <a:moveTo>
                  <a:pt x="74571" y="0"/>
                </a:moveTo>
                <a:lnTo>
                  <a:pt x="5135925" y="0"/>
                </a:lnTo>
                <a:cubicBezTo>
                  <a:pt x="5177109" y="0"/>
                  <a:pt x="5210495" y="33386"/>
                  <a:pt x="5210495" y="74571"/>
                </a:cubicBezTo>
                <a:lnTo>
                  <a:pt x="5210495" y="755007"/>
                </a:lnTo>
                <a:cubicBezTo>
                  <a:pt x="5210495" y="796192"/>
                  <a:pt x="5177109" y="829578"/>
                  <a:pt x="5135925" y="829578"/>
                </a:cubicBezTo>
                <a:lnTo>
                  <a:pt x="74571" y="829578"/>
                </a:lnTo>
                <a:cubicBezTo>
                  <a:pt x="33386" y="829578"/>
                  <a:pt x="0" y="796192"/>
                  <a:pt x="0" y="755007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1431197" y="2255706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64699" y="49351"/>
                </a:moveTo>
                <a:lnTo>
                  <a:pt x="133241" y="80810"/>
                </a:lnTo>
                <a:cubicBezTo>
                  <a:pt x="130226" y="83824"/>
                  <a:pt x="125737" y="84709"/>
                  <a:pt x="121804" y="83071"/>
                </a:cubicBezTo>
                <a:cubicBezTo>
                  <a:pt x="117872" y="81432"/>
                  <a:pt x="115349" y="77631"/>
                  <a:pt x="115349" y="73404"/>
                </a:cubicBezTo>
                <a:lnTo>
                  <a:pt x="115349" y="52431"/>
                </a:lnTo>
                <a:lnTo>
                  <a:pt x="10486" y="52431"/>
                </a:lnTo>
                <a:cubicBezTo>
                  <a:pt x="4686" y="52431"/>
                  <a:pt x="0" y="47745"/>
                  <a:pt x="0" y="41945"/>
                </a:cubicBezTo>
                <a:cubicBezTo>
                  <a:pt x="0" y="36145"/>
                  <a:pt x="4686" y="31459"/>
                  <a:pt x="10486" y="31459"/>
                </a:cubicBezTo>
                <a:lnTo>
                  <a:pt x="115349" y="31459"/>
                </a:lnTo>
                <a:lnTo>
                  <a:pt x="115349" y="10486"/>
                </a:lnTo>
                <a:cubicBezTo>
                  <a:pt x="115349" y="6259"/>
                  <a:pt x="117905" y="2425"/>
                  <a:pt x="121837" y="786"/>
                </a:cubicBezTo>
                <a:cubicBezTo>
                  <a:pt x="125769" y="-852"/>
                  <a:pt x="130259" y="66"/>
                  <a:pt x="133274" y="3048"/>
                </a:cubicBezTo>
                <a:lnTo>
                  <a:pt x="164732" y="34506"/>
                </a:lnTo>
                <a:cubicBezTo>
                  <a:pt x="168828" y="38602"/>
                  <a:pt x="168828" y="45255"/>
                  <a:pt x="164732" y="49351"/>
                </a:cubicBezTo>
                <a:close/>
                <a:moveTo>
                  <a:pt x="34506" y="164699"/>
                </a:moveTo>
                <a:lnTo>
                  <a:pt x="3048" y="133241"/>
                </a:lnTo>
                <a:cubicBezTo>
                  <a:pt x="-1049" y="129145"/>
                  <a:pt x="-1049" y="122492"/>
                  <a:pt x="3048" y="118396"/>
                </a:cubicBezTo>
                <a:lnTo>
                  <a:pt x="34506" y="86937"/>
                </a:lnTo>
                <a:cubicBezTo>
                  <a:pt x="37521" y="83923"/>
                  <a:pt x="42010" y="83038"/>
                  <a:pt x="45943" y="84676"/>
                </a:cubicBezTo>
                <a:cubicBezTo>
                  <a:pt x="49875" y="86315"/>
                  <a:pt x="52431" y="90149"/>
                  <a:pt x="52431" y="94376"/>
                </a:cubicBezTo>
                <a:lnTo>
                  <a:pt x="52431" y="115349"/>
                </a:lnTo>
                <a:lnTo>
                  <a:pt x="157294" y="115349"/>
                </a:lnTo>
                <a:cubicBezTo>
                  <a:pt x="163094" y="115349"/>
                  <a:pt x="167780" y="120035"/>
                  <a:pt x="167780" y="125835"/>
                </a:cubicBezTo>
                <a:cubicBezTo>
                  <a:pt x="167780" y="131635"/>
                  <a:pt x="163094" y="136321"/>
                  <a:pt x="157294" y="136321"/>
                </a:cubicBezTo>
                <a:lnTo>
                  <a:pt x="52431" y="136321"/>
                </a:lnTo>
                <a:lnTo>
                  <a:pt x="52431" y="157294"/>
                </a:lnTo>
                <a:cubicBezTo>
                  <a:pt x="52431" y="161521"/>
                  <a:pt x="49875" y="165355"/>
                  <a:pt x="45943" y="166993"/>
                </a:cubicBezTo>
                <a:cubicBezTo>
                  <a:pt x="42010" y="168632"/>
                  <a:pt x="37521" y="167714"/>
                  <a:pt x="34506" y="164732"/>
                </a:cubicBezTo>
                <a:close/>
              </a:path>
            </a:pathLst>
          </a:custGeom>
          <a:solidFill>
            <a:srgbClr val="00D3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675758" y="2212654"/>
            <a:ext cx="479104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 Performance ↔ Coût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75758" y="2501608"/>
            <a:ext cx="72967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L'optimisation n'est pas optionnelle: une mauvaise performance entraîne mécaniquement une explosion des coûts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28784" y="3063089"/>
            <a:ext cx="7433577" cy="829578"/>
          </a:xfrm>
          <a:custGeom>
            <a:avLst/>
            <a:gdLst/>
            <a:ahLst/>
            <a:cxnLst/>
            <a:rect l="l" t="t" r="r" b="b"/>
            <a:pathLst>
              <a:path w="5210495" h="829578">
                <a:moveTo>
                  <a:pt x="74571" y="0"/>
                </a:moveTo>
                <a:lnTo>
                  <a:pt x="5135925" y="0"/>
                </a:lnTo>
                <a:cubicBezTo>
                  <a:pt x="5177109" y="0"/>
                  <a:pt x="5210495" y="33386"/>
                  <a:pt x="5210495" y="74571"/>
                </a:cubicBezTo>
                <a:lnTo>
                  <a:pt x="5210495" y="755007"/>
                </a:lnTo>
                <a:cubicBezTo>
                  <a:pt x="5210495" y="796192"/>
                  <a:pt x="5177109" y="829578"/>
                  <a:pt x="5135925" y="829578"/>
                </a:cubicBezTo>
                <a:lnTo>
                  <a:pt x="74571" y="829578"/>
                </a:lnTo>
                <a:cubicBezTo>
                  <a:pt x="33386" y="829578"/>
                  <a:pt x="0" y="796192"/>
                  <a:pt x="0" y="755007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431197" y="3207566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0"/>
                </a:moveTo>
                <a:cubicBezTo>
                  <a:pt x="88707" y="0"/>
                  <a:pt x="93131" y="2654"/>
                  <a:pt x="95425" y="6882"/>
                </a:cubicBezTo>
                <a:lnTo>
                  <a:pt x="166207" y="137960"/>
                </a:lnTo>
                <a:cubicBezTo>
                  <a:pt x="168402" y="142023"/>
                  <a:pt x="168304" y="146938"/>
                  <a:pt x="165945" y="150904"/>
                </a:cubicBezTo>
                <a:cubicBezTo>
                  <a:pt x="163585" y="154869"/>
                  <a:pt x="159293" y="157294"/>
                  <a:pt x="154672" y="157294"/>
                </a:cubicBezTo>
                <a:lnTo>
                  <a:pt x="13108" y="157294"/>
                </a:lnTo>
                <a:cubicBezTo>
                  <a:pt x="8487" y="157294"/>
                  <a:pt x="4227" y="154869"/>
                  <a:pt x="1835" y="150904"/>
                </a:cubicBezTo>
                <a:cubicBezTo>
                  <a:pt x="-557" y="146938"/>
                  <a:pt x="-623" y="142023"/>
                  <a:pt x="1573" y="137960"/>
                </a:cubicBezTo>
                <a:lnTo>
                  <a:pt x="72355" y="6882"/>
                </a:lnTo>
                <a:cubicBezTo>
                  <a:pt x="74649" y="2654"/>
                  <a:pt x="79073" y="0"/>
                  <a:pt x="83890" y="0"/>
                </a:cubicBezTo>
                <a:close/>
                <a:moveTo>
                  <a:pt x="83890" y="55053"/>
                </a:moveTo>
                <a:cubicBezTo>
                  <a:pt x="79532" y="55053"/>
                  <a:pt x="76025" y="58559"/>
                  <a:pt x="76025" y="62917"/>
                </a:cubicBezTo>
                <a:lnTo>
                  <a:pt x="76025" y="99619"/>
                </a:lnTo>
                <a:cubicBezTo>
                  <a:pt x="76025" y="103978"/>
                  <a:pt x="79532" y="107484"/>
                  <a:pt x="83890" y="107484"/>
                </a:cubicBezTo>
                <a:cubicBezTo>
                  <a:pt x="88248" y="107484"/>
                  <a:pt x="91755" y="103978"/>
                  <a:pt x="91755" y="99619"/>
                </a:cubicBezTo>
                <a:lnTo>
                  <a:pt x="91755" y="62917"/>
                </a:lnTo>
                <a:cubicBezTo>
                  <a:pt x="91755" y="58559"/>
                  <a:pt x="88248" y="55053"/>
                  <a:pt x="83890" y="55053"/>
                </a:cubicBezTo>
                <a:close/>
                <a:moveTo>
                  <a:pt x="92639" y="125835"/>
                </a:moveTo>
                <a:cubicBezTo>
                  <a:pt x="92838" y="122587"/>
                  <a:pt x="91219" y="119497"/>
                  <a:pt x="88435" y="117813"/>
                </a:cubicBezTo>
                <a:cubicBezTo>
                  <a:pt x="85651" y="116129"/>
                  <a:pt x="82162" y="116129"/>
                  <a:pt x="79378" y="117813"/>
                </a:cubicBezTo>
                <a:cubicBezTo>
                  <a:pt x="76594" y="119497"/>
                  <a:pt x="74974" y="122587"/>
                  <a:pt x="75173" y="125835"/>
                </a:cubicBezTo>
                <a:cubicBezTo>
                  <a:pt x="74974" y="129083"/>
                  <a:pt x="76594" y="132172"/>
                  <a:pt x="79378" y="133856"/>
                </a:cubicBezTo>
                <a:cubicBezTo>
                  <a:pt x="82162" y="135541"/>
                  <a:pt x="85651" y="135541"/>
                  <a:pt x="88435" y="133856"/>
                </a:cubicBezTo>
                <a:cubicBezTo>
                  <a:pt x="91219" y="132172"/>
                  <a:pt x="92838" y="129083"/>
                  <a:pt x="92639" y="125835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689739" y="3187148"/>
            <a:ext cx="476308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Risque Financier Majeur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713043" y="3452799"/>
            <a:ext cx="683088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Sans gouvernance active, le risque de surcoût atteint 60% dès la première année de migration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67670" y="4013841"/>
            <a:ext cx="7433577" cy="829578"/>
          </a:xfrm>
          <a:custGeom>
            <a:avLst/>
            <a:gdLst/>
            <a:ahLst/>
            <a:cxnLst/>
            <a:rect l="l" t="t" r="r" b="b"/>
            <a:pathLst>
              <a:path w="5210495" h="829578">
                <a:moveTo>
                  <a:pt x="74571" y="0"/>
                </a:moveTo>
                <a:lnTo>
                  <a:pt x="5135925" y="0"/>
                </a:lnTo>
                <a:cubicBezTo>
                  <a:pt x="5177109" y="0"/>
                  <a:pt x="5210495" y="33386"/>
                  <a:pt x="5210495" y="74571"/>
                </a:cubicBezTo>
                <a:lnTo>
                  <a:pt x="5210495" y="755007"/>
                </a:lnTo>
                <a:cubicBezTo>
                  <a:pt x="5210495" y="796192"/>
                  <a:pt x="5177109" y="829578"/>
                  <a:pt x="5135925" y="829578"/>
                </a:cubicBezTo>
                <a:lnTo>
                  <a:pt x="74571" y="829578"/>
                </a:lnTo>
                <a:cubicBezTo>
                  <a:pt x="33386" y="829578"/>
                  <a:pt x="0" y="796192"/>
                  <a:pt x="0" y="755007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62456">
              <a:alpha val="60000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1347307" y="4186281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41945" y="104862"/>
                </a:moveTo>
                <a:lnTo>
                  <a:pt x="8029" y="104862"/>
                </a:lnTo>
                <a:cubicBezTo>
                  <a:pt x="-131" y="104862"/>
                  <a:pt x="-5145" y="95982"/>
                  <a:pt x="-950" y="88969"/>
                </a:cubicBezTo>
                <a:lnTo>
                  <a:pt x="16385" y="60066"/>
                </a:lnTo>
                <a:cubicBezTo>
                  <a:pt x="19236" y="55315"/>
                  <a:pt x="24348" y="52431"/>
                  <a:pt x="29886" y="52431"/>
                </a:cubicBezTo>
                <a:lnTo>
                  <a:pt x="61017" y="52431"/>
                </a:lnTo>
                <a:cubicBezTo>
                  <a:pt x="85954" y="10191"/>
                  <a:pt x="123148" y="8061"/>
                  <a:pt x="148020" y="11699"/>
                </a:cubicBezTo>
                <a:cubicBezTo>
                  <a:pt x="152214" y="12321"/>
                  <a:pt x="155491" y="15598"/>
                  <a:pt x="156081" y="19760"/>
                </a:cubicBezTo>
                <a:cubicBezTo>
                  <a:pt x="159719" y="44632"/>
                  <a:pt x="157589" y="81825"/>
                  <a:pt x="115349" y="106763"/>
                </a:cubicBezTo>
                <a:lnTo>
                  <a:pt x="115349" y="137894"/>
                </a:lnTo>
                <a:cubicBezTo>
                  <a:pt x="115349" y="143432"/>
                  <a:pt x="112465" y="148544"/>
                  <a:pt x="107713" y="151395"/>
                </a:cubicBezTo>
                <a:lnTo>
                  <a:pt x="78811" y="168730"/>
                </a:lnTo>
                <a:cubicBezTo>
                  <a:pt x="71831" y="172925"/>
                  <a:pt x="62917" y="167878"/>
                  <a:pt x="62917" y="159751"/>
                </a:cubicBezTo>
                <a:lnTo>
                  <a:pt x="62917" y="125835"/>
                </a:lnTo>
                <a:cubicBezTo>
                  <a:pt x="62917" y="114267"/>
                  <a:pt x="53513" y="104862"/>
                  <a:pt x="41945" y="104862"/>
                </a:cubicBezTo>
                <a:lnTo>
                  <a:pt x="41912" y="104862"/>
                </a:lnTo>
                <a:close/>
                <a:moveTo>
                  <a:pt x="131078" y="52431"/>
                </a:moveTo>
                <a:cubicBezTo>
                  <a:pt x="131078" y="43750"/>
                  <a:pt x="124030" y="36702"/>
                  <a:pt x="115349" y="36702"/>
                </a:cubicBezTo>
                <a:cubicBezTo>
                  <a:pt x="106667" y="36702"/>
                  <a:pt x="99619" y="43750"/>
                  <a:pt x="99619" y="52431"/>
                </a:cubicBezTo>
                <a:cubicBezTo>
                  <a:pt x="99619" y="61112"/>
                  <a:pt x="106667" y="68161"/>
                  <a:pt x="115349" y="68161"/>
                </a:cubicBezTo>
                <a:cubicBezTo>
                  <a:pt x="124030" y="68161"/>
                  <a:pt x="131078" y="61112"/>
                  <a:pt x="131078" y="52431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675758" y="4158318"/>
            <a:ext cx="476308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Gains Rapides Accessibles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689738" y="4354061"/>
            <a:ext cx="6963301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Partitionnement, vues matérialisées et auto-suspend offrent un ROI immédiat avec peu d'effort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9759" y="5299046"/>
            <a:ext cx="10527455" cy="1556624"/>
          </a:xfrm>
          <a:custGeom>
            <a:avLst/>
            <a:gdLst/>
            <a:ahLst/>
            <a:cxnLst/>
            <a:rect l="l" t="t" r="r" b="b"/>
            <a:pathLst>
              <a:path w="5601982" h="1556624">
                <a:moveTo>
                  <a:pt x="149140" y="0"/>
                </a:moveTo>
                <a:lnTo>
                  <a:pt x="5452842" y="0"/>
                </a:lnTo>
                <a:cubicBezTo>
                  <a:pt x="5535209" y="0"/>
                  <a:pt x="5601982" y="66772"/>
                  <a:pt x="5601982" y="149140"/>
                </a:cubicBezTo>
                <a:lnTo>
                  <a:pt x="5601982" y="1407484"/>
                </a:lnTo>
                <a:cubicBezTo>
                  <a:pt x="5601982" y="1489852"/>
                  <a:pt x="5535209" y="1556624"/>
                  <a:pt x="5452842" y="1556624"/>
                </a:cubicBezTo>
                <a:lnTo>
                  <a:pt x="149140" y="1556624"/>
                </a:lnTo>
                <a:cubicBezTo>
                  <a:pt x="66772" y="1556624"/>
                  <a:pt x="0" y="1489852"/>
                  <a:pt x="0" y="1407484"/>
                </a:cubicBezTo>
                <a:lnTo>
                  <a:pt x="0" y="149140"/>
                </a:lnTo>
                <a:cubicBezTo>
                  <a:pt x="0" y="66827"/>
                  <a:pt x="66827" y="0"/>
                  <a:pt x="149140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60000"/>
                </a:srgbClr>
              </a:gs>
              <a:gs pos="100000">
                <a:srgbClr val="9F0712">
                  <a:alpha val="40000"/>
                </a:srgbClr>
              </a:gs>
            </a:gsLst>
            <a:lin ang="2700000" scaled="1"/>
          </a:gradFill>
          <a:ln w="127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916031" y="5501139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93211" y="186422"/>
                </a:moveTo>
                <a:cubicBezTo>
                  <a:pt x="144656" y="186422"/>
                  <a:pt x="186422" y="144656"/>
                  <a:pt x="186422" y="93211"/>
                </a:cubicBezTo>
                <a:cubicBezTo>
                  <a:pt x="186422" y="41766"/>
                  <a:pt x="144656" y="0"/>
                  <a:pt x="93211" y="0"/>
                </a:cubicBezTo>
                <a:cubicBezTo>
                  <a:pt x="41766" y="0"/>
                  <a:pt x="0" y="41766"/>
                  <a:pt x="0" y="93211"/>
                </a:cubicBezTo>
                <a:cubicBezTo>
                  <a:pt x="0" y="144656"/>
                  <a:pt x="41766" y="186422"/>
                  <a:pt x="93211" y="186422"/>
                </a:cubicBezTo>
                <a:close/>
                <a:moveTo>
                  <a:pt x="93211" y="49518"/>
                </a:moveTo>
                <a:cubicBezTo>
                  <a:pt x="98054" y="49518"/>
                  <a:pt x="101950" y="53414"/>
                  <a:pt x="101950" y="58257"/>
                </a:cubicBezTo>
                <a:lnTo>
                  <a:pt x="101950" y="99037"/>
                </a:lnTo>
                <a:cubicBezTo>
                  <a:pt x="101950" y="103879"/>
                  <a:pt x="98054" y="107775"/>
                  <a:pt x="93211" y="107775"/>
                </a:cubicBezTo>
                <a:cubicBezTo>
                  <a:pt x="88368" y="107775"/>
                  <a:pt x="84472" y="103879"/>
                  <a:pt x="84472" y="99037"/>
                </a:cubicBezTo>
                <a:lnTo>
                  <a:pt x="84472" y="58257"/>
                </a:lnTo>
                <a:cubicBezTo>
                  <a:pt x="84472" y="53414"/>
                  <a:pt x="88368" y="49518"/>
                  <a:pt x="93211" y="49518"/>
                </a:cubicBezTo>
                <a:close/>
                <a:moveTo>
                  <a:pt x="83489" y="128165"/>
                </a:moveTo>
                <a:cubicBezTo>
                  <a:pt x="83268" y="124557"/>
                  <a:pt x="85068" y="121123"/>
                  <a:pt x="88161" y="119252"/>
                </a:cubicBezTo>
                <a:cubicBezTo>
                  <a:pt x="91255" y="117381"/>
                  <a:pt x="95131" y="117381"/>
                  <a:pt x="98224" y="119252"/>
                </a:cubicBezTo>
                <a:cubicBezTo>
                  <a:pt x="101318" y="121123"/>
                  <a:pt x="103117" y="124557"/>
                  <a:pt x="102896" y="128165"/>
                </a:cubicBezTo>
                <a:cubicBezTo>
                  <a:pt x="103117" y="131774"/>
                  <a:pt x="101318" y="135207"/>
                  <a:pt x="98224" y="137078"/>
                </a:cubicBezTo>
                <a:cubicBezTo>
                  <a:pt x="95131" y="138949"/>
                  <a:pt x="91255" y="138949"/>
                  <a:pt x="88161" y="137078"/>
                </a:cubicBezTo>
                <a:cubicBezTo>
                  <a:pt x="85068" y="135207"/>
                  <a:pt x="83268" y="131774"/>
                  <a:pt x="83489" y="128165"/>
                </a:cubicBezTo>
                <a:close/>
              </a:path>
            </a:pathLst>
          </a:custGeom>
          <a:solidFill>
            <a:srgbClr val="FF89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267670" y="5463855"/>
            <a:ext cx="508000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Action Immédiate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267670" y="5855866"/>
            <a:ext cx="7461143" cy="792294"/>
          </a:xfrm>
          <a:custGeom>
            <a:avLst/>
            <a:gdLst/>
            <a:ahLst/>
            <a:cxnLst/>
            <a:rect l="l" t="t" r="r" b="b"/>
            <a:pathLst>
              <a:path w="5210495" h="792294">
                <a:moveTo>
                  <a:pt x="74571" y="0"/>
                </a:moveTo>
                <a:lnTo>
                  <a:pt x="5135925" y="0"/>
                </a:lnTo>
                <a:cubicBezTo>
                  <a:pt x="5177109" y="0"/>
                  <a:pt x="5210495" y="33386"/>
                  <a:pt x="5210495" y="74571"/>
                </a:cubicBezTo>
                <a:lnTo>
                  <a:pt x="5210495" y="717723"/>
                </a:lnTo>
                <a:cubicBezTo>
                  <a:pt x="5210495" y="758907"/>
                  <a:pt x="5177109" y="792294"/>
                  <a:pt x="5135925" y="792294"/>
                </a:cubicBezTo>
                <a:lnTo>
                  <a:pt x="74571" y="792294"/>
                </a:lnTo>
                <a:cubicBezTo>
                  <a:pt x="33386" y="792294"/>
                  <a:pt x="0" y="758907"/>
                  <a:pt x="0" y="717723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441306">
              <a:alpha val="6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515087" y="5998014"/>
            <a:ext cx="9023129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Chaque semaine d'attente vous </a:t>
            </a:r>
            <a:r>
              <a:rPr lang="en-US" sz="1174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coûte</a:t>
            </a:r>
            <a:r>
              <a:rPr lang="en-US" sz="117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à 5% </a:t>
            </a:r>
            <a:r>
              <a:rPr lang="en-US" sz="117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votre budget </a:t>
            </a:r>
            <a:r>
              <a:rPr lang="en-US" sz="1174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annuel</a:t>
            </a:r>
            <a:r>
              <a:rPr lang="en-US" sz="117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57159" y="2423486"/>
            <a:ext cx="270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048791" y="2367560"/>
            <a:ext cx="450209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048791" y="2628550"/>
            <a:ext cx="4483450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D76FE1-C2F0-F466-B6DB-4AAC37C7FFC2}"/>
              </a:ext>
            </a:extLst>
          </p:cNvPr>
          <p:cNvSpPr/>
          <p:nvPr/>
        </p:nvSpPr>
        <p:spPr>
          <a:xfrm>
            <a:off x="0" y="-75734"/>
            <a:ext cx="12192000" cy="7009468"/>
          </a:xfrm>
          <a:custGeom>
            <a:avLst/>
            <a:gdLst/>
            <a:ahLst/>
            <a:cxnLst/>
            <a:rect l="l" t="t" r="r" b="b"/>
            <a:pathLst>
              <a:path w="12192000" h="7009468">
                <a:moveTo>
                  <a:pt x="0" y="0"/>
                </a:moveTo>
                <a:lnTo>
                  <a:pt x="12192000" y="0"/>
                </a:lnTo>
                <a:lnTo>
                  <a:pt x="12192000" y="7009468"/>
                </a:lnTo>
                <a:lnTo>
                  <a:pt x="0" y="7009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0E27">
                  <a:alpha val="90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0A0E27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pPr>
              <a:lnSpc>
                <a:spcPct val="80000"/>
              </a:lnSpc>
            </a:pP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AEB7A2-A913-3A74-8FC5-3950ED4B8DE6}"/>
              </a:ext>
            </a:extLst>
          </p:cNvPr>
          <p:cNvSpPr/>
          <p:nvPr/>
        </p:nvSpPr>
        <p:spPr>
          <a:xfrm>
            <a:off x="1427883" y="3093359"/>
            <a:ext cx="9582814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Merci Pour voter attention 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31BA3C-4084-01A2-FA34-7565EDAE9937}"/>
              </a:ext>
            </a:extLst>
          </p:cNvPr>
          <p:cNvSpPr/>
          <p:nvPr/>
        </p:nvSpPr>
        <p:spPr>
          <a:xfrm>
            <a:off x="1427883" y="3638810"/>
            <a:ext cx="9336234" cy="136403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2B7FFF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12405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2418</Words>
  <Application>Microsoft Office PowerPoint</Application>
  <PresentationFormat>Grand écran</PresentationFormat>
  <Paragraphs>510</Paragraphs>
  <Slides>20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MiSans</vt:lpstr>
      <vt:lpstr>Arial</vt:lpstr>
      <vt:lpstr>Calibri</vt:lpstr>
      <vt:lpstr>Noto Sans SC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Data Analytics - Performance et Coût</dc:title>
  <dc:subject>Cloud Data Analytics - Performance et Coût</dc:subject>
  <dc:creator>Kimi</dc:creator>
  <cp:lastModifiedBy>Akram Boukotos</cp:lastModifiedBy>
  <cp:revision>59</cp:revision>
  <dcterms:created xsi:type="dcterms:W3CDTF">2026-01-31T20:30:28Z</dcterms:created>
  <dcterms:modified xsi:type="dcterms:W3CDTF">2026-03-31T14:55:44Z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{"Label":"Cloud Data Analytics - Performance et Coût","ContentProducer":"001191110108MACG2KBH8F10000","ProduceID":"19c15b91-ced2-8bd9-8000-0000f2d41d68","ReservedCode1":"","ContentPropagator":"001191110108MACG2KBH8F20000","PropagateID":"19c15b91-ced2-8bd9-8000-0000f2d41d68","ReservedCode2":""}</vt:lpwstr>
  </property>
</Properties>
</file>